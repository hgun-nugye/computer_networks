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81"/>
  </p:notesMasterIdLst>
  <p:handoutMasterIdLst>
    <p:handoutMasterId r:id="rId82"/>
  </p:handoutMasterIdLst>
  <p:sldIdLst>
    <p:sldId id="572" r:id="rId2"/>
    <p:sldId id="574" r:id="rId3"/>
    <p:sldId id="576" r:id="rId4"/>
    <p:sldId id="577" r:id="rId5"/>
    <p:sldId id="578" r:id="rId6"/>
    <p:sldId id="580" r:id="rId7"/>
    <p:sldId id="582" r:id="rId8"/>
    <p:sldId id="584" r:id="rId9"/>
    <p:sldId id="585" r:id="rId10"/>
    <p:sldId id="586" r:id="rId11"/>
    <p:sldId id="587" r:id="rId12"/>
    <p:sldId id="588" r:id="rId13"/>
    <p:sldId id="589" r:id="rId14"/>
    <p:sldId id="590" r:id="rId15"/>
    <p:sldId id="592" r:id="rId16"/>
    <p:sldId id="594" r:id="rId17"/>
    <p:sldId id="596" r:id="rId18"/>
    <p:sldId id="598" r:id="rId19"/>
    <p:sldId id="600" r:id="rId20"/>
    <p:sldId id="602" r:id="rId21"/>
    <p:sldId id="605" r:id="rId22"/>
    <p:sldId id="606" r:id="rId23"/>
    <p:sldId id="608" r:id="rId24"/>
    <p:sldId id="610" r:id="rId25"/>
    <p:sldId id="612" r:id="rId26"/>
    <p:sldId id="613" r:id="rId27"/>
    <p:sldId id="615" r:id="rId28"/>
    <p:sldId id="617" r:id="rId29"/>
    <p:sldId id="619" r:id="rId30"/>
    <p:sldId id="621" r:id="rId31"/>
    <p:sldId id="623" r:id="rId32"/>
    <p:sldId id="625" r:id="rId33"/>
    <p:sldId id="627" r:id="rId34"/>
    <p:sldId id="628" r:id="rId35"/>
    <p:sldId id="629" r:id="rId36"/>
    <p:sldId id="630" r:id="rId37"/>
    <p:sldId id="631" r:id="rId38"/>
    <p:sldId id="632" r:id="rId39"/>
    <p:sldId id="633" r:id="rId40"/>
    <p:sldId id="634" r:id="rId41"/>
    <p:sldId id="635" r:id="rId42"/>
    <p:sldId id="637" r:id="rId43"/>
    <p:sldId id="639" r:id="rId44"/>
    <p:sldId id="641" r:id="rId45"/>
    <p:sldId id="643" r:id="rId46"/>
    <p:sldId id="644" r:id="rId47"/>
    <p:sldId id="646" r:id="rId48"/>
    <p:sldId id="647" r:id="rId49"/>
    <p:sldId id="648" r:id="rId50"/>
    <p:sldId id="650" r:id="rId51"/>
    <p:sldId id="651" r:id="rId52"/>
    <p:sldId id="653" r:id="rId53"/>
    <p:sldId id="654" r:id="rId54"/>
    <p:sldId id="656" r:id="rId55"/>
    <p:sldId id="658" r:id="rId56"/>
    <p:sldId id="660" r:id="rId57"/>
    <p:sldId id="662" r:id="rId58"/>
    <p:sldId id="664" r:id="rId59"/>
    <p:sldId id="666" r:id="rId60"/>
    <p:sldId id="668" r:id="rId61"/>
    <p:sldId id="670" r:id="rId62"/>
    <p:sldId id="672" r:id="rId63"/>
    <p:sldId id="673" r:id="rId64"/>
    <p:sldId id="675" r:id="rId65"/>
    <p:sldId id="677" r:id="rId66"/>
    <p:sldId id="679" r:id="rId67"/>
    <p:sldId id="681" r:id="rId68"/>
    <p:sldId id="683" r:id="rId69"/>
    <p:sldId id="685" r:id="rId70"/>
    <p:sldId id="686" r:id="rId71"/>
    <p:sldId id="688" r:id="rId72"/>
    <p:sldId id="690" r:id="rId73"/>
    <p:sldId id="692" r:id="rId74"/>
    <p:sldId id="694" r:id="rId75"/>
    <p:sldId id="696" r:id="rId76"/>
    <p:sldId id="697" r:id="rId77"/>
    <p:sldId id="699" r:id="rId78"/>
    <p:sldId id="701" r:id="rId79"/>
    <p:sldId id="702" r:id="rId80"/>
  </p:sldIdLst>
  <p:sldSz cx="9144000" cy="6858000" type="screen4x3"/>
  <p:notesSz cx="9601200" cy="7315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DDDDDD"/>
    <a:srgbClr val="FFCCFF"/>
    <a:srgbClr val="FF99CC"/>
    <a:srgbClr val="CCFFFF"/>
    <a:srgbClr val="33CCCC"/>
    <a:srgbClr val="66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1261" autoAdjust="0"/>
  </p:normalViewPr>
  <p:slideViewPr>
    <p:cSldViewPr snapToGrid="0" snapToObjects="1">
      <p:cViewPr varScale="1">
        <p:scale>
          <a:sx n="69" d="100"/>
          <a:sy n="69" d="100"/>
        </p:scale>
        <p:origin x="1858" y="72"/>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699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9.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1.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0B1D03-52C3-4960-889F-D3707DB1F835}"/>
              </a:ext>
            </a:extLst>
          </p:cNvPr>
          <p:cNvSpPr>
            <a:spLocks noGrp="1"/>
          </p:cNvSpPr>
          <p:nvPr>
            <p:ph type="hdr" sz="quarter"/>
          </p:nvPr>
        </p:nvSpPr>
        <p:spPr>
          <a:xfrm>
            <a:off x="0" y="0"/>
            <a:ext cx="4160838" cy="365125"/>
          </a:xfrm>
          <a:prstGeom prst="rect">
            <a:avLst/>
          </a:prstGeom>
        </p:spPr>
        <p:txBody>
          <a:bodyPr vert="horz" lIns="96661" tIns="48331" rIns="96661" bIns="48331" rtlCol="0"/>
          <a:lstStyle>
            <a:lvl1pPr algn="l">
              <a:defRPr sz="1300"/>
            </a:lvl1pPr>
          </a:lstStyle>
          <a:p>
            <a:pPr>
              <a:defRPr/>
            </a:pPr>
            <a:endParaRPr lang="en-US"/>
          </a:p>
        </p:txBody>
      </p:sp>
      <p:sp>
        <p:nvSpPr>
          <p:cNvPr id="3" name="Date Placeholder 2">
            <a:extLst>
              <a:ext uri="{FF2B5EF4-FFF2-40B4-BE49-F238E27FC236}">
                <a16:creationId xmlns:a16="http://schemas.microsoft.com/office/drawing/2014/main" id="{F224097F-B836-4F67-B8EE-3FB152F3740F}"/>
              </a:ext>
            </a:extLst>
          </p:cNvPr>
          <p:cNvSpPr>
            <a:spLocks noGrp="1"/>
          </p:cNvSpPr>
          <p:nvPr>
            <p:ph type="dt" sz="quarter" idx="1"/>
          </p:nvPr>
        </p:nvSpPr>
        <p:spPr>
          <a:xfrm>
            <a:off x="5438775" y="0"/>
            <a:ext cx="4160838" cy="365125"/>
          </a:xfrm>
          <a:prstGeom prst="rect">
            <a:avLst/>
          </a:prstGeom>
        </p:spPr>
        <p:txBody>
          <a:bodyPr vert="horz" lIns="96661" tIns="48331" rIns="96661" bIns="48331" rtlCol="0"/>
          <a:lstStyle>
            <a:lvl1pPr algn="r">
              <a:defRPr sz="1300"/>
            </a:lvl1pPr>
          </a:lstStyle>
          <a:p>
            <a:pPr>
              <a:defRPr/>
            </a:pPr>
            <a:fld id="{DC231F07-79AB-4998-B204-80A81C2D6221}" type="datetimeFigureOut">
              <a:rPr lang="en-US"/>
              <a:pPr>
                <a:defRPr/>
              </a:pPr>
              <a:t>06-Nov-23</a:t>
            </a:fld>
            <a:endParaRPr lang="en-US"/>
          </a:p>
        </p:txBody>
      </p:sp>
      <p:sp>
        <p:nvSpPr>
          <p:cNvPr id="4" name="Footer Placeholder 3">
            <a:extLst>
              <a:ext uri="{FF2B5EF4-FFF2-40B4-BE49-F238E27FC236}">
                <a16:creationId xmlns:a16="http://schemas.microsoft.com/office/drawing/2014/main" id="{F5AD57BC-E560-4C93-945F-B1853C5BB4C7}"/>
              </a:ext>
            </a:extLst>
          </p:cNvPr>
          <p:cNvSpPr>
            <a:spLocks noGrp="1"/>
          </p:cNvSpPr>
          <p:nvPr>
            <p:ph type="ftr" sz="quarter" idx="2"/>
          </p:nvPr>
        </p:nvSpPr>
        <p:spPr>
          <a:xfrm>
            <a:off x="0" y="6948488"/>
            <a:ext cx="4160838" cy="365125"/>
          </a:xfrm>
          <a:prstGeom prst="rect">
            <a:avLst/>
          </a:prstGeom>
        </p:spPr>
        <p:txBody>
          <a:bodyPr vert="horz" lIns="96661" tIns="48331" rIns="96661" bIns="48331" rtlCol="0" anchor="b"/>
          <a:lstStyle>
            <a:lvl1pPr algn="l">
              <a:defRPr sz="1300"/>
            </a:lvl1pPr>
          </a:lstStyle>
          <a:p>
            <a:pPr>
              <a:defRPr/>
            </a:pPr>
            <a:endParaRPr lang="en-US"/>
          </a:p>
        </p:txBody>
      </p:sp>
      <p:sp>
        <p:nvSpPr>
          <p:cNvPr id="5" name="Slide Number Placeholder 4">
            <a:extLst>
              <a:ext uri="{FF2B5EF4-FFF2-40B4-BE49-F238E27FC236}">
                <a16:creationId xmlns:a16="http://schemas.microsoft.com/office/drawing/2014/main" id="{DD53D647-BF07-4A41-97C3-2934E22E3225}"/>
              </a:ext>
            </a:extLst>
          </p:cNvPr>
          <p:cNvSpPr>
            <a:spLocks noGrp="1"/>
          </p:cNvSpPr>
          <p:nvPr>
            <p:ph type="sldNum" sz="quarter" idx="3"/>
          </p:nvPr>
        </p:nvSpPr>
        <p:spPr>
          <a:xfrm>
            <a:off x="5438775" y="6948488"/>
            <a:ext cx="4160838" cy="365125"/>
          </a:xfrm>
          <a:prstGeom prst="rect">
            <a:avLst/>
          </a:prstGeom>
        </p:spPr>
        <p:txBody>
          <a:bodyPr vert="horz" wrap="square" lIns="96661" tIns="48331" rIns="96661" bIns="48331" numCol="1" anchor="b" anchorCtr="0" compatLnSpc="1">
            <a:prstTxWarp prst="textNoShape">
              <a:avLst/>
            </a:prstTxWarp>
          </a:bodyPr>
          <a:lstStyle>
            <a:lvl1pPr algn="r">
              <a:defRPr sz="1300"/>
            </a:lvl1pPr>
          </a:lstStyle>
          <a:p>
            <a:pPr>
              <a:defRPr/>
            </a:pPr>
            <a:fld id="{B6B770D2-C1C0-4055-B4A4-674A535C87C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9AAEF34-1D20-4F6F-B808-7CC5021477CE}"/>
              </a:ext>
            </a:extLst>
          </p:cNvPr>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pPr>
              <a:defRPr/>
            </a:pPr>
            <a:endParaRPr lang="en-US"/>
          </a:p>
        </p:txBody>
      </p:sp>
      <p:sp>
        <p:nvSpPr>
          <p:cNvPr id="3075" name="Rectangle 3">
            <a:extLst>
              <a:ext uri="{FF2B5EF4-FFF2-40B4-BE49-F238E27FC236}">
                <a16:creationId xmlns:a16="http://schemas.microsoft.com/office/drawing/2014/main" id="{70CAED49-A76C-4224-A587-70C3F6D298F6}"/>
              </a:ext>
            </a:extLst>
          </p:cNvPr>
          <p:cNvSpPr>
            <a:spLocks noGrp="1" noChangeArrowheads="1"/>
          </p:cNvSpPr>
          <p:nvPr>
            <p:ph type="dt" idx="1"/>
          </p:nvPr>
        </p:nvSpPr>
        <p:spPr bwMode="auto">
          <a:xfrm>
            <a:off x="5440363" y="0"/>
            <a:ext cx="4160837"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pPr>
              <a:defRPr/>
            </a:pPr>
            <a:endParaRPr lang="en-US"/>
          </a:p>
        </p:txBody>
      </p:sp>
      <p:sp>
        <p:nvSpPr>
          <p:cNvPr id="19460" name="Rectangle 4">
            <a:extLst>
              <a:ext uri="{FF2B5EF4-FFF2-40B4-BE49-F238E27FC236}">
                <a16:creationId xmlns:a16="http://schemas.microsoft.com/office/drawing/2014/main" id="{0BFA16DD-E519-4D83-B3BA-34CA0DEB85AD}"/>
              </a:ext>
            </a:extLst>
          </p:cNvPr>
          <p:cNvSpPr>
            <a:spLocks noGrp="1" noRot="1" noChangeAspect="1" noChangeArrowheads="1" noTextEdit="1"/>
          </p:cNvSpPr>
          <p:nvPr>
            <p:ph type="sldImg" idx="2"/>
          </p:nvPr>
        </p:nvSpPr>
        <p:spPr bwMode="auto">
          <a:xfrm>
            <a:off x="2971800" y="549275"/>
            <a:ext cx="3657600" cy="2743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7E19579B-80B8-4758-BD24-5589F8762F64}"/>
              </a:ext>
            </a:extLst>
          </p:cNvPr>
          <p:cNvSpPr>
            <a:spLocks noGrp="1" noChangeArrowheads="1"/>
          </p:cNvSpPr>
          <p:nvPr>
            <p:ph type="body" sz="quarter" idx="3"/>
          </p:nvPr>
        </p:nvSpPr>
        <p:spPr bwMode="auto">
          <a:xfrm>
            <a:off x="1279525" y="3475038"/>
            <a:ext cx="7042150" cy="32908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C5B55526-EF49-4C20-BA59-9DE988F9D200}"/>
              </a:ext>
            </a:extLst>
          </p:cNvPr>
          <p:cNvSpPr>
            <a:spLocks noGrp="1" noChangeArrowheads="1"/>
          </p:cNvSpPr>
          <p:nvPr>
            <p:ph type="ftr" sz="quarter" idx="4"/>
          </p:nvPr>
        </p:nvSpPr>
        <p:spPr bwMode="auto">
          <a:xfrm>
            <a:off x="0" y="6950075"/>
            <a:ext cx="4160838"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pPr>
              <a:defRPr/>
            </a:pPr>
            <a:endParaRPr lang="en-US"/>
          </a:p>
        </p:txBody>
      </p:sp>
      <p:sp>
        <p:nvSpPr>
          <p:cNvPr id="3079" name="Rectangle 7">
            <a:extLst>
              <a:ext uri="{FF2B5EF4-FFF2-40B4-BE49-F238E27FC236}">
                <a16:creationId xmlns:a16="http://schemas.microsoft.com/office/drawing/2014/main" id="{3D7CA39B-9A2D-48FB-8C79-AA146F3EC025}"/>
              </a:ext>
            </a:extLst>
          </p:cNvPr>
          <p:cNvSpPr>
            <a:spLocks noGrp="1" noChangeArrowheads="1"/>
          </p:cNvSpPr>
          <p:nvPr>
            <p:ph type="sldNum" sz="quarter" idx="5"/>
          </p:nvPr>
        </p:nvSpPr>
        <p:spPr bwMode="auto">
          <a:xfrm>
            <a:off x="5440363" y="6950075"/>
            <a:ext cx="4160837"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pPr>
              <a:defRPr/>
            </a:pPr>
            <a:fld id="{CCF10835-FE36-4A5B-93E1-4EFF5306816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a:extLst>
              <a:ext uri="{FF2B5EF4-FFF2-40B4-BE49-F238E27FC236}">
                <a16:creationId xmlns:a16="http://schemas.microsoft.com/office/drawing/2014/main" id="{EB39BA23-BDA8-427F-9F02-9EB6B0D399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0B4D7E0-B1C9-45A4-9B7A-DAA0EC803199}" type="slidenum">
              <a:rPr lang="en-US" altLang="en-US" sz="1300" smtClean="0"/>
              <a:pPr/>
              <a:t>2</a:t>
            </a:fld>
            <a:endParaRPr lang="en-US" altLang="en-US" sz="1300"/>
          </a:p>
        </p:txBody>
      </p:sp>
      <p:sp>
        <p:nvSpPr>
          <p:cNvPr id="261123" name="Rectangle 2">
            <a:extLst>
              <a:ext uri="{FF2B5EF4-FFF2-40B4-BE49-F238E27FC236}">
                <a16:creationId xmlns:a16="http://schemas.microsoft.com/office/drawing/2014/main" id="{2329B76E-8B01-41F8-8E78-8F5FEDF85A9F}"/>
              </a:ext>
            </a:extLst>
          </p:cNvPr>
          <p:cNvSpPr>
            <a:spLocks noGrp="1" noRot="1" noChangeAspect="1" noChangeArrowheads="1" noTextEdit="1"/>
          </p:cNvSpPr>
          <p:nvPr>
            <p:ph type="sldImg"/>
          </p:nvPr>
        </p:nvSpPr>
        <p:spPr>
          <a:xfrm>
            <a:off x="2974975" y="549275"/>
            <a:ext cx="3654425" cy="2741613"/>
          </a:xfrm>
          <a:ln/>
        </p:spPr>
      </p:sp>
      <p:sp>
        <p:nvSpPr>
          <p:cNvPr id="261124" name="Rectangle 3">
            <a:extLst>
              <a:ext uri="{FF2B5EF4-FFF2-40B4-BE49-F238E27FC236}">
                <a16:creationId xmlns:a16="http://schemas.microsoft.com/office/drawing/2014/main" id="{B06D1690-AD56-436A-895B-AFADE044C182}"/>
              </a:ext>
            </a:extLst>
          </p:cNvPr>
          <p:cNvSpPr>
            <a:spLocks noGrp="1" noChangeArrowheads="1"/>
          </p:cNvSpPr>
          <p:nvPr>
            <p:ph type="body" idx="1"/>
          </p:nvPr>
        </p:nvSpPr>
        <p:spPr>
          <a:xfrm>
            <a:off x="1277938" y="3473450"/>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It is more likely that computers communicate with nearby computers than remote ones. Local area networks refer to interconnection of computers within short distances (say within a building). There are many ways multiple computers can be interconnected.</a:t>
            </a:r>
          </a:p>
          <a:p>
            <a:endParaRPr lang="en-US" altLang="en-US"/>
          </a:p>
          <a:p>
            <a:r>
              <a:rPr lang="en-US" altLang="en-US"/>
              <a:t>Each one can be connected to all others in a full mesh. This is not common because it is expensive. All can be a connected to a shared link called a bus. Or each one can be connected to the next forming a ring. Or all can be connected to a switch or hub in the form of a star. The last three are the common LAN topologies.</a:t>
            </a:r>
          </a:p>
          <a:p>
            <a:endParaRPr lang="en-US" altLang="en-US"/>
          </a:p>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a:extLst>
              <a:ext uri="{FF2B5EF4-FFF2-40B4-BE49-F238E27FC236}">
                <a16:creationId xmlns:a16="http://schemas.microsoft.com/office/drawing/2014/main" id="{504C93B7-B581-4EB5-920A-0AB10513C7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C7EC885-7B63-4B95-BDC5-09C6005823A1}" type="slidenum">
              <a:rPr lang="en-US" altLang="en-US" sz="1300" smtClean="0"/>
              <a:pPr/>
              <a:t>4</a:t>
            </a:fld>
            <a:endParaRPr lang="en-US" altLang="en-US" sz="1300"/>
          </a:p>
        </p:txBody>
      </p:sp>
      <p:sp>
        <p:nvSpPr>
          <p:cNvPr id="264195" name="Rectangle 2">
            <a:extLst>
              <a:ext uri="{FF2B5EF4-FFF2-40B4-BE49-F238E27FC236}">
                <a16:creationId xmlns:a16="http://schemas.microsoft.com/office/drawing/2014/main" id="{E804C952-CEF8-4A7E-900B-0BDE33806674}"/>
              </a:ext>
            </a:extLst>
          </p:cNvPr>
          <p:cNvSpPr>
            <a:spLocks noGrp="1" noRot="1" noChangeAspect="1" noChangeArrowheads="1" noTextEdit="1"/>
          </p:cNvSpPr>
          <p:nvPr>
            <p:ph type="sldImg"/>
          </p:nvPr>
        </p:nvSpPr>
        <p:spPr>
          <a:ln/>
        </p:spPr>
      </p:sp>
      <p:sp>
        <p:nvSpPr>
          <p:cNvPr id="264196" name="Rectangle 3">
            <a:extLst>
              <a:ext uri="{FF2B5EF4-FFF2-40B4-BE49-F238E27FC236}">
                <a16:creationId xmlns:a16="http://schemas.microsoft.com/office/drawing/2014/main" id="{380D0681-0636-48C4-89A0-4E4B569F60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Committee: ủy ban</a:t>
            </a:r>
          </a:p>
          <a:p>
            <a:r>
              <a:rPr lang="en-US" altLang="en-US"/>
              <a:t>IEEE 802 is a committee within the IEEE Standards Association that develops and maintains networking standards for local area networks (LANs), metropolitan area networks (MANs), and personal area networks (PANs).</a:t>
            </a:r>
          </a:p>
          <a:p>
            <a:endParaRPr lang="en-US" altLang="en-US"/>
          </a:p>
          <a:p>
            <a:r>
              <a:rPr lang="en-US" altLang="en-US"/>
              <a:t>Some key things about the IEEE 802 committee:</a:t>
            </a:r>
          </a:p>
          <a:p>
            <a:endParaRPr lang="en-US" altLang="en-US"/>
          </a:p>
          <a:p>
            <a:r>
              <a:rPr lang="en-US" altLang="en-US"/>
              <a:t>- It was formed in February 1980 to develop standards for local area network methods.</a:t>
            </a:r>
          </a:p>
          <a:p>
            <a:endParaRPr lang="en-US" altLang="en-US"/>
          </a:p>
          <a:p>
            <a:r>
              <a:rPr lang="en-US" altLang="en-US"/>
              <a:t>- The 802 committee has developed and continues to maintain many widely used networking standards including Ethernet (802.3), Wireless LAN (802.11 WiFi), Wireless PAN (802.15 Bluetooth), Wireless MAN (802.16 WiMAX), and others.</a:t>
            </a:r>
          </a:p>
          <a:p>
            <a:endParaRPr lang="en-US" altLang="en-US"/>
          </a:p>
          <a:p>
            <a:r>
              <a:rPr lang="en-US" altLang="en-US"/>
              <a:t>- The standards developed by 802 focus on the bottom two layers of the OSI model - the physical layer and data link layer. </a:t>
            </a:r>
          </a:p>
          <a:p>
            <a:endParaRPr lang="en-US" altLang="en-US"/>
          </a:p>
          <a:p>
            <a:r>
              <a:rPr lang="en-US" altLang="en-US"/>
              <a:t>- Some of the key responsibilities of 802 include developing LAN/MAN architecture and interconnecting standards, ensuring interoperability of standards, establishing projects and study groups, and more.</a:t>
            </a:r>
          </a:p>
          <a:p>
            <a:endParaRPr lang="en-US" altLang="en-US"/>
          </a:p>
          <a:p>
            <a:r>
              <a:rPr lang="en-US" altLang="en-US"/>
              <a:t>- The 802 committee operates under IEEE's standards development processes and procedures for openness, consensus, balance, right to appeal, and other principles.</a:t>
            </a:r>
          </a:p>
          <a:p>
            <a:endParaRPr lang="en-US" altLang="en-US"/>
          </a:p>
          <a:p>
            <a:r>
              <a:rPr lang="en-US" altLang="en-US"/>
              <a:t>So in summary, the IEEE 802 committee is instrumental in developing many of the fundamental standards that underpin wired and wireless networking technologies today. Its standards help enable interoperability between networking devices.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a:extLst>
              <a:ext uri="{FF2B5EF4-FFF2-40B4-BE49-F238E27FC236}">
                <a16:creationId xmlns:a16="http://schemas.microsoft.com/office/drawing/2014/main" id="{4319DBBD-0C9E-4E7B-8E7B-7E3D62B17A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F93724E-86EC-4DF2-9713-B81F125CF18C}" type="slidenum">
              <a:rPr lang="en-US" altLang="en-US" sz="1300" smtClean="0"/>
              <a:pPr/>
              <a:t>6</a:t>
            </a:fld>
            <a:endParaRPr lang="en-US" altLang="en-US" sz="1300"/>
          </a:p>
        </p:txBody>
      </p:sp>
      <p:sp>
        <p:nvSpPr>
          <p:cNvPr id="267267" name="Rectangle 2">
            <a:extLst>
              <a:ext uri="{FF2B5EF4-FFF2-40B4-BE49-F238E27FC236}">
                <a16:creationId xmlns:a16="http://schemas.microsoft.com/office/drawing/2014/main" id="{E2F52119-35C1-4366-9490-F538EABD8F39}"/>
              </a:ext>
            </a:extLst>
          </p:cNvPr>
          <p:cNvSpPr>
            <a:spLocks noGrp="1" noRot="1" noChangeAspect="1" noChangeArrowheads="1" noTextEdit="1"/>
          </p:cNvSpPr>
          <p:nvPr>
            <p:ph type="sldImg"/>
          </p:nvPr>
        </p:nvSpPr>
        <p:spPr>
          <a:xfrm>
            <a:off x="2974975" y="549275"/>
            <a:ext cx="3654425" cy="2741613"/>
          </a:xfrm>
          <a:ln/>
        </p:spPr>
      </p:sp>
      <p:sp>
        <p:nvSpPr>
          <p:cNvPr id="267268" name="Rectangle 3">
            <a:extLst>
              <a:ext uri="{FF2B5EF4-FFF2-40B4-BE49-F238E27FC236}">
                <a16:creationId xmlns:a16="http://schemas.microsoft.com/office/drawing/2014/main" id="{42585AC9-9C02-4709-87D5-68A674EDED41}"/>
              </a:ext>
            </a:extLst>
          </p:cNvPr>
          <p:cNvSpPr>
            <a:spLocks noGrp="1" noChangeArrowheads="1"/>
          </p:cNvSpPr>
          <p:nvPr>
            <p:ph type="body" idx="1"/>
          </p:nvPr>
        </p:nvSpPr>
        <p:spPr>
          <a:xfrm>
            <a:off x="1277938" y="3473450"/>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a:extLst>
              <a:ext uri="{FF2B5EF4-FFF2-40B4-BE49-F238E27FC236}">
                <a16:creationId xmlns:a16="http://schemas.microsoft.com/office/drawing/2014/main" id="{D1C68B83-3AB4-4C5B-A0CA-2845212CA6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B2C13CF7-05F6-42CA-8748-160A9032EF2F}" type="slidenum">
              <a:rPr lang="en-US" altLang="en-US" sz="1300" smtClean="0"/>
              <a:pPr/>
              <a:t>7</a:t>
            </a:fld>
            <a:endParaRPr lang="en-US" altLang="en-US" sz="1300"/>
          </a:p>
        </p:txBody>
      </p:sp>
      <p:sp>
        <p:nvSpPr>
          <p:cNvPr id="269315" name="Rectangle 2">
            <a:extLst>
              <a:ext uri="{FF2B5EF4-FFF2-40B4-BE49-F238E27FC236}">
                <a16:creationId xmlns:a16="http://schemas.microsoft.com/office/drawing/2014/main" id="{1A938B2F-DE85-450E-A36C-F6E9BAEB72CB}"/>
              </a:ext>
            </a:extLst>
          </p:cNvPr>
          <p:cNvSpPr>
            <a:spLocks noGrp="1" noRot="1" noChangeAspect="1" noChangeArrowheads="1" noTextEdit="1"/>
          </p:cNvSpPr>
          <p:nvPr>
            <p:ph type="sldImg"/>
          </p:nvPr>
        </p:nvSpPr>
        <p:spPr>
          <a:ln/>
        </p:spPr>
      </p:sp>
      <p:sp>
        <p:nvSpPr>
          <p:cNvPr id="269316" name="Rectangle 3">
            <a:extLst>
              <a:ext uri="{FF2B5EF4-FFF2-40B4-BE49-F238E27FC236}">
                <a16:creationId xmlns:a16="http://schemas.microsoft.com/office/drawing/2014/main" id="{F302779D-1A03-47D0-BBDA-FF181E6AC9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a:extLst>
              <a:ext uri="{FF2B5EF4-FFF2-40B4-BE49-F238E27FC236}">
                <a16:creationId xmlns:a16="http://schemas.microsoft.com/office/drawing/2014/main" id="{263C0DC5-FF56-49B5-81AB-124873F78F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8F20B8C-88BA-4CD8-94AD-89045794511B}" type="slidenum">
              <a:rPr lang="en-US" altLang="en-US" sz="1300" smtClean="0"/>
              <a:pPr/>
              <a:t>8</a:t>
            </a:fld>
            <a:endParaRPr lang="en-US" altLang="en-US" sz="1300"/>
          </a:p>
        </p:txBody>
      </p:sp>
      <p:sp>
        <p:nvSpPr>
          <p:cNvPr id="271363" name="Rectangle 2">
            <a:extLst>
              <a:ext uri="{FF2B5EF4-FFF2-40B4-BE49-F238E27FC236}">
                <a16:creationId xmlns:a16="http://schemas.microsoft.com/office/drawing/2014/main" id="{F4B1FA8C-9DCA-463E-9056-CCB173590ACE}"/>
              </a:ext>
            </a:extLst>
          </p:cNvPr>
          <p:cNvSpPr>
            <a:spLocks noGrp="1" noRot="1" noChangeAspect="1" noChangeArrowheads="1" noTextEdit="1"/>
          </p:cNvSpPr>
          <p:nvPr>
            <p:ph type="sldImg"/>
          </p:nvPr>
        </p:nvSpPr>
        <p:spPr>
          <a:ln/>
        </p:spPr>
      </p:sp>
      <p:sp>
        <p:nvSpPr>
          <p:cNvPr id="271364" name="Rectangle 3">
            <a:extLst>
              <a:ext uri="{FF2B5EF4-FFF2-40B4-BE49-F238E27FC236}">
                <a16:creationId xmlns:a16="http://schemas.microsoft.com/office/drawing/2014/main" id="{E7B71A6B-912B-4E7B-8C2A-6EC40A18CA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endParaRPr lang="en-US" altLang="en-US"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a:extLst>
              <a:ext uri="{FF2B5EF4-FFF2-40B4-BE49-F238E27FC236}">
                <a16:creationId xmlns:a16="http://schemas.microsoft.com/office/drawing/2014/main" id="{2DF9AAE5-EE55-459E-AC56-3C912666BD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71B3D4B-AA68-47CD-98E1-4D666565CDA1}" type="slidenum">
              <a:rPr lang="en-US" altLang="en-US" sz="1300" smtClean="0"/>
              <a:pPr/>
              <a:t>9</a:t>
            </a:fld>
            <a:endParaRPr lang="en-US" altLang="en-US" sz="1300"/>
          </a:p>
        </p:txBody>
      </p:sp>
      <p:sp>
        <p:nvSpPr>
          <p:cNvPr id="273411" name="Rectangle 2">
            <a:extLst>
              <a:ext uri="{FF2B5EF4-FFF2-40B4-BE49-F238E27FC236}">
                <a16:creationId xmlns:a16="http://schemas.microsoft.com/office/drawing/2014/main" id="{B8AE5C3E-B255-4A36-8DE8-2FE245259665}"/>
              </a:ext>
            </a:extLst>
          </p:cNvPr>
          <p:cNvSpPr>
            <a:spLocks noGrp="1" noRot="1" noChangeAspect="1" noChangeArrowheads="1" noTextEdit="1"/>
          </p:cNvSpPr>
          <p:nvPr>
            <p:ph type="sldImg"/>
          </p:nvPr>
        </p:nvSpPr>
        <p:spPr>
          <a:ln/>
        </p:spPr>
      </p:sp>
      <p:sp>
        <p:nvSpPr>
          <p:cNvPr id="273412" name="Rectangle 3">
            <a:extLst>
              <a:ext uri="{FF2B5EF4-FFF2-40B4-BE49-F238E27FC236}">
                <a16:creationId xmlns:a16="http://schemas.microsoft.com/office/drawing/2014/main" id="{0B0658C3-0ED8-4E09-9FA0-9531DA1BD6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Các chuẩn Ethernet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a:extLst>
              <a:ext uri="{FF2B5EF4-FFF2-40B4-BE49-F238E27FC236}">
                <a16:creationId xmlns:a16="http://schemas.microsoft.com/office/drawing/2014/main" id="{543F5B86-A346-427C-91E5-DD855BF2FD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40E8C4A0-EB08-4145-86EC-9BE2DBD6205A}" type="slidenum">
              <a:rPr lang="en-US" altLang="en-US" sz="1300" smtClean="0"/>
              <a:pPr/>
              <a:t>15</a:t>
            </a:fld>
            <a:endParaRPr lang="en-US" altLang="en-US" sz="1300"/>
          </a:p>
        </p:txBody>
      </p:sp>
      <p:sp>
        <p:nvSpPr>
          <p:cNvPr id="280579" name="Rectangle 2">
            <a:extLst>
              <a:ext uri="{FF2B5EF4-FFF2-40B4-BE49-F238E27FC236}">
                <a16:creationId xmlns:a16="http://schemas.microsoft.com/office/drawing/2014/main" id="{713B5F32-81CF-48DA-AFF5-4AA4C6A261E9}"/>
              </a:ext>
            </a:extLst>
          </p:cNvPr>
          <p:cNvSpPr>
            <a:spLocks noGrp="1" noRot="1" noChangeAspect="1" noChangeArrowheads="1" noTextEdit="1"/>
          </p:cNvSpPr>
          <p:nvPr>
            <p:ph type="sldImg"/>
          </p:nvPr>
        </p:nvSpPr>
        <p:spPr>
          <a:ln/>
        </p:spPr>
      </p:sp>
      <p:sp>
        <p:nvSpPr>
          <p:cNvPr id="280580" name="Rectangle 3">
            <a:extLst>
              <a:ext uri="{FF2B5EF4-FFF2-40B4-BE49-F238E27FC236}">
                <a16:creationId xmlns:a16="http://schemas.microsoft.com/office/drawing/2014/main" id="{403E808E-E30B-4F2B-A1F2-3FB9AD966A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a:extLst>
              <a:ext uri="{FF2B5EF4-FFF2-40B4-BE49-F238E27FC236}">
                <a16:creationId xmlns:a16="http://schemas.microsoft.com/office/drawing/2014/main" id="{56EA0962-8333-4371-92AF-8D6D83ADC7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535746D-E75B-4989-BD99-80639D4B882C}" type="slidenum">
              <a:rPr lang="en-US" altLang="en-US" sz="1300" smtClean="0"/>
              <a:pPr/>
              <a:t>16</a:t>
            </a:fld>
            <a:endParaRPr lang="en-US" altLang="en-US" sz="1300"/>
          </a:p>
        </p:txBody>
      </p:sp>
      <p:sp>
        <p:nvSpPr>
          <p:cNvPr id="282627" name="Rectangle 2">
            <a:extLst>
              <a:ext uri="{FF2B5EF4-FFF2-40B4-BE49-F238E27FC236}">
                <a16:creationId xmlns:a16="http://schemas.microsoft.com/office/drawing/2014/main" id="{EB2B9A9D-5DB4-46EB-A141-50B47DA48CFD}"/>
              </a:ext>
            </a:extLst>
          </p:cNvPr>
          <p:cNvSpPr>
            <a:spLocks noGrp="1" noRot="1" noChangeAspect="1" noChangeArrowheads="1" noTextEdit="1"/>
          </p:cNvSpPr>
          <p:nvPr>
            <p:ph type="sldImg"/>
          </p:nvPr>
        </p:nvSpPr>
        <p:spPr>
          <a:ln/>
        </p:spPr>
      </p:sp>
      <p:sp>
        <p:nvSpPr>
          <p:cNvPr id="282628" name="Rectangle 3">
            <a:extLst>
              <a:ext uri="{FF2B5EF4-FFF2-40B4-BE49-F238E27FC236}">
                <a16:creationId xmlns:a16="http://schemas.microsoft.com/office/drawing/2014/main" id="{3B32FCD9-87B0-4C81-9903-342AFB58A9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Mỗi bộ thích ứng mạng trên LAN có một địa chỉ MAC duy nhất!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a:extLst>
              <a:ext uri="{FF2B5EF4-FFF2-40B4-BE49-F238E27FC236}">
                <a16:creationId xmlns:a16="http://schemas.microsoft.com/office/drawing/2014/main" id="{D0C2D02E-52BB-4D54-8EAC-D42914EDCF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3D51BEC-DE79-4033-BE48-2CA23E467FE4}" type="slidenum">
              <a:rPr lang="en-US" altLang="en-US" sz="1300" smtClean="0"/>
              <a:pPr/>
              <a:t>17</a:t>
            </a:fld>
            <a:endParaRPr lang="en-US" altLang="en-US" sz="1300"/>
          </a:p>
        </p:txBody>
      </p:sp>
      <p:sp>
        <p:nvSpPr>
          <p:cNvPr id="284675" name="Rectangle 2">
            <a:extLst>
              <a:ext uri="{FF2B5EF4-FFF2-40B4-BE49-F238E27FC236}">
                <a16:creationId xmlns:a16="http://schemas.microsoft.com/office/drawing/2014/main" id="{010991A5-EBD8-4084-BA0D-124010F41B9E}"/>
              </a:ext>
            </a:extLst>
          </p:cNvPr>
          <p:cNvSpPr>
            <a:spLocks noGrp="1" noRot="1" noChangeAspect="1" noChangeArrowheads="1" noTextEdit="1"/>
          </p:cNvSpPr>
          <p:nvPr>
            <p:ph type="sldImg"/>
          </p:nvPr>
        </p:nvSpPr>
        <p:spPr>
          <a:ln/>
        </p:spPr>
      </p:sp>
      <p:sp>
        <p:nvSpPr>
          <p:cNvPr id="284676" name="Rectangle 3">
            <a:extLst>
              <a:ext uri="{FF2B5EF4-FFF2-40B4-BE49-F238E27FC236}">
                <a16:creationId xmlns:a16="http://schemas.microsoft.com/office/drawing/2014/main" id="{BF84B6B5-B6AD-495D-AE79-2FEC2A7998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a:extLst>
              <a:ext uri="{FF2B5EF4-FFF2-40B4-BE49-F238E27FC236}">
                <a16:creationId xmlns:a16="http://schemas.microsoft.com/office/drawing/2014/main" id="{DFED0D39-4CB4-4C62-A542-E1DC6A1E27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5C2BA51-E509-48FB-8F18-90AD4888367D}" type="slidenum">
              <a:rPr lang="en-US" altLang="en-US" sz="1300" smtClean="0"/>
              <a:pPr/>
              <a:t>18</a:t>
            </a:fld>
            <a:endParaRPr lang="en-US" altLang="en-US" sz="1300"/>
          </a:p>
        </p:txBody>
      </p:sp>
      <p:sp>
        <p:nvSpPr>
          <p:cNvPr id="286723" name="Rectangle 2">
            <a:extLst>
              <a:ext uri="{FF2B5EF4-FFF2-40B4-BE49-F238E27FC236}">
                <a16:creationId xmlns:a16="http://schemas.microsoft.com/office/drawing/2014/main" id="{A5518345-B495-403E-A7BE-7AF24914AD1B}"/>
              </a:ext>
            </a:extLst>
          </p:cNvPr>
          <p:cNvSpPr>
            <a:spLocks noGrp="1" noRot="1" noChangeAspect="1" noChangeArrowheads="1" noTextEdit="1"/>
          </p:cNvSpPr>
          <p:nvPr>
            <p:ph type="sldImg"/>
          </p:nvPr>
        </p:nvSpPr>
        <p:spPr>
          <a:ln/>
        </p:spPr>
      </p:sp>
      <p:sp>
        <p:nvSpPr>
          <p:cNvPr id="286724" name="Rectangle 3">
            <a:extLst>
              <a:ext uri="{FF2B5EF4-FFF2-40B4-BE49-F238E27FC236}">
                <a16:creationId xmlns:a16="http://schemas.microsoft.com/office/drawing/2014/main" id="{EA01571F-D8F8-4197-B68A-00C939F6F4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payload: trọng tải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a:extLst>
              <a:ext uri="{FF2B5EF4-FFF2-40B4-BE49-F238E27FC236}">
                <a16:creationId xmlns:a16="http://schemas.microsoft.com/office/drawing/2014/main" id="{B4A098EB-749A-46D3-872D-267F9264E6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AD3956B7-3FF6-4F3A-8CC6-D94D2CE596AC}" type="slidenum">
              <a:rPr lang="en-US" altLang="en-US" sz="1300" smtClean="0"/>
              <a:pPr/>
              <a:t>21</a:t>
            </a:fld>
            <a:endParaRPr lang="en-US" altLang="en-US" sz="1300"/>
          </a:p>
        </p:txBody>
      </p:sp>
      <p:sp>
        <p:nvSpPr>
          <p:cNvPr id="290819" name="Rectangle 2">
            <a:extLst>
              <a:ext uri="{FF2B5EF4-FFF2-40B4-BE49-F238E27FC236}">
                <a16:creationId xmlns:a16="http://schemas.microsoft.com/office/drawing/2014/main" id="{CFB8EF0C-1C4C-4001-BC99-4A883017078E}"/>
              </a:ext>
            </a:extLst>
          </p:cNvPr>
          <p:cNvSpPr>
            <a:spLocks noGrp="1" noRot="1" noChangeAspect="1" noChangeArrowheads="1" noTextEdit="1"/>
          </p:cNvSpPr>
          <p:nvPr>
            <p:ph type="sldImg"/>
          </p:nvPr>
        </p:nvSpPr>
        <p:spPr>
          <a:ln/>
        </p:spPr>
      </p:sp>
      <p:sp>
        <p:nvSpPr>
          <p:cNvPr id="290820" name="Rectangle 3">
            <a:extLst>
              <a:ext uri="{FF2B5EF4-FFF2-40B4-BE49-F238E27FC236}">
                <a16:creationId xmlns:a16="http://schemas.microsoft.com/office/drawing/2014/main" id="{64BAC57E-AA8C-48C8-848F-35FC941C5F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Trên router R có 2 bảng ARP, mỗi bảng cho một mạng IP (LAN)</a:t>
            </a:r>
            <a:endParaRPr lang="en-US" altLang="en-US" sz="1500"/>
          </a:p>
          <a:p>
            <a:r>
              <a:rPr lang="en-US" altLang="en-US" sz="1500"/>
              <a:t>Trên bảng đường tại trạm nguồn (A), tìm router 111.111.111.110</a:t>
            </a:r>
          </a:p>
          <a:p>
            <a:r>
              <a:rPr lang="en-US" altLang="en-US" sz="1500"/>
              <a:t>Trong bảng ARP tại trạm nguồn, tìm địa chỉ MAC E6-E9-00-17-BB-4B, …</a:t>
            </a:r>
          </a:p>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a:extLst>
              <a:ext uri="{FF2B5EF4-FFF2-40B4-BE49-F238E27FC236}">
                <a16:creationId xmlns:a16="http://schemas.microsoft.com/office/drawing/2014/main" id="{5CE82935-50ED-4F39-9A1B-51B1A841ED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7F10661-EAB1-4650-B421-B41AEBFCA27E}" type="slidenum">
              <a:rPr lang="en-US" altLang="en-US" sz="1300" smtClean="0"/>
              <a:pPr/>
              <a:t>23</a:t>
            </a:fld>
            <a:endParaRPr lang="en-US" altLang="en-US" sz="1300"/>
          </a:p>
        </p:txBody>
      </p:sp>
      <p:sp>
        <p:nvSpPr>
          <p:cNvPr id="293891" name="Rectangle 2">
            <a:extLst>
              <a:ext uri="{FF2B5EF4-FFF2-40B4-BE49-F238E27FC236}">
                <a16:creationId xmlns:a16="http://schemas.microsoft.com/office/drawing/2014/main" id="{42F52467-090F-4C45-B533-BB8C52AB92D1}"/>
              </a:ext>
            </a:extLst>
          </p:cNvPr>
          <p:cNvSpPr>
            <a:spLocks noGrp="1" noRot="1" noChangeAspect="1" noChangeArrowheads="1" noTextEdit="1"/>
          </p:cNvSpPr>
          <p:nvPr>
            <p:ph type="sldImg"/>
          </p:nvPr>
        </p:nvSpPr>
        <p:spPr>
          <a:ln/>
        </p:spPr>
      </p:sp>
      <p:sp>
        <p:nvSpPr>
          <p:cNvPr id="293892" name="Rectangle 3">
            <a:extLst>
              <a:ext uri="{FF2B5EF4-FFF2-40B4-BE49-F238E27FC236}">
                <a16:creationId xmlns:a16="http://schemas.microsoft.com/office/drawing/2014/main" id="{CEF82A38-7594-4E23-A1FE-AF0BDB4B3F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Tap: (n ) vòi, khóa (nước); mắc rẽ vào…</a:t>
            </a:r>
          </a:p>
          <a:p>
            <a:r>
              <a:rPr lang="en-US" altLang="en-US"/>
              <a:t>Cheap $20 for 100Mbs!</a:t>
            </a:r>
          </a:p>
          <a:p>
            <a:r>
              <a:rPr lang="en-US" altLang="en-US"/>
              <a:t>Sketch: bức phác họa</a:t>
            </a:r>
          </a:p>
          <a:p>
            <a:r>
              <a:rPr lang="en-US" altLang="en-US"/>
              <a:t>Transceiver: máy thu phát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a:extLst>
              <a:ext uri="{FF2B5EF4-FFF2-40B4-BE49-F238E27FC236}">
                <a16:creationId xmlns:a16="http://schemas.microsoft.com/office/drawing/2014/main" id="{1CAE4E1C-0EC7-42CD-9EEA-DAC0046C0D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AB662344-4ACE-4F90-98C5-5FE6B863B001}" type="slidenum">
              <a:rPr lang="en-US" altLang="en-US" sz="1300" smtClean="0"/>
              <a:pPr/>
              <a:t>24</a:t>
            </a:fld>
            <a:endParaRPr lang="en-US" altLang="en-US" sz="1300"/>
          </a:p>
        </p:txBody>
      </p:sp>
      <p:sp>
        <p:nvSpPr>
          <p:cNvPr id="295939" name="Rectangle 2">
            <a:extLst>
              <a:ext uri="{FF2B5EF4-FFF2-40B4-BE49-F238E27FC236}">
                <a16:creationId xmlns:a16="http://schemas.microsoft.com/office/drawing/2014/main" id="{AEF9A264-7AEB-4315-88BC-3A27B2BEA843}"/>
              </a:ext>
            </a:extLst>
          </p:cNvPr>
          <p:cNvSpPr>
            <a:spLocks noGrp="1" noRot="1" noChangeAspect="1" noChangeArrowheads="1" noTextEdit="1"/>
          </p:cNvSpPr>
          <p:nvPr>
            <p:ph type="sldImg"/>
          </p:nvPr>
        </p:nvSpPr>
        <p:spPr>
          <a:ln/>
        </p:spPr>
      </p:sp>
      <p:sp>
        <p:nvSpPr>
          <p:cNvPr id="295940" name="Rectangle 3">
            <a:extLst>
              <a:ext uri="{FF2B5EF4-FFF2-40B4-BE49-F238E27FC236}">
                <a16:creationId xmlns:a16="http://schemas.microsoft.com/office/drawing/2014/main" id="{9ED1378D-902F-49DA-944E-782B9C824E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Reliability:</a:t>
            </a:r>
            <a:r>
              <a:rPr lang="vi-VN" altLang="en-US"/>
              <a:t> độ tin cậy</a:t>
            </a:r>
          </a:p>
          <a:p>
            <a:r>
              <a:rPr lang="vi-VN" altLang="en-US"/>
              <a:t>Khả năng của phần ứng hoặc phần mềm máy tính hoàn thành nhiệm vụ như người dùng mong muốn, và thực hiện một cách kiên định, không bị sự cố và bị lỗi.</a:t>
            </a:r>
          </a:p>
          <a:p>
            <a:endParaRPr lang="vi-VN" altLang="en-US"/>
          </a:p>
          <a:p>
            <a:endParaRPr lang="en-US" altLang="en-US"/>
          </a:p>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a:extLst>
              <a:ext uri="{FF2B5EF4-FFF2-40B4-BE49-F238E27FC236}">
                <a16:creationId xmlns:a16="http://schemas.microsoft.com/office/drawing/2014/main" id="{2EC4FE08-43CA-4AB9-B3A4-BE88E49971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A54A3BC-6741-4B54-A722-CB80EEC8A932}" type="slidenum">
              <a:rPr lang="en-US" altLang="en-US" sz="1300" smtClean="0"/>
              <a:pPr/>
              <a:t>25</a:t>
            </a:fld>
            <a:endParaRPr lang="en-US" altLang="en-US" sz="1300"/>
          </a:p>
        </p:txBody>
      </p:sp>
      <p:sp>
        <p:nvSpPr>
          <p:cNvPr id="297987" name="Rectangle 2">
            <a:extLst>
              <a:ext uri="{FF2B5EF4-FFF2-40B4-BE49-F238E27FC236}">
                <a16:creationId xmlns:a16="http://schemas.microsoft.com/office/drawing/2014/main" id="{1C4BFDCA-DAD0-44B5-83D9-09D3AB67A0C8}"/>
              </a:ext>
            </a:extLst>
          </p:cNvPr>
          <p:cNvSpPr>
            <a:spLocks noGrp="1" noRot="1" noChangeAspect="1" noChangeArrowheads="1" noTextEdit="1"/>
          </p:cNvSpPr>
          <p:nvPr>
            <p:ph type="sldImg"/>
          </p:nvPr>
        </p:nvSpPr>
        <p:spPr>
          <a:ln/>
        </p:spPr>
      </p:sp>
      <p:sp>
        <p:nvSpPr>
          <p:cNvPr id="297988" name="Rectangle 3">
            <a:extLst>
              <a:ext uri="{FF2B5EF4-FFF2-40B4-BE49-F238E27FC236}">
                <a16:creationId xmlns:a16="http://schemas.microsoft.com/office/drawing/2014/main" id="{DE15491E-B406-4DCC-B20A-414D996459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a:extLst>
              <a:ext uri="{FF2B5EF4-FFF2-40B4-BE49-F238E27FC236}">
                <a16:creationId xmlns:a16="http://schemas.microsoft.com/office/drawing/2014/main" id="{9AEC7825-FB18-405D-B985-F31A75DBD5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0B163E0-DA92-404B-BC40-DDC3CDC1E416}" type="slidenum">
              <a:rPr lang="en-US" altLang="en-US" sz="1300" smtClean="0"/>
              <a:pPr/>
              <a:t>26</a:t>
            </a:fld>
            <a:endParaRPr lang="en-US" altLang="en-US" sz="1300"/>
          </a:p>
        </p:txBody>
      </p:sp>
      <p:sp>
        <p:nvSpPr>
          <p:cNvPr id="300035" name="Rectangle 2">
            <a:extLst>
              <a:ext uri="{FF2B5EF4-FFF2-40B4-BE49-F238E27FC236}">
                <a16:creationId xmlns:a16="http://schemas.microsoft.com/office/drawing/2014/main" id="{A5018D74-32BA-4E87-A97B-4E27618CC639}"/>
              </a:ext>
            </a:extLst>
          </p:cNvPr>
          <p:cNvSpPr>
            <a:spLocks noGrp="1" noRot="1" noChangeAspect="1" noChangeArrowheads="1" noTextEdit="1"/>
          </p:cNvSpPr>
          <p:nvPr>
            <p:ph type="sldImg"/>
          </p:nvPr>
        </p:nvSpPr>
        <p:spPr>
          <a:ln/>
        </p:spPr>
      </p:sp>
      <p:sp>
        <p:nvSpPr>
          <p:cNvPr id="300036" name="Rectangle 3">
            <a:extLst>
              <a:ext uri="{FF2B5EF4-FFF2-40B4-BE49-F238E27FC236}">
                <a16:creationId xmlns:a16="http://schemas.microsoft.com/office/drawing/2014/main" id="{86E29AA3-95A3-418B-AD14-53268965ED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Length/Type field supports two different uses. If the value is less than 1536 decimal, 0x600 hexadecimal, then the value indicates length. The length interpretation is used when the LLC layer provides the protocol identification. The type value indicates which upper-layer protocol will receive the data after the Ethernet process is complete. The length indicates the number of bytes of data that follows this field. </a:t>
            </a:r>
          </a:p>
          <a:p>
            <a:endParaRPr lang="en-US" altLang="en-US"/>
          </a:p>
          <a:p>
            <a:r>
              <a:rPr lang="en-US" altLang="en-US"/>
              <a:t>The Data field and padding if necessary, may be of any length that does not cause the frame to exceed the maximum frame size. The maximum transmission unit (MTU) for Ethernet is 1500 octets, so the data should not exceed that size. The content of this field is unspecified. An unspecified amount of data is inserted immediately after the user data when there is not enough user data for the frame to meet the minimum frame length. This extra data is called a pad. Ethernet requires each frame to be between 64 and 1518 octets. </a:t>
            </a:r>
          </a:p>
          <a:p>
            <a:endParaRPr lang="en-US" altLang="en-US"/>
          </a:p>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a:extLst>
              <a:ext uri="{FF2B5EF4-FFF2-40B4-BE49-F238E27FC236}">
                <a16:creationId xmlns:a16="http://schemas.microsoft.com/office/drawing/2014/main" id="{E18E66AA-2E7E-4EE1-BF23-31497B8EFF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B35339B6-1D8E-4160-9AD9-40939AB3C0AC}" type="slidenum">
              <a:rPr lang="en-US" altLang="en-US" sz="1300" smtClean="0"/>
              <a:pPr/>
              <a:t>27</a:t>
            </a:fld>
            <a:endParaRPr lang="en-US" altLang="en-US" sz="1300"/>
          </a:p>
        </p:txBody>
      </p:sp>
      <p:sp>
        <p:nvSpPr>
          <p:cNvPr id="302083" name="Rectangle 2">
            <a:extLst>
              <a:ext uri="{FF2B5EF4-FFF2-40B4-BE49-F238E27FC236}">
                <a16:creationId xmlns:a16="http://schemas.microsoft.com/office/drawing/2014/main" id="{AF0160E3-9B24-48F6-8585-4D26B3B1D085}"/>
              </a:ext>
            </a:extLst>
          </p:cNvPr>
          <p:cNvSpPr>
            <a:spLocks noGrp="1" noRot="1" noChangeAspect="1" noChangeArrowheads="1" noTextEdit="1"/>
          </p:cNvSpPr>
          <p:nvPr>
            <p:ph type="sldImg"/>
          </p:nvPr>
        </p:nvSpPr>
        <p:spPr>
          <a:ln/>
        </p:spPr>
      </p:sp>
      <p:sp>
        <p:nvSpPr>
          <p:cNvPr id="302084" name="Rectangle 3">
            <a:extLst>
              <a:ext uri="{FF2B5EF4-FFF2-40B4-BE49-F238E27FC236}">
                <a16:creationId xmlns:a16="http://schemas.microsoft.com/office/drawing/2014/main" id="{488BCC14-D2E6-4D4B-A6DE-37FAEFBCCA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a:extLst>
              <a:ext uri="{FF2B5EF4-FFF2-40B4-BE49-F238E27FC236}">
                <a16:creationId xmlns:a16="http://schemas.microsoft.com/office/drawing/2014/main" id="{4214E3E8-96C5-4067-AF17-4D22C6F161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ADAD751-5208-4A6C-97B1-9AA4716DEE83}" type="slidenum">
              <a:rPr lang="en-US" altLang="en-US" sz="1300" smtClean="0"/>
              <a:pPr/>
              <a:t>28</a:t>
            </a:fld>
            <a:endParaRPr lang="en-US" altLang="en-US" sz="1300"/>
          </a:p>
        </p:txBody>
      </p:sp>
      <p:sp>
        <p:nvSpPr>
          <p:cNvPr id="304131" name="Rectangle 2">
            <a:extLst>
              <a:ext uri="{FF2B5EF4-FFF2-40B4-BE49-F238E27FC236}">
                <a16:creationId xmlns:a16="http://schemas.microsoft.com/office/drawing/2014/main" id="{7219A88A-D03C-4106-9533-242C4855848B}"/>
              </a:ext>
            </a:extLst>
          </p:cNvPr>
          <p:cNvSpPr>
            <a:spLocks noGrp="1" noRot="1" noChangeAspect="1" noChangeArrowheads="1" noTextEdit="1"/>
          </p:cNvSpPr>
          <p:nvPr>
            <p:ph type="sldImg"/>
          </p:nvPr>
        </p:nvSpPr>
        <p:spPr>
          <a:ln/>
        </p:spPr>
      </p:sp>
      <p:sp>
        <p:nvSpPr>
          <p:cNvPr id="304132" name="Rectangle 3">
            <a:extLst>
              <a:ext uri="{FF2B5EF4-FFF2-40B4-BE49-F238E27FC236}">
                <a16:creationId xmlns:a16="http://schemas.microsoft.com/office/drawing/2014/main" id="{493906F0-DDC4-4884-B674-55641F5A32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&lt;1536 -&gt; Length</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a:extLst>
              <a:ext uri="{FF2B5EF4-FFF2-40B4-BE49-F238E27FC236}">
                <a16:creationId xmlns:a16="http://schemas.microsoft.com/office/drawing/2014/main" id="{F3414843-42B8-4932-BAD0-A7A2CDE3A1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7CAA930-6846-4835-8E92-8359CCEDEDAB}" type="slidenum">
              <a:rPr lang="en-US" altLang="en-US" sz="1300" smtClean="0"/>
              <a:pPr/>
              <a:t>30</a:t>
            </a:fld>
            <a:endParaRPr lang="en-US" altLang="en-US" sz="1300"/>
          </a:p>
        </p:txBody>
      </p:sp>
      <p:sp>
        <p:nvSpPr>
          <p:cNvPr id="307203" name="Rectangle 2">
            <a:extLst>
              <a:ext uri="{FF2B5EF4-FFF2-40B4-BE49-F238E27FC236}">
                <a16:creationId xmlns:a16="http://schemas.microsoft.com/office/drawing/2014/main" id="{D8F695F1-3DC4-4717-A9A8-17A7CC6670F3}"/>
              </a:ext>
            </a:extLst>
          </p:cNvPr>
          <p:cNvSpPr>
            <a:spLocks noGrp="1" noRot="1" noChangeAspect="1" noChangeArrowheads="1" noTextEdit="1"/>
          </p:cNvSpPr>
          <p:nvPr>
            <p:ph type="sldImg"/>
          </p:nvPr>
        </p:nvSpPr>
        <p:spPr>
          <a:ln/>
        </p:spPr>
      </p:sp>
      <p:sp>
        <p:nvSpPr>
          <p:cNvPr id="307204" name="Rectangle 3">
            <a:extLst>
              <a:ext uri="{FF2B5EF4-FFF2-40B4-BE49-F238E27FC236}">
                <a16:creationId xmlns:a16="http://schemas.microsoft.com/office/drawing/2014/main" id="{571CDF92-E28A-4DF0-91FF-2757517A1E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 slots: an adapter may begin to transmit at any time!</a:t>
            </a:r>
          </a:p>
          <a:p>
            <a:r>
              <a:rPr lang="vi-VN" altLang="en-US"/>
              <a:t>CSMA/CD (Carrier Sense Multiple Access / Collision Detection) là phương pháp truy nhập đường truyền dùng trong các chuẩn Ethernet ban đầu:</a:t>
            </a:r>
          </a:p>
          <a:p>
            <a:endParaRPr lang="vi-VN" altLang="en-US"/>
          </a:p>
          <a:p>
            <a:pPr marL="171450" indent="-171450">
              <a:buFontTx/>
              <a:buChar char="-"/>
            </a:pPr>
            <a:r>
              <a:rPr lang="vi-VN" altLang="en-US"/>
              <a:t>Ethernet</a:t>
            </a:r>
            <a:endParaRPr lang="en-US" altLang="en-US"/>
          </a:p>
          <a:p>
            <a:pPr marL="171450" indent="-171450">
              <a:buFontTx/>
              <a:buChar char="-"/>
            </a:pPr>
            <a:r>
              <a:rPr lang="en-US" altLang="en-US"/>
              <a:t>100BASE-T4</a:t>
            </a:r>
            <a:endParaRPr lang="vi-VN" altLang="en-US"/>
          </a:p>
          <a:p>
            <a:r>
              <a:rPr lang="vi-VN" altLang="en-US"/>
              <a:t>- </a:t>
            </a:r>
            <a:r>
              <a:rPr lang="en-US" altLang="en-US"/>
              <a:t>Phiên bản đầu </a:t>
            </a:r>
            <a:r>
              <a:rPr lang="vi-VN" altLang="en-US"/>
              <a:t>Fast Ethernet (100BASE-TX)</a:t>
            </a:r>
            <a:r>
              <a:rPr lang="en-US" altLang="en-US"/>
              <a:t> vẫn sử dụng CSMA/CD</a:t>
            </a:r>
            <a:endParaRPr lang="vi-VN" altLang="en-US"/>
          </a:p>
          <a:p>
            <a:endParaRPr lang="vi-VN" altLang="en-US"/>
          </a:p>
          <a:p>
            <a:r>
              <a:rPr lang="vi-VN" altLang="en-US"/>
              <a:t>Theo CSMA/CD, khi một trạm muốn truyền dữ liệu, nó sẽ "lắng nghe" xem đường truyền có đang bận không. Nếu đường truyền rảnh, trạm sẽ bắt đầu truyền. Nếu đường truyền đang bận (có tín hiệu mang - carrier), trạm sẽ đợi một khoảng thời gian ngẫu nhiên rồi mới truyền.</a:t>
            </a:r>
          </a:p>
          <a:p>
            <a:endParaRPr lang="vi-VN" altLang="en-US"/>
          </a:p>
          <a:p>
            <a:r>
              <a:rPr lang="vi-VN" altLang="en-US"/>
              <a:t>Trong quá trình truyền, nếu xảy ra va chạm (collision) do có nhiều trạm cùng truyền, các trạm sẽ phát hiện va chạm đó và ngừng truyền. Sau một khoảng thời gian ngẫu nhiên, chúng sẽ truyền lại lần nữa.</a:t>
            </a:r>
          </a:p>
          <a:p>
            <a:endParaRPr lang="vi-VN" altLang="en-US"/>
          </a:p>
          <a:p>
            <a:r>
              <a:rPr lang="vi-VN" altLang="en-US"/>
              <a:t>CSMA/CD giúp tránh va chạm dữ liệu và nhanh chóng phục hồi khi xảy ra va chạm trên đường truyền. Đây là cơ chế then chốt để các chuẩn Ethernet ban đầu hoạt động hiệu quả.</a:t>
            </a:r>
          </a:p>
          <a:p>
            <a:endParaRPr lang="vi-VN" altLang="en-US"/>
          </a:p>
          <a:p>
            <a:r>
              <a:rPr lang="vi-VN" altLang="en-US"/>
              <a:t>Tuy nhiên, từ Ethernet 1Gbps trở lên thì không còn sử dụng CSMA/CD mà chuyển sang dùng công nghệ Switch, không còn xung đột trên đường truyền chung nữa.</a:t>
            </a:r>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a:extLst>
              <a:ext uri="{FF2B5EF4-FFF2-40B4-BE49-F238E27FC236}">
                <a16:creationId xmlns:a16="http://schemas.microsoft.com/office/drawing/2014/main" id="{7F512ED3-B02C-48B1-9D8C-721098A3E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0914077-EC30-49D9-BB41-C378088808A6}" type="slidenum">
              <a:rPr lang="en-US" altLang="en-US" sz="1300" smtClean="0"/>
              <a:pPr/>
              <a:t>33</a:t>
            </a:fld>
            <a:endParaRPr lang="en-US" altLang="en-US" sz="1300"/>
          </a:p>
        </p:txBody>
      </p:sp>
      <p:sp>
        <p:nvSpPr>
          <p:cNvPr id="311299" name="Rectangle 2">
            <a:extLst>
              <a:ext uri="{FF2B5EF4-FFF2-40B4-BE49-F238E27FC236}">
                <a16:creationId xmlns:a16="http://schemas.microsoft.com/office/drawing/2014/main" id="{3EECC12D-1293-4971-A237-8B0FD12AB32E}"/>
              </a:ext>
            </a:extLst>
          </p:cNvPr>
          <p:cNvSpPr>
            <a:spLocks noGrp="1" noRot="1" noChangeAspect="1" noChangeArrowheads="1" noTextEdit="1"/>
          </p:cNvSpPr>
          <p:nvPr>
            <p:ph type="sldImg"/>
          </p:nvPr>
        </p:nvSpPr>
        <p:spPr>
          <a:xfrm>
            <a:off x="2974975" y="549275"/>
            <a:ext cx="3654425" cy="2741613"/>
          </a:xfrm>
          <a:ln/>
        </p:spPr>
      </p:sp>
      <p:sp>
        <p:nvSpPr>
          <p:cNvPr id="311300" name="Rectangle 3">
            <a:extLst>
              <a:ext uri="{FF2B5EF4-FFF2-40B4-BE49-F238E27FC236}">
                <a16:creationId xmlns:a16="http://schemas.microsoft.com/office/drawing/2014/main" id="{31A1BE7A-503E-4F40-8B4C-C35E66137BF3}"/>
              </a:ext>
            </a:extLst>
          </p:cNvPr>
          <p:cNvSpPr>
            <a:spLocks noGrp="1" noChangeArrowheads="1"/>
          </p:cNvSpPr>
          <p:nvPr>
            <p:ph type="body" idx="1"/>
          </p:nvPr>
        </p:nvSpPr>
        <p:spPr>
          <a:xfrm>
            <a:off x="1277938" y="3473450"/>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Hiệu năng giảm xuống khi dải thông tăng lên hay chiều dài cáp tăng!</a:t>
            </a:r>
          </a:p>
          <a:p>
            <a:r>
              <a:rPr lang="en-US" altLang="en-US"/>
              <a:t>Efficiency goes to 1 as t</a:t>
            </a:r>
            <a:r>
              <a:rPr lang="en-US" altLang="en-US" baseline="-25000"/>
              <a:t>prop</a:t>
            </a:r>
            <a:r>
              <a:rPr lang="en-US" altLang="en-US"/>
              <a:t> goes to 0</a:t>
            </a:r>
          </a:p>
          <a:p>
            <a:r>
              <a:rPr lang="en-US" altLang="en-US"/>
              <a:t>Goes to 1 as t</a:t>
            </a:r>
            <a:r>
              <a:rPr lang="en-US" altLang="en-US" baseline="-25000"/>
              <a:t>trans</a:t>
            </a:r>
            <a:r>
              <a:rPr lang="en-US" altLang="en-US"/>
              <a:t> goes to infinity</a:t>
            </a:r>
          </a:p>
          <a:p>
            <a:endParaRPr lang="en-US" altLang="en-US"/>
          </a:p>
          <a:p>
            <a:r>
              <a:rPr lang="en-US" altLang="en-US"/>
              <a:t>Now lets look at the performance of Ethernet. Performance depends on propagation delay (PROP) and transmission time (TRANS).</a:t>
            </a:r>
          </a:p>
          <a:p>
            <a:r>
              <a:rPr lang="en-US" altLang="en-US"/>
              <a:t>	PROP = L/c, where L is cable length, and c is signal speed. </a:t>
            </a:r>
          </a:p>
          <a:p>
            <a:r>
              <a:rPr lang="en-US" altLang="en-US"/>
              <a:t>	TRANS = F/B, where F is frame size and B is bandwidth.</a:t>
            </a:r>
          </a:p>
          <a:p>
            <a:endParaRPr lang="en-US" altLang="en-US"/>
          </a:p>
          <a:p>
            <a:r>
              <a:rPr lang="en-US" altLang="en-US"/>
              <a:t>Without going into too much details, I will try to give the general idea behind the above formula. We know that to detect a collision it takes 2*PROP time. And on the average it takes e (~ 2.7) number of attempts. So</a:t>
            </a:r>
          </a:p>
          <a:p>
            <a:r>
              <a:rPr lang="en-US" altLang="en-US"/>
              <a:t>	efficiency = TRANS/ (TRANS + 2 * PROP * e)</a:t>
            </a:r>
          </a:p>
          <a:p>
            <a:r>
              <a:rPr lang="en-US" altLang="en-US"/>
              <a:t>This is approximately</a:t>
            </a:r>
          </a:p>
          <a:p>
            <a:r>
              <a:rPr lang="en-US" altLang="en-US"/>
              <a:t>	TRANS/(TRANS + 5.4 PROP)</a:t>
            </a:r>
          </a:p>
          <a:p>
            <a:r>
              <a:rPr lang="en-US" altLang="en-US"/>
              <a:t>This can be simplified to the above form in the slide.</a:t>
            </a:r>
          </a:p>
          <a:p>
            <a:endParaRPr lang="en-US" altLang="en-US"/>
          </a:p>
          <a:p>
            <a:r>
              <a:rPr lang="en-US" altLang="en-US"/>
              <a:t>The main thing to note is the </a:t>
            </a:r>
            <a:r>
              <a:rPr lang="en-US" altLang="en-US" b="1"/>
              <a:t>performance degrades</a:t>
            </a:r>
            <a:r>
              <a:rPr lang="en-US" altLang="en-US"/>
              <a:t> as the </a:t>
            </a:r>
            <a:r>
              <a:rPr lang="en-US" altLang="en-US" b="1"/>
              <a:t>bandwidth increases</a:t>
            </a:r>
            <a:r>
              <a:rPr lang="en-US" altLang="en-US"/>
              <a:t> or </a:t>
            </a:r>
            <a:r>
              <a:rPr lang="en-US" altLang="en-US" b="1"/>
              <a:t>cable length increases</a:t>
            </a:r>
            <a:r>
              <a:rPr lang="en-US" altLang="en-US"/>
              <a:t>. This is precisely what we would like have: higher bandwidths over long distances. So this shows that Ethernet is good for only short distances.</a:t>
            </a:r>
          </a:p>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a:extLst>
              <a:ext uri="{FF2B5EF4-FFF2-40B4-BE49-F238E27FC236}">
                <a16:creationId xmlns:a16="http://schemas.microsoft.com/office/drawing/2014/main" id="{2AD33328-5A2E-4EE3-95BE-D1A8B11F1B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769D678-41E5-46BD-92C8-7838ECAEC332}" type="slidenum">
              <a:rPr lang="en-US" altLang="en-US" sz="1300" smtClean="0"/>
              <a:pPr/>
              <a:t>34</a:t>
            </a:fld>
            <a:endParaRPr lang="en-US" altLang="en-US" sz="1300"/>
          </a:p>
        </p:txBody>
      </p:sp>
      <p:sp>
        <p:nvSpPr>
          <p:cNvPr id="313347" name="Rectangle 2">
            <a:extLst>
              <a:ext uri="{FF2B5EF4-FFF2-40B4-BE49-F238E27FC236}">
                <a16:creationId xmlns:a16="http://schemas.microsoft.com/office/drawing/2014/main" id="{F8791767-9D2F-4387-8747-489739F5AAAE}"/>
              </a:ext>
            </a:extLst>
          </p:cNvPr>
          <p:cNvSpPr>
            <a:spLocks noGrp="1" noRot="1" noChangeAspect="1" noChangeArrowheads="1" noTextEdit="1"/>
          </p:cNvSpPr>
          <p:nvPr>
            <p:ph type="sldImg"/>
          </p:nvPr>
        </p:nvSpPr>
        <p:spPr>
          <a:xfrm>
            <a:off x="2924175" y="539750"/>
            <a:ext cx="3684588" cy="2762250"/>
          </a:xfrm>
          <a:ln/>
        </p:spPr>
      </p:sp>
      <p:sp>
        <p:nvSpPr>
          <p:cNvPr id="313348" name="Rectangle 3">
            <a:extLst>
              <a:ext uri="{FF2B5EF4-FFF2-40B4-BE49-F238E27FC236}">
                <a16:creationId xmlns:a16="http://schemas.microsoft.com/office/drawing/2014/main" id="{1BF7EA60-C5FE-496C-B9CA-4F5CBC56CF0E}"/>
              </a:ext>
            </a:extLst>
          </p:cNvPr>
          <p:cNvSpPr>
            <a:spLocks noGrp="1" noChangeArrowheads="1"/>
          </p:cNvSpPr>
          <p:nvPr>
            <p:ph type="body" idx="1"/>
          </p:nvPr>
        </p:nvSpPr>
        <p:spPr>
          <a:xfrm>
            <a:off x="1257300" y="3482975"/>
            <a:ext cx="7016750"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Đi dây trong mạng Ethernet đầu tiên (gốc)</a:t>
            </a:r>
          </a:p>
          <a:p>
            <a:r>
              <a:rPr lang="en-US" altLang="en-US"/>
              <a:t>Now lets look at how computers are wired to form a network. The original Ethernet used a thick coaxial cable and connections are made using vampire taps. Here 10Base5 refers to 10Mbps data rate, baseband signaling (message not shifted to a different frequency band) and 500 meters long.</a:t>
            </a:r>
          </a:p>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a:extLst>
              <a:ext uri="{FF2B5EF4-FFF2-40B4-BE49-F238E27FC236}">
                <a16:creationId xmlns:a16="http://schemas.microsoft.com/office/drawing/2014/main" id="{8286111E-6496-4CFB-B34F-8F1517449F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5A17DC9-E9D7-4FA3-B58D-3E66540D0DB5}" type="slidenum">
              <a:rPr lang="en-US" altLang="en-US" sz="1300" smtClean="0"/>
              <a:pPr/>
              <a:t>35</a:t>
            </a:fld>
            <a:endParaRPr lang="en-US" altLang="en-US" sz="1300"/>
          </a:p>
        </p:txBody>
      </p:sp>
      <p:sp>
        <p:nvSpPr>
          <p:cNvPr id="315395" name="Rectangle 2">
            <a:extLst>
              <a:ext uri="{FF2B5EF4-FFF2-40B4-BE49-F238E27FC236}">
                <a16:creationId xmlns:a16="http://schemas.microsoft.com/office/drawing/2014/main" id="{FD2007E4-9A19-46F6-9703-B04F3B0A18DE}"/>
              </a:ext>
            </a:extLst>
          </p:cNvPr>
          <p:cNvSpPr>
            <a:spLocks noGrp="1" noRot="1" noChangeAspect="1" noChangeArrowheads="1" noTextEdit="1"/>
          </p:cNvSpPr>
          <p:nvPr>
            <p:ph type="sldImg"/>
          </p:nvPr>
        </p:nvSpPr>
        <p:spPr>
          <a:ln/>
        </p:spPr>
      </p:sp>
      <p:sp>
        <p:nvSpPr>
          <p:cNvPr id="315396" name="Rectangle 3">
            <a:extLst>
              <a:ext uri="{FF2B5EF4-FFF2-40B4-BE49-F238E27FC236}">
                <a16:creationId xmlns:a16="http://schemas.microsoft.com/office/drawing/2014/main" id="{33584C07-513A-4A88-96C6-8844FEB9A7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Transceiver:bộ thu phát</a:t>
            </a:r>
          </a:p>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a:extLst>
              <a:ext uri="{FF2B5EF4-FFF2-40B4-BE49-F238E27FC236}">
                <a16:creationId xmlns:a16="http://schemas.microsoft.com/office/drawing/2014/main" id="{2528BE58-C892-4B65-9524-F8A81FD04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DEB8E93A-DCE0-40DA-8306-28C76E23386A}" type="slidenum">
              <a:rPr lang="en-US" altLang="en-US" sz="1300" smtClean="0"/>
              <a:pPr/>
              <a:t>36</a:t>
            </a:fld>
            <a:endParaRPr lang="en-US" altLang="en-US" sz="1300"/>
          </a:p>
        </p:txBody>
      </p:sp>
      <p:sp>
        <p:nvSpPr>
          <p:cNvPr id="317443" name="Rectangle 2">
            <a:extLst>
              <a:ext uri="{FF2B5EF4-FFF2-40B4-BE49-F238E27FC236}">
                <a16:creationId xmlns:a16="http://schemas.microsoft.com/office/drawing/2014/main" id="{DA044069-2093-4680-A5F7-A18D64DC7A8C}"/>
              </a:ext>
            </a:extLst>
          </p:cNvPr>
          <p:cNvSpPr>
            <a:spLocks noGrp="1" noRot="1" noChangeAspect="1" noChangeArrowheads="1" noTextEdit="1"/>
          </p:cNvSpPr>
          <p:nvPr>
            <p:ph type="sldImg"/>
          </p:nvPr>
        </p:nvSpPr>
        <p:spPr>
          <a:xfrm>
            <a:off x="2924175" y="539750"/>
            <a:ext cx="3684588" cy="2762250"/>
          </a:xfrm>
          <a:ln/>
        </p:spPr>
      </p:sp>
      <p:sp>
        <p:nvSpPr>
          <p:cNvPr id="317444" name="Rectangle 3">
            <a:extLst>
              <a:ext uri="{FF2B5EF4-FFF2-40B4-BE49-F238E27FC236}">
                <a16:creationId xmlns:a16="http://schemas.microsoft.com/office/drawing/2014/main" id="{D2B7CCDE-3172-4B55-B6D6-AF842068A2D4}"/>
              </a:ext>
            </a:extLst>
          </p:cNvPr>
          <p:cNvSpPr>
            <a:spLocks noGrp="1" noChangeArrowheads="1"/>
          </p:cNvSpPr>
          <p:nvPr>
            <p:ph type="body" idx="1"/>
          </p:nvPr>
        </p:nvSpPr>
        <p:spPr>
          <a:xfrm>
            <a:off x="1257300" y="3482975"/>
            <a:ext cx="7016750"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Đi dây trong Ethernet thế hệ thứ 2</a:t>
            </a:r>
          </a:p>
          <a:p>
            <a:r>
              <a:rPr lang="en-US" altLang="en-US"/>
              <a:t>With thinnet, connections are made by forming T junctions and thus easier to connect than using vampire taps. But it can only run upto 200 meters (that’s why 10Base2) compared to 500 incase of thicknet. </a:t>
            </a:r>
          </a:p>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a:extLst>
              <a:ext uri="{FF2B5EF4-FFF2-40B4-BE49-F238E27FC236}">
                <a16:creationId xmlns:a16="http://schemas.microsoft.com/office/drawing/2014/main" id="{C3B44680-E56D-4832-AA42-E6D7330057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47FE7B41-3862-4721-802A-AD4E3920FECC}" type="slidenum">
              <a:rPr lang="en-US" altLang="en-US" sz="1300" smtClean="0"/>
              <a:pPr/>
              <a:t>38</a:t>
            </a:fld>
            <a:endParaRPr lang="en-US" altLang="en-US" sz="1300"/>
          </a:p>
        </p:txBody>
      </p:sp>
      <p:sp>
        <p:nvSpPr>
          <p:cNvPr id="320515" name="Rectangle 2">
            <a:extLst>
              <a:ext uri="{FF2B5EF4-FFF2-40B4-BE49-F238E27FC236}">
                <a16:creationId xmlns:a16="http://schemas.microsoft.com/office/drawing/2014/main" id="{7EC1B9B9-2D29-4CA8-918D-43B8663E2472}"/>
              </a:ext>
            </a:extLst>
          </p:cNvPr>
          <p:cNvSpPr>
            <a:spLocks noGrp="1" noRot="1" noChangeAspect="1" noChangeArrowheads="1" noTextEdit="1"/>
          </p:cNvSpPr>
          <p:nvPr>
            <p:ph type="sldImg"/>
          </p:nvPr>
        </p:nvSpPr>
        <p:spPr>
          <a:xfrm>
            <a:off x="2924175" y="539750"/>
            <a:ext cx="3684588" cy="2762250"/>
          </a:xfrm>
          <a:ln/>
        </p:spPr>
      </p:sp>
      <p:sp>
        <p:nvSpPr>
          <p:cNvPr id="320516" name="Rectangle 3">
            <a:extLst>
              <a:ext uri="{FF2B5EF4-FFF2-40B4-BE49-F238E27FC236}">
                <a16:creationId xmlns:a16="http://schemas.microsoft.com/office/drawing/2014/main" id="{BBFCB99B-2E5F-461F-BCDB-8661F6B7F20D}"/>
              </a:ext>
            </a:extLst>
          </p:cNvPr>
          <p:cNvSpPr>
            <a:spLocks noGrp="1" noChangeArrowheads="1"/>
          </p:cNvSpPr>
          <p:nvPr>
            <p:ph type="body" idx="1"/>
          </p:nvPr>
        </p:nvSpPr>
        <p:spPr>
          <a:xfrm>
            <a:off x="1257300" y="3482975"/>
            <a:ext cx="7016750"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Đi dây trong Ethernet hiện đại</a:t>
            </a:r>
          </a:p>
          <a:p>
            <a:r>
              <a:rPr lang="en-US" altLang="en-US"/>
              <a:t>Nowadays hubs are used to connect computers in a LAN. All the stations are connected to a central hub. It is easier to manage this way. Now this looks like a star topology. Actually it is a physical star and logical bus. That’s why its called star shaped bus.</a:t>
            </a:r>
          </a:p>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a:extLst>
              <a:ext uri="{FF2B5EF4-FFF2-40B4-BE49-F238E27FC236}">
                <a16:creationId xmlns:a16="http://schemas.microsoft.com/office/drawing/2014/main" id="{9B93818E-6A37-4E83-B7B2-63FDE5ACFD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0E9321F-AABD-4D47-B2EF-B591AC7D241D}" type="slidenum">
              <a:rPr lang="en-US" altLang="en-US" sz="1300" smtClean="0"/>
              <a:pPr/>
              <a:t>40</a:t>
            </a:fld>
            <a:endParaRPr lang="en-US" altLang="en-US" sz="1300"/>
          </a:p>
        </p:txBody>
      </p:sp>
      <p:sp>
        <p:nvSpPr>
          <p:cNvPr id="323587" name="Rectangle 2">
            <a:extLst>
              <a:ext uri="{FF2B5EF4-FFF2-40B4-BE49-F238E27FC236}">
                <a16:creationId xmlns:a16="http://schemas.microsoft.com/office/drawing/2014/main" id="{A0E6B74C-084C-471C-8685-D78C10730D96}"/>
              </a:ext>
            </a:extLst>
          </p:cNvPr>
          <p:cNvSpPr>
            <a:spLocks noGrp="1" noRot="1" noChangeAspect="1" noChangeArrowheads="1" noTextEdit="1"/>
          </p:cNvSpPr>
          <p:nvPr>
            <p:ph type="sldImg"/>
          </p:nvPr>
        </p:nvSpPr>
        <p:spPr>
          <a:ln/>
        </p:spPr>
      </p:sp>
      <p:sp>
        <p:nvSpPr>
          <p:cNvPr id="323588" name="Rectangle 3">
            <a:extLst>
              <a:ext uri="{FF2B5EF4-FFF2-40B4-BE49-F238E27FC236}">
                <a16:creationId xmlns:a16="http://schemas.microsoft.com/office/drawing/2014/main" id="{872C8739-8C33-47CA-A219-CB640DA799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Closet: phòng nhỏ, buồng nhỏ</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a:extLst>
              <a:ext uri="{FF2B5EF4-FFF2-40B4-BE49-F238E27FC236}">
                <a16:creationId xmlns:a16="http://schemas.microsoft.com/office/drawing/2014/main" id="{A3BCB6D8-5EEC-4592-B093-BFDD7BD13A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F9E7C45-6EE4-448B-839C-88A2A48BA88B}" type="slidenum">
              <a:rPr lang="en-US" altLang="en-US" sz="1300" smtClean="0"/>
              <a:pPr/>
              <a:t>42</a:t>
            </a:fld>
            <a:endParaRPr lang="en-US" altLang="en-US" sz="1300"/>
          </a:p>
        </p:txBody>
      </p:sp>
      <p:sp>
        <p:nvSpPr>
          <p:cNvPr id="326659" name="Rectangle 2">
            <a:extLst>
              <a:ext uri="{FF2B5EF4-FFF2-40B4-BE49-F238E27FC236}">
                <a16:creationId xmlns:a16="http://schemas.microsoft.com/office/drawing/2014/main" id="{FC71EDC1-8527-49D3-BB81-4B79BFFA2E53}"/>
              </a:ext>
            </a:extLst>
          </p:cNvPr>
          <p:cNvSpPr>
            <a:spLocks noGrp="1" noRot="1" noChangeAspect="1" noChangeArrowheads="1" noTextEdit="1"/>
          </p:cNvSpPr>
          <p:nvPr>
            <p:ph type="sldImg"/>
          </p:nvPr>
        </p:nvSpPr>
        <p:spPr>
          <a:ln/>
        </p:spPr>
      </p:sp>
      <p:sp>
        <p:nvSpPr>
          <p:cNvPr id="326660" name="Rectangle 3">
            <a:extLst>
              <a:ext uri="{FF2B5EF4-FFF2-40B4-BE49-F238E27FC236}">
                <a16:creationId xmlns:a16="http://schemas.microsoft.com/office/drawing/2014/main" id="{9EF765A0-949E-4BE7-96DA-F9F708E593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Maximum Nodes on a cable segment:</a:t>
            </a:r>
            <a:r>
              <a:rPr lang="en-US" altLang="en-US"/>
              <a:t> On any 1 cable segment, the maximum allowed number of nodes is 30. </a:t>
            </a:r>
          </a:p>
          <a:p>
            <a:r>
              <a:rPr lang="en-US" altLang="en-US"/>
              <a:t>Số nodes tối đa trên một đoạn mạng là 30</a:t>
            </a:r>
          </a:p>
          <a:p>
            <a:r>
              <a:rPr lang="en-US" altLang="en-US" b="1"/>
              <a:t>Minimum Distance between Nodes</a:t>
            </a:r>
            <a:r>
              <a:rPr lang="en-US" altLang="en-US"/>
              <a:t> :Minimum distance between nodes is 0.6 m or 2 feet.</a:t>
            </a:r>
          </a:p>
          <a:p>
            <a:r>
              <a:rPr lang="en-US" altLang="en-US"/>
              <a:t>Khoảng cách tối thiểu giữa 2 nodes là 0.6m</a:t>
            </a:r>
          </a:p>
          <a:p>
            <a:r>
              <a:rPr lang="en-US" altLang="en-US" b="1"/>
              <a:t>Maximum coaxial cable segment length 185 m.</a:t>
            </a:r>
            <a:r>
              <a:rPr lang="en-US" altLang="en-US"/>
              <a:t> </a:t>
            </a:r>
          </a:p>
          <a:p>
            <a:r>
              <a:rPr lang="en-US" altLang="en-US"/>
              <a:t>Độ dài tối đa của một đoạn mạng là 185m</a:t>
            </a:r>
          </a:p>
          <a:p>
            <a:endParaRPr lang="en-US" altLang="en-US"/>
          </a:p>
          <a:p>
            <a:r>
              <a:rPr lang="en-US" altLang="en-US" b="1"/>
              <a:t>In 10 Base5: (Chuẩn 10 Base5</a:t>
            </a:r>
            <a:r>
              <a:rPr lang="en-US" altLang="en-US" b="1">
                <a:sym typeface="Wingdings" panose="05000000000000000000" pitchFamily="2" charset="2"/>
              </a:rPr>
              <a:t>)</a:t>
            </a:r>
            <a:endParaRPr lang="en-US" altLang="en-US" b="1"/>
          </a:p>
          <a:p>
            <a:r>
              <a:rPr lang="en-US" altLang="en-US" b="1"/>
              <a:t>Maximum Nodes on a cable segment</a:t>
            </a:r>
            <a:r>
              <a:rPr lang="en-US" altLang="en-US"/>
              <a:t> </a:t>
            </a:r>
          </a:p>
          <a:p>
            <a:r>
              <a:rPr lang="en-US" altLang="en-US"/>
              <a:t>On any 1 cable segment, the maximum allowed number of nodes or MAUs is 100.</a:t>
            </a:r>
          </a:p>
          <a:p>
            <a:r>
              <a:rPr lang="en-US" altLang="en-US"/>
              <a:t>Số nodes tối đa trên một đoạn mạng la 100 </a:t>
            </a:r>
            <a:endParaRPr lang="en-US" altLang="en-US" b="1"/>
          </a:p>
          <a:p>
            <a:r>
              <a:rPr lang="en-US" altLang="en-US" b="1"/>
              <a:t>Minimum Distance between nodes: </a:t>
            </a:r>
            <a:r>
              <a:rPr lang="en-US" altLang="en-US"/>
              <a:t>Minimum distance between nodes or MAUs is 2.5 m or 8 feet.</a:t>
            </a:r>
          </a:p>
          <a:p>
            <a:r>
              <a:rPr lang="en-US" altLang="en-US"/>
              <a:t>Khoảng cách tối thiểu giữa 2 nodes là 2.5m.</a:t>
            </a:r>
          </a:p>
          <a:p>
            <a:r>
              <a:rPr lang="en-US" altLang="en-US" b="1"/>
              <a:t>Maximum coaxial cable segment length 500 m</a:t>
            </a:r>
          </a:p>
          <a:p>
            <a:r>
              <a:rPr lang="en-US" altLang="en-US" b="1"/>
              <a:t>Độ dài tối đa của một đoạn mạng là 500m</a:t>
            </a:r>
            <a:r>
              <a:rPr lang="en-US" altLang="en-US"/>
              <a:t>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
            </a:r>
            <a:r>
              <a:rPr lang="vi-VN"/>
              <a:t>ư</a:t>
            </a:r>
            <a:r>
              <a:rPr lang="en-US"/>
              <a:t>ới đây </a:t>
            </a:r>
            <a:r>
              <a:rPr lang="vi-VN"/>
              <a:t>là một số thông tin cơ bản về cách kết nối và sử dụng Repeater trong mạng Ethernet:</a:t>
            </a:r>
          </a:p>
          <a:p>
            <a:endParaRPr lang="vi-VN"/>
          </a:p>
          <a:p>
            <a:r>
              <a:rPr lang="vi-VN"/>
              <a:t>- Repeater được đặt giữa các đoạn mạng Ethernet cần kết nối với nhau. </a:t>
            </a:r>
          </a:p>
          <a:p>
            <a:endParaRPr lang="vi-VN"/>
          </a:p>
          <a:p>
            <a:r>
              <a:rPr lang="vi-VN"/>
              <a:t>- Thông thường nối tiếp nhau tối đa 5 Repeater (4 segment) để tránh trễ truyền.</a:t>
            </a:r>
          </a:p>
          <a:p>
            <a:endParaRPr lang="vi-VN"/>
          </a:p>
          <a:p>
            <a:r>
              <a:rPr lang="vi-VN"/>
              <a:t>- Các cổng (port) của Repeater được kết nối tới các phân đoạn mạng bằng cáp UTP hoặc cáp đồng trục.</a:t>
            </a:r>
          </a:p>
          <a:p>
            <a:endParaRPr lang="vi-VN"/>
          </a:p>
          <a:p>
            <a:r>
              <a:rPr lang="vi-VN"/>
              <a:t>- Repeater hỗ trợ kết nối nhiều loại cáp khác nhau (cáp xoắn đôi, cáp đồng trục) với nhau.</a:t>
            </a:r>
          </a:p>
          <a:p>
            <a:endParaRPr lang="vi-VN"/>
          </a:p>
          <a:p>
            <a:r>
              <a:rPr lang="vi-VN"/>
              <a:t>- Cần đảm bảo tín hiệu đầu vào mạnh đủ mức ngưỡng tối thiểu để Repeater có thể phát hiện và khuếch đại.</a:t>
            </a:r>
          </a:p>
          <a:p>
            <a:endParaRPr lang="vi-VN"/>
          </a:p>
          <a:p>
            <a:r>
              <a:rPr lang="vi-VN"/>
              <a:t>- Chỉ kết nối các mạng Ethernet có cùng tốc độ truyền dữ liệu (10Mbps, 100Mbps...).</a:t>
            </a:r>
          </a:p>
          <a:p>
            <a:endParaRPr lang="vi-VN"/>
          </a:p>
          <a:p>
            <a:r>
              <a:rPr lang="vi-VN"/>
              <a:t>- Mỗi port trên Repeater chỉ nên kết nối tối đa 1024 node. </a:t>
            </a:r>
          </a:p>
          <a:p>
            <a:endParaRPr lang="vi-VN"/>
          </a:p>
          <a:p>
            <a:r>
              <a:rPr lang="vi-VN"/>
              <a:t>- Hạn chế số lượng Repeater để giảm thiểu độ trễ truyền.</a:t>
            </a:r>
          </a:p>
          <a:p>
            <a:endParaRPr lang="vi-VN"/>
          </a:p>
          <a:p>
            <a:r>
              <a:rPr lang="vi-VN"/>
              <a:t>Như vậy, việc lựa chọn vị trí và kết nối Repeater cần hợp lý để đảm bảo hiệu quả mở rộng cho mạng Ethernet.</a:t>
            </a:r>
            <a:endParaRPr lang="en-US"/>
          </a:p>
        </p:txBody>
      </p:sp>
      <p:sp>
        <p:nvSpPr>
          <p:cNvPr id="4" name="Slide Number Placeholder 3"/>
          <p:cNvSpPr>
            <a:spLocks noGrp="1"/>
          </p:cNvSpPr>
          <p:nvPr>
            <p:ph type="sldNum" sz="quarter" idx="5"/>
          </p:nvPr>
        </p:nvSpPr>
        <p:spPr/>
        <p:txBody>
          <a:bodyPr/>
          <a:lstStyle/>
          <a:p>
            <a:pPr>
              <a:defRPr/>
            </a:pPr>
            <a:fld id="{CCF10835-FE36-4A5B-93E1-4EFF5306816D}" type="slidenum">
              <a:rPr lang="en-US" altLang="en-US" smtClean="0"/>
              <a:pPr>
                <a:defRPr/>
              </a:pPr>
              <a:t>44</a:t>
            </a:fld>
            <a:endParaRPr lang="en-US" altLang="en-US"/>
          </a:p>
        </p:txBody>
      </p:sp>
    </p:spTree>
    <p:extLst>
      <p:ext uri="{BB962C8B-B14F-4D97-AF65-F5344CB8AC3E}">
        <p14:creationId xmlns:p14="http://schemas.microsoft.com/office/powerpoint/2010/main" val="31630736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a:extLst>
              <a:ext uri="{FF2B5EF4-FFF2-40B4-BE49-F238E27FC236}">
                <a16:creationId xmlns:a16="http://schemas.microsoft.com/office/drawing/2014/main" id="{72DBC760-94DD-41C9-9901-FAA613C311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336A650-8A1C-4802-BB8B-757939A1DFBE}" type="slidenum">
              <a:rPr lang="en-US" altLang="en-US" sz="1300" smtClean="0"/>
              <a:pPr/>
              <a:t>46</a:t>
            </a:fld>
            <a:endParaRPr lang="en-US" altLang="en-US" sz="1300"/>
          </a:p>
        </p:txBody>
      </p:sp>
      <p:sp>
        <p:nvSpPr>
          <p:cNvPr id="331779" name="Rectangle 2">
            <a:extLst>
              <a:ext uri="{FF2B5EF4-FFF2-40B4-BE49-F238E27FC236}">
                <a16:creationId xmlns:a16="http://schemas.microsoft.com/office/drawing/2014/main" id="{A69FF3FA-9152-40D5-89F3-8CC8C5690BEF}"/>
              </a:ext>
            </a:extLst>
          </p:cNvPr>
          <p:cNvSpPr>
            <a:spLocks noGrp="1" noRot="1" noChangeAspect="1" noChangeArrowheads="1" noTextEdit="1"/>
          </p:cNvSpPr>
          <p:nvPr>
            <p:ph type="sldImg"/>
          </p:nvPr>
        </p:nvSpPr>
        <p:spPr>
          <a:ln/>
        </p:spPr>
      </p:sp>
      <p:sp>
        <p:nvSpPr>
          <p:cNvPr id="331780" name="Rectangle 3">
            <a:extLst>
              <a:ext uri="{FF2B5EF4-FFF2-40B4-BE49-F238E27FC236}">
                <a16:creationId xmlns:a16="http://schemas.microsoft.com/office/drawing/2014/main" id="{FEDE0A90-41F2-44A3-A34E-20FD9D5004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attach: gắn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a:extLst>
              <a:ext uri="{FF2B5EF4-FFF2-40B4-BE49-F238E27FC236}">
                <a16:creationId xmlns:a16="http://schemas.microsoft.com/office/drawing/2014/main" id="{F86234EA-5FA9-4B47-8A8B-E626ECCE14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ADE1067E-5E3F-4E39-B52E-F30D42A90F2A}" type="slidenum">
              <a:rPr lang="en-US" altLang="en-US" sz="1300" smtClean="0"/>
              <a:pPr/>
              <a:t>47</a:t>
            </a:fld>
            <a:endParaRPr lang="en-US" altLang="en-US" sz="1300"/>
          </a:p>
        </p:txBody>
      </p:sp>
      <p:sp>
        <p:nvSpPr>
          <p:cNvPr id="333827" name="Rectangle 2">
            <a:extLst>
              <a:ext uri="{FF2B5EF4-FFF2-40B4-BE49-F238E27FC236}">
                <a16:creationId xmlns:a16="http://schemas.microsoft.com/office/drawing/2014/main" id="{C5ADE2D6-F0F7-4C6B-9956-1B70EC1186B9}"/>
              </a:ext>
            </a:extLst>
          </p:cNvPr>
          <p:cNvSpPr>
            <a:spLocks noGrp="1" noRot="1" noChangeAspect="1" noChangeArrowheads="1" noTextEdit="1"/>
          </p:cNvSpPr>
          <p:nvPr>
            <p:ph type="sldImg"/>
          </p:nvPr>
        </p:nvSpPr>
        <p:spPr>
          <a:ln/>
        </p:spPr>
      </p:sp>
      <p:sp>
        <p:nvSpPr>
          <p:cNvPr id="333828" name="Rectangle 3">
            <a:extLst>
              <a:ext uri="{FF2B5EF4-FFF2-40B4-BE49-F238E27FC236}">
                <a16:creationId xmlns:a16="http://schemas.microsoft.com/office/drawing/2014/main" id="{39BEA6D1-A182-4C5B-97E0-42AFD22551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Sự thi hành cáp UTP: EIA/TIA định rõ đầu nối RJ-45 cho cáp UTP như hình vẽ trên. SV chú ý cách bấm các loại cáp thẳng, chéo…cũng như trường hợp nào thì sử dụng chúng.</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a:extLst>
              <a:ext uri="{FF2B5EF4-FFF2-40B4-BE49-F238E27FC236}">
                <a16:creationId xmlns:a16="http://schemas.microsoft.com/office/drawing/2014/main" id="{DA9989AC-A7B4-416C-8E1D-D6E33BE439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E56C588-8D38-4A54-92DD-328F3B198E31}" type="slidenum">
              <a:rPr lang="en-US" altLang="en-US" sz="1300" smtClean="0"/>
              <a:pPr/>
              <a:t>48</a:t>
            </a:fld>
            <a:endParaRPr lang="en-US" altLang="en-US" sz="1300"/>
          </a:p>
        </p:txBody>
      </p:sp>
      <p:sp>
        <p:nvSpPr>
          <p:cNvPr id="335875" name="Rectangle 2">
            <a:extLst>
              <a:ext uri="{FF2B5EF4-FFF2-40B4-BE49-F238E27FC236}">
                <a16:creationId xmlns:a16="http://schemas.microsoft.com/office/drawing/2014/main" id="{7235FED7-0090-4087-A6D3-5F359D558330}"/>
              </a:ext>
            </a:extLst>
          </p:cNvPr>
          <p:cNvSpPr>
            <a:spLocks noGrp="1" noRot="1" noChangeAspect="1" noChangeArrowheads="1" noTextEdit="1"/>
          </p:cNvSpPr>
          <p:nvPr>
            <p:ph type="sldImg"/>
          </p:nvPr>
        </p:nvSpPr>
        <p:spPr>
          <a:ln/>
        </p:spPr>
      </p:sp>
      <p:sp>
        <p:nvSpPr>
          <p:cNvPr id="335876" name="Rectangle 3">
            <a:extLst>
              <a:ext uri="{FF2B5EF4-FFF2-40B4-BE49-F238E27FC236}">
                <a16:creationId xmlns:a16="http://schemas.microsoft.com/office/drawing/2014/main" id="{9C80E587-400F-4F6E-A3D1-79832C7B4D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Chân 1, 2 truyền; chân 3, 6 nhận.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7">
            <a:extLst>
              <a:ext uri="{FF2B5EF4-FFF2-40B4-BE49-F238E27FC236}">
                <a16:creationId xmlns:a16="http://schemas.microsoft.com/office/drawing/2014/main" id="{C9DD047E-A477-402F-8DF7-97668D9208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9085CF8-0B32-4A04-88F0-516069BBF3EE}" type="slidenum">
              <a:rPr lang="en-US" altLang="en-US" sz="1300" smtClean="0"/>
              <a:pPr/>
              <a:t>50</a:t>
            </a:fld>
            <a:endParaRPr lang="en-US" altLang="en-US" sz="1300"/>
          </a:p>
        </p:txBody>
      </p:sp>
      <p:sp>
        <p:nvSpPr>
          <p:cNvPr id="338947" name="Rectangle 2">
            <a:extLst>
              <a:ext uri="{FF2B5EF4-FFF2-40B4-BE49-F238E27FC236}">
                <a16:creationId xmlns:a16="http://schemas.microsoft.com/office/drawing/2014/main" id="{DEFECBD3-6DB2-4A37-92DB-2C6221758A0C}"/>
              </a:ext>
            </a:extLst>
          </p:cNvPr>
          <p:cNvSpPr>
            <a:spLocks noGrp="1" noRot="1" noChangeAspect="1" noChangeArrowheads="1" noTextEdit="1"/>
          </p:cNvSpPr>
          <p:nvPr>
            <p:ph type="sldImg"/>
          </p:nvPr>
        </p:nvSpPr>
        <p:spPr>
          <a:ln/>
        </p:spPr>
      </p:sp>
      <p:sp>
        <p:nvSpPr>
          <p:cNvPr id="338948" name="Rectangle 3">
            <a:extLst>
              <a:ext uri="{FF2B5EF4-FFF2-40B4-BE49-F238E27FC236}">
                <a16:creationId xmlns:a16="http://schemas.microsoft.com/office/drawing/2014/main" id="{8C413BB1-0D2F-4D6E-ACA1-A13BACDAE2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Để kết nối một cổng từ Hub hoặc Switch đến cổng của card mạng trên máy tính ta dùng cáp thẳng (straight-through cable)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7">
            <a:extLst>
              <a:ext uri="{FF2B5EF4-FFF2-40B4-BE49-F238E27FC236}">
                <a16:creationId xmlns:a16="http://schemas.microsoft.com/office/drawing/2014/main" id="{DBBA8837-EC84-4375-A6BB-A7BDED5ABF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E7E7AF7-D0A1-4138-8F64-E3AF9B185CD6}" type="slidenum">
              <a:rPr lang="en-US" altLang="en-US" sz="1300" smtClean="0"/>
              <a:pPr/>
              <a:t>51</a:t>
            </a:fld>
            <a:endParaRPr lang="en-US" altLang="en-US" sz="1300"/>
          </a:p>
        </p:txBody>
      </p:sp>
      <p:sp>
        <p:nvSpPr>
          <p:cNvPr id="340995" name="Rectangle 2">
            <a:extLst>
              <a:ext uri="{FF2B5EF4-FFF2-40B4-BE49-F238E27FC236}">
                <a16:creationId xmlns:a16="http://schemas.microsoft.com/office/drawing/2014/main" id="{D697DB79-DC14-4960-9141-7DDE61B6BF3F}"/>
              </a:ext>
            </a:extLst>
          </p:cNvPr>
          <p:cNvSpPr>
            <a:spLocks noGrp="1" noRot="1" noChangeAspect="1" noChangeArrowheads="1" noTextEdit="1"/>
          </p:cNvSpPr>
          <p:nvPr>
            <p:ph type="sldImg"/>
          </p:nvPr>
        </p:nvSpPr>
        <p:spPr>
          <a:ln/>
        </p:spPr>
      </p:sp>
      <p:sp>
        <p:nvSpPr>
          <p:cNvPr id="340996" name="Rectangle 3">
            <a:extLst>
              <a:ext uri="{FF2B5EF4-FFF2-40B4-BE49-F238E27FC236}">
                <a16:creationId xmlns:a16="http://schemas.microsoft.com/office/drawing/2014/main" id="{2C94A5C7-4B48-4A58-B6A9-A0832E19DE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Để bấm cáp thẳng ta đấu chân 1 của đầu này với chân 1 đầu kia, 2-2 , 3-3, 4-4, 5-5, 6-6, 7-7, 8-8;</a:t>
            </a:r>
          </a:p>
          <a:p>
            <a:r>
              <a:rPr lang="en-US" altLang="en-US"/>
              <a:t>Xem lại thứ tự các chân theo chuẩn T568A hoặc T568B ở các slide trước</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a:extLst>
              <a:ext uri="{FF2B5EF4-FFF2-40B4-BE49-F238E27FC236}">
                <a16:creationId xmlns:a16="http://schemas.microsoft.com/office/drawing/2014/main" id="{A38E102C-748D-4826-BF66-1E1B8AF2E8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7269361-5699-4FB2-8179-0C179C0BAA1F}" type="slidenum">
              <a:rPr lang="en-US" altLang="en-US" sz="1300" smtClean="0"/>
              <a:pPr/>
              <a:t>52</a:t>
            </a:fld>
            <a:endParaRPr lang="en-US" altLang="en-US" sz="1300"/>
          </a:p>
        </p:txBody>
      </p:sp>
      <p:sp>
        <p:nvSpPr>
          <p:cNvPr id="343043" name="Rectangle 2">
            <a:extLst>
              <a:ext uri="{FF2B5EF4-FFF2-40B4-BE49-F238E27FC236}">
                <a16:creationId xmlns:a16="http://schemas.microsoft.com/office/drawing/2014/main" id="{DF5F64A4-930D-49C2-B89A-59B8BFD1AF70}"/>
              </a:ext>
            </a:extLst>
          </p:cNvPr>
          <p:cNvSpPr>
            <a:spLocks noGrp="1" noRot="1" noChangeAspect="1" noChangeArrowheads="1" noTextEdit="1"/>
          </p:cNvSpPr>
          <p:nvPr>
            <p:ph type="sldImg"/>
          </p:nvPr>
        </p:nvSpPr>
        <p:spPr>
          <a:ln/>
        </p:spPr>
      </p:sp>
      <p:sp>
        <p:nvSpPr>
          <p:cNvPr id="343044" name="Rectangle 3">
            <a:extLst>
              <a:ext uri="{FF2B5EF4-FFF2-40B4-BE49-F238E27FC236}">
                <a16:creationId xmlns:a16="http://schemas.microsoft.com/office/drawing/2014/main" id="{EC20DF59-B1BE-48A5-A9AC-577A47ABDA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Để kết nối từ một cổng của Switch này đến một cổng của Switch khác ta dùng cáp chéo (crossover cable)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7">
            <a:extLst>
              <a:ext uri="{FF2B5EF4-FFF2-40B4-BE49-F238E27FC236}">
                <a16:creationId xmlns:a16="http://schemas.microsoft.com/office/drawing/2014/main" id="{7EF8964B-1A68-4D2F-B9BD-D68C39A57A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A7C43C00-63A0-4BE8-8F58-033F05419E89}" type="slidenum">
              <a:rPr lang="en-US" altLang="en-US" sz="1300" smtClean="0"/>
              <a:pPr/>
              <a:t>53</a:t>
            </a:fld>
            <a:endParaRPr lang="en-US" altLang="en-US" sz="1300"/>
          </a:p>
        </p:txBody>
      </p:sp>
      <p:sp>
        <p:nvSpPr>
          <p:cNvPr id="345091" name="Rectangle 2">
            <a:extLst>
              <a:ext uri="{FF2B5EF4-FFF2-40B4-BE49-F238E27FC236}">
                <a16:creationId xmlns:a16="http://schemas.microsoft.com/office/drawing/2014/main" id="{1D7E2F47-D976-46FA-82B3-CE8C9B0CBBAE}"/>
              </a:ext>
            </a:extLst>
          </p:cNvPr>
          <p:cNvSpPr>
            <a:spLocks noGrp="1" noRot="1" noChangeAspect="1" noChangeArrowheads="1" noTextEdit="1"/>
          </p:cNvSpPr>
          <p:nvPr>
            <p:ph type="sldImg"/>
          </p:nvPr>
        </p:nvSpPr>
        <p:spPr>
          <a:ln/>
        </p:spPr>
      </p:sp>
      <p:sp>
        <p:nvSpPr>
          <p:cNvPr id="345092" name="Rectangle 3">
            <a:extLst>
              <a:ext uri="{FF2B5EF4-FFF2-40B4-BE49-F238E27FC236}">
                <a16:creationId xmlns:a16="http://schemas.microsoft.com/office/drawing/2014/main" id="{2F01E8D2-2D91-4430-B8DE-BA8DCC31D7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Để bấm cáp chéo ta đấu chân 1 (đầu này) với chân 3 (đầu kia); chân 2 với chân 6;</a:t>
            </a:r>
          </a:p>
          <a:p>
            <a:r>
              <a:rPr lang="en-US" altLang="en-US"/>
              <a:t>Nếu dùng cho các tốc độ 10/100Mbps thì chân 4, 5, 7, 8 không dùng.</a:t>
            </a:r>
          </a:p>
          <a:p>
            <a:r>
              <a:rPr lang="en-US" altLang="en-US"/>
              <a:t>Nếu muốn bấm cáp chéo cho tôc độ Gbps thì chân 4 đấu với chân 7; chân 5 đấu với chân 8.</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7">
            <a:extLst>
              <a:ext uri="{FF2B5EF4-FFF2-40B4-BE49-F238E27FC236}">
                <a16:creationId xmlns:a16="http://schemas.microsoft.com/office/drawing/2014/main" id="{C1E388D4-8354-412D-AD62-F8C6852509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DB2297A1-9979-437C-B264-BDEA3FD7C197}" type="slidenum">
              <a:rPr lang="en-US" altLang="en-US" sz="1300" smtClean="0"/>
              <a:pPr/>
              <a:t>55</a:t>
            </a:fld>
            <a:endParaRPr lang="en-US" altLang="en-US" sz="1300"/>
          </a:p>
        </p:txBody>
      </p:sp>
      <p:sp>
        <p:nvSpPr>
          <p:cNvPr id="348163" name="Rectangle 2">
            <a:extLst>
              <a:ext uri="{FF2B5EF4-FFF2-40B4-BE49-F238E27FC236}">
                <a16:creationId xmlns:a16="http://schemas.microsoft.com/office/drawing/2014/main" id="{EE96406D-B8D3-48A5-B887-E836790E53ED}"/>
              </a:ext>
            </a:extLst>
          </p:cNvPr>
          <p:cNvSpPr>
            <a:spLocks noGrp="1" noRot="1" noChangeAspect="1" noChangeArrowheads="1" noTextEdit="1"/>
          </p:cNvSpPr>
          <p:nvPr>
            <p:ph type="sldImg"/>
          </p:nvPr>
        </p:nvSpPr>
        <p:spPr>
          <a:ln/>
        </p:spPr>
      </p:sp>
      <p:sp>
        <p:nvSpPr>
          <p:cNvPr id="348164" name="Rectangle 3">
            <a:extLst>
              <a:ext uri="{FF2B5EF4-FFF2-40B4-BE49-F238E27FC236}">
                <a16:creationId xmlns:a16="http://schemas.microsoft.com/office/drawing/2014/main" id="{57DEA7B7-FCD4-4733-873F-B7EF9920A4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By including a transition in the middle of each bit, the receiving host can synchronize its clock to that of the sending host.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7">
            <a:extLst>
              <a:ext uri="{FF2B5EF4-FFF2-40B4-BE49-F238E27FC236}">
                <a16:creationId xmlns:a16="http://schemas.microsoft.com/office/drawing/2014/main" id="{E43E4D85-5630-4593-AD8A-BB767CA733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D0CA333C-7190-4ECD-A608-1937EC819B1F}" type="slidenum">
              <a:rPr lang="en-US" altLang="en-US" sz="1300" smtClean="0"/>
              <a:pPr/>
              <a:t>58</a:t>
            </a:fld>
            <a:endParaRPr lang="en-US" altLang="en-US" sz="1300"/>
          </a:p>
        </p:txBody>
      </p:sp>
      <p:sp>
        <p:nvSpPr>
          <p:cNvPr id="352259" name="Rectangle 2">
            <a:extLst>
              <a:ext uri="{FF2B5EF4-FFF2-40B4-BE49-F238E27FC236}">
                <a16:creationId xmlns:a16="http://schemas.microsoft.com/office/drawing/2014/main" id="{1B687C93-80F9-4F5C-B601-7F8480BDCCDD}"/>
              </a:ext>
            </a:extLst>
          </p:cNvPr>
          <p:cNvSpPr>
            <a:spLocks noGrp="1" noRot="1" noChangeAspect="1" noChangeArrowheads="1" noTextEdit="1"/>
          </p:cNvSpPr>
          <p:nvPr>
            <p:ph type="sldImg"/>
          </p:nvPr>
        </p:nvSpPr>
        <p:spPr>
          <a:ln/>
        </p:spPr>
      </p:sp>
      <p:sp>
        <p:nvSpPr>
          <p:cNvPr id="352260" name="Rectangle 3">
            <a:extLst>
              <a:ext uri="{FF2B5EF4-FFF2-40B4-BE49-F238E27FC236}">
                <a16:creationId xmlns:a16="http://schemas.microsoft.com/office/drawing/2014/main" id="{C3E32472-374F-410C-8004-03BE804A77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Repeater và Hub là  thiết bị tầng 1; Bridge và Switch là thiết bị tầng 2.</a:t>
            </a:r>
          </a:p>
          <a:p>
            <a:r>
              <a:rPr lang="en-US" altLang="en-US"/>
              <a:t>Switches and bridges are logically equivalent. The main</a:t>
            </a:r>
          </a:p>
          <a:p>
            <a:r>
              <a:rPr lang="en-US" altLang="en-US"/>
              <a:t>differences are as follows:</a:t>
            </a:r>
          </a:p>
          <a:p>
            <a:r>
              <a:rPr lang="en-US" altLang="en-US"/>
              <a:t>■ Switches are significantly faster because they switch in hardware, whereas bridges switch in</a:t>
            </a:r>
          </a:p>
          <a:p>
            <a:r>
              <a:rPr lang="en-US" altLang="en-US"/>
              <a:t>software.</a:t>
            </a:r>
          </a:p>
          <a:p>
            <a:r>
              <a:rPr lang="en-US" altLang="en-US"/>
              <a:t>■ Switches can interconnect LANs of unlike bandwidth. A 10-Mbps Ethernet LAN and a 100-</a:t>
            </a:r>
          </a:p>
          <a:p>
            <a:r>
              <a:rPr lang="en-US" altLang="en-US"/>
              <a:t>Mbps Ethernet LAN, for example, can be connected using a switch. In contrast, all the ports</a:t>
            </a:r>
          </a:p>
          <a:p>
            <a:r>
              <a:rPr lang="en-US" altLang="en-US"/>
              <a:t>on a bridge support one type of media.</a:t>
            </a:r>
          </a:p>
          <a:p>
            <a:r>
              <a:rPr lang="en-US" altLang="en-US"/>
              <a:t>■ Switches typically have more ports than bridges.</a:t>
            </a:r>
          </a:p>
          <a:p>
            <a:r>
              <a:rPr lang="en-US" altLang="en-US"/>
              <a:t>■ Modern switches have additional features not found on bridges;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a:extLst>
              <a:ext uri="{FF2B5EF4-FFF2-40B4-BE49-F238E27FC236}">
                <a16:creationId xmlns:a16="http://schemas.microsoft.com/office/drawing/2014/main" id="{352F36A6-9C99-42C4-9E22-D2D1428B1E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AD105E3-7D93-463A-AAAB-B375BD7E9DAA}" type="slidenum">
              <a:rPr lang="en-US" altLang="en-US" sz="1300" smtClean="0"/>
              <a:pPr/>
              <a:t>59</a:t>
            </a:fld>
            <a:endParaRPr lang="en-US" altLang="en-US" sz="1300"/>
          </a:p>
        </p:txBody>
      </p:sp>
      <p:sp>
        <p:nvSpPr>
          <p:cNvPr id="354307" name="Rectangle 2">
            <a:extLst>
              <a:ext uri="{FF2B5EF4-FFF2-40B4-BE49-F238E27FC236}">
                <a16:creationId xmlns:a16="http://schemas.microsoft.com/office/drawing/2014/main" id="{923DBEFB-C982-4D8B-82E4-4A3B62404BE9}"/>
              </a:ext>
            </a:extLst>
          </p:cNvPr>
          <p:cNvSpPr>
            <a:spLocks noGrp="1" noRot="1" noChangeAspect="1" noChangeArrowheads="1" noTextEdit="1"/>
          </p:cNvSpPr>
          <p:nvPr>
            <p:ph type="sldImg"/>
          </p:nvPr>
        </p:nvSpPr>
        <p:spPr>
          <a:xfrm>
            <a:off x="2974975" y="549275"/>
            <a:ext cx="3654425" cy="2741613"/>
          </a:xfrm>
          <a:ln/>
        </p:spPr>
      </p:sp>
      <p:sp>
        <p:nvSpPr>
          <p:cNvPr id="354308" name="Rectangle 3">
            <a:extLst>
              <a:ext uri="{FF2B5EF4-FFF2-40B4-BE49-F238E27FC236}">
                <a16:creationId xmlns:a16="http://schemas.microsoft.com/office/drawing/2014/main" id="{1294878C-BE69-4CB9-B6D7-8DEB4AF47D2E}"/>
              </a:ext>
            </a:extLst>
          </p:cNvPr>
          <p:cNvSpPr>
            <a:spLocks noGrp="1" noChangeArrowheads="1"/>
          </p:cNvSpPr>
          <p:nvPr>
            <p:ph type="body" idx="1"/>
          </p:nvPr>
        </p:nvSpPr>
        <p:spPr>
          <a:xfrm>
            <a:off x="1277938" y="3473450"/>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Suppose two Ethernet segments, each with bandwidth of 10Mbps are connected thru a repeater, the combined bandwidth would still be 10Mbps. This is because any transmission in a segment collides with any simultaneous transmission in the other segment also.</a:t>
            </a:r>
          </a:p>
          <a:p>
            <a:r>
              <a:rPr lang="en-US" altLang="en-US"/>
              <a:t>Giới thiệu qui tắc 5-4-3 ở đây!!!</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Slide Image Placeholder 1">
            <a:extLst>
              <a:ext uri="{FF2B5EF4-FFF2-40B4-BE49-F238E27FC236}">
                <a16:creationId xmlns:a16="http://schemas.microsoft.com/office/drawing/2014/main" id="{A7EED8BA-A590-4AC8-8F0C-80BC9F56480A}"/>
              </a:ext>
            </a:extLst>
          </p:cNvPr>
          <p:cNvSpPr>
            <a:spLocks noGrp="1" noRot="1" noChangeAspect="1" noChangeArrowheads="1" noTextEdit="1"/>
          </p:cNvSpPr>
          <p:nvPr>
            <p:ph type="sldImg"/>
          </p:nvPr>
        </p:nvSpPr>
        <p:spPr>
          <a:ln/>
        </p:spPr>
      </p:sp>
      <p:sp>
        <p:nvSpPr>
          <p:cNvPr id="357379" name="Notes Placeholder 2">
            <a:extLst>
              <a:ext uri="{FF2B5EF4-FFF2-40B4-BE49-F238E27FC236}">
                <a16:creationId xmlns:a16="http://schemas.microsoft.com/office/drawing/2014/main" id="{05A0DF72-D883-43E8-B076-DABD9335A3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57380" name="Slide Number Placeholder 3">
            <a:extLst>
              <a:ext uri="{FF2B5EF4-FFF2-40B4-BE49-F238E27FC236}">
                <a16:creationId xmlns:a16="http://schemas.microsoft.com/office/drawing/2014/main" id="{6CCD495D-D31F-42F5-9195-4F538CDB639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6A890AF-BD76-4754-8954-866968A30A85}" type="slidenum">
              <a:rPr lang="en-US" altLang="en-US" sz="1300" smtClean="0"/>
              <a:pPr/>
              <a:t>61</a:t>
            </a:fld>
            <a:endParaRPr lang="en-US" altLang="en-US" sz="13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7">
            <a:extLst>
              <a:ext uri="{FF2B5EF4-FFF2-40B4-BE49-F238E27FC236}">
                <a16:creationId xmlns:a16="http://schemas.microsoft.com/office/drawing/2014/main" id="{8E59B603-1B16-48FA-872C-99FEAA0454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679AA71-6CAE-4231-8BE9-01505502746A}" type="slidenum">
              <a:rPr lang="en-US" altLang="en-US" sz="1300" smtClean="0"/>
              <a:pPr/>
              <a:t>68</a:t>
            </a:fld>
            <a:endParaRPr lang="en-US" altLang="en-US" sz="1300"/>
          </a:p>
        </p:txBody>
      </p:sp>
      <p:sp>
        <p:nvSpPr>
          <p:cNvPr id="365571" name="Rectangle 2">
            <a:extLst>
              <a:ext uri="{FF2B5EF4-FFF2-40B4-BE49-F238E27FC236}">
                <a16:creationId xmlns:a16="http://schemas.microsoft.com/office/drawing/2014/main" id="{0351FC4D-F6F1-4377-B148-DAC884C31137}"/>
              </a:ext>
            </a:extLst>
          </p:cNvPr>
          <p:cNvSpPr>
            <a:spLocks noGrp="1" noRot="1" noChangeAspect="1" noChangeArrowheads="1" noTextEdit="1"/>
          </p:cNvSpPr>
          <p:nvPr>
            <p:ph type="sldImg"/>
          </p:nvPr>
        </p:nvSpPr>
        <p:spPr>
          <a:ln/>
        </p:spPr>
      </p:sp>
      <p:sp>
        <p:nvSpPr>
          <p:cNvPr id="365572" name="Rectangle 3">
            <a:extLst>
              <a:ext uri="{FF2B5EF4-FFF2-40B4-BE49-F238E27FC236}">
                <a16:creationId xmlns:a16="http://schemas.microsoft.com/office/drawing/2014/main" id="{ECC8DBD7-21EA-45BE-9CA0-DB95C3D7D1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7">
            <a:extLst>
              <a:ext uri="{FF2B5EF4-FFF2-40B4-BE49-F238E27FC236}">
                <a16:creationId xmlns:a16="http://schemas.microsoft.com/office/drawing/2014/main" id="{577D0A78-4DBA-4AA4-96E1-6990E657E1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4DD28F3-1DBB-4453-91AC-E9A207E55608}" type="slidenum">
              <a:rPr lang="en-US" altLang="en-US" sz="1300" smtClean="0"/>
              <a:pPr/>
              <a:t>77</a:t>
            </a:fld>
            <a:endParaRPr lang="en-US" altLang="en-US" sz="1300"/>
          </a:p>
        </p:txBody>
      </p:sp>
      <p:sp>
        <p:nvSpPr>
          <p:cNvPr id="375811" name="Rectangle 2">
            <a:extLst>
              <a:ext uri="{FF2B5EF4-FFF2-40B4-BE49-F238E27FC236}">
                <a16:creationId xmlns:a16="http://schemas.microsoft.com/office/drawing/2014/main" id="{31006AB1-636F-412E-BC15-7F35318BA8E4}"/>
              </a:ext>
            </a:extLst>
          </p:cNvPr>
          <p:cNvSpPr>
            <a:spLocks noGrp="1" noRot="1" noChangeAspect="1" noChangeArrowheads="1" noTextEdit="1"/>
          </p:cNvSpPr>
          <p:nvPr>
            <p:ph type="sldImg"/>
          </p:nvPr>
        </p:nvSpPr>
        <p:spPr>
          <a:ln/>
        </p:spPr>
      </p:sp>
      <p:sp>
        <p:nvSpPr>
          <p:cNvPr id="375812" name="Rectangle 3">
            <a:extLst>
              <a:ext uri="{FF2B5EF4-FFF2-40B4-BE49-F238E27FC236}">
                <a16:creationId xmlns:a16="http://schemas.microsoft.com/office/drawing/2014/main" id="{DC2942DD-B6BF-414E-9D2D-EA2BA64828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Một cấu hình mạng cục bộ “không lạ”!</a:t>
            </a:r>
          </a:p>
          <a:p>
            <a:r>
              <a:rPr lang="en-US" altLang="en-US"/>
              <a:t>Atypical: không điển hình</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7">
            <a:extLst>
              <a:ext uri="{FF2B5EF4-FFF2-40B4-BE49-F238E27FC236}">
                <a16:creationId xmlns:a16="http://schemas.microsoft.com/office/drawing/2014/main" id="{10466562-37A8-447C-B36D-0D2011337D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88901F8D-FBF7-4880-907B-2D2A21A3C9CB}" type="slidenum">
              <a:rPr lang="en-US" altLang="en-US" sz="1300" smtClean="0"/>
              <a:pPr/>
              <a:t>78</a:t>
            </a:fld>
            <a:endParaRPr lang="en-US" altLang="en-US" sz="1300"/>
          </a:p>
        </p:txBody>
      </p:sp>
      <p:sp>
        <p:nvSpPr>
          <p:cNvPr id="377859" name="Rectangle 2">
            <a:extLst>
              <a:ext uri="{FF2B5EF4-FFF2-40B4-BE49-F238E27FC236}">
                <a16:creationId xmlns:a16="http://schemas.microsoft.com/office/drawing/2014/main" id="{23E1C90C-8C73-40BD-B90D-06EC982DD55C}"/>
              </a:ext>
            </a:extLst>
          </p:cNvPr>
          <p:cNvSpPr>
            <a:spLocks noGrp="1" noRot="1" noChangeAspect="1" noChangeArrowheads="1" noTextEdit="1"/>
          </p:cNvSpPr>
          <p:nvPr>
            <p:ph type="sldImg"/>
          </p:nvPr>
        </p:nvSpPr>
        <p:spPr>
          <a:ln/>
        </p:spPr>
      </p:sp>
      <p:sp>
        <p:nvSpPr>
          <p:cNvPr id="377860" name="Rectangle 3">
            <a:extLst>
              <a:ext uri="{FF2B5EF4-FFF2-40B4-BE49-F238E27FC236}">
                <a16:creationId xmlns:a16="http://schemas.microsoft.com/office/drawing/2014/main" id="{CFCC8D62-CE2E-43C7-9426-E85C8B653B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Ví dụ về một mạng sử dụng switches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a:extLst>
              <a:ext uri="{FF2B5EF4-FFF2-40B4-BE49-F238E27FC236}">
                <a16:creationId xmlns:a16="http://schemas.microsoft.com/office/drawing/2014/main" id="{0EB72CFD-FDA2-4F85-B394-57EB68C133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FCA6D0D-8873-4517-9238-98083EDCE986}" type="slidenum">
              <a:rPr lang="en-US" altLang="en-US" sz="1300" smtClean="0"/>
              <a:pPr/>
              <a:t>79</a:t>
            </a:fld>
            <a:endParaRPr lang="en-US" altLang="en-US" sz="1300"/>
          </a:p>
        </p:txBody>
      </p:sp>
      <p:sp>
        <p:nvSpPr>
          <p:cNvPr id="379907" name="Rectangle 2">
            <a:extLst>
              <a:ext uri="{FF2B5EF4-FFF2-40B4-BE49-F238E27FC236}">
                <a16:creationId xmlns:a16="http://schemas.microsoft.com/office/drawing/2014/main" id="{DD5C5012-3FB1-4B42-AD19-96DC522A5787}"/>
              </a:ext>
            </a:extLst>
          </p:cNvPr>
          <p:cNvSpPr>
            <a:spLocks noGrp="1" noRot="1" noChangeAspect="1" noChangeArrowheads="1" noTextEdit="1"/>
          </p:cNvSpPr>
          <p:nvPr>
            <p:ph type="sldImg"/>
          </p:nvPr>
        </p:nvSpPr>
        <p:spPr>
          <a:ln/>
        </p:spPr>
      </p:sp>
      <p:sp>
        <p:nvSpPr>
          <p:cNvPr id="379908" name="Rectangle 3">
            <a:extLst>
              <a:ext uri="{FF2B5EF4-FFF2-40B4-BE49-F238E27FC236}">
                <a16:creationId xmlns:a16="http://schemas.microsoft.com/office/drawing/2014/main" id="{8B55A2FF-0F73-4898-844E-FE615F3DFD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US" altLang="en-US" sz="800"/>
              <a:t>A repeater is an amplifier, amplifying signal as well as noise. </a:t>
            </a:r>
            <a:br>
              <a:rPr lang="en-US" altLang="en-US" sz="800"/>
            </a:br>
            <a:r>
              <a:rPr lang="en-US" altLang="en-US" sz="800"/>
              <a:t>A hub is nothing but a distribution facility. A physical bus topology resides inside a hub. </a:t>
            </a:r>
            <a:br>
              <a:rPr lang="en-US" altLang="en-US" sz="800"/>
            </a:br>
            <a:r>
              <a:rPr lang="en-US" altLang="en-US" sz="800"/>
              <a:t>An active hub is a multiport repeater (a distrib. facil. with repeater functionality). </a:t>
            </a:r>
            <a:br>
              <a:rPr lang="en-US" altLang="en-US" sz="800"/>
            </a:br>
            <a:r>
              <a:rPr lang="en-US" altLang="en-US" sz="800"/>
              <a:t>A bridge forwards traffic to the physical destination segment, separating collision domains but merging broadcast domains, making its </a:t>
            </a:r>
            <a:br>
              <a:rPr lang="en-US" altLang="en-US" sz="800"/>
            </a:br>
            <a:r>
              <a:rPr lang="en-US" altLang="en-US" sz="800"/>
              <a:t>forwarding decisions based on physical addresses (MAC) controlled by software. </a:t>
            </a:r>
            <a:br>
              <a:rPr lang="en-US" altLang="en-US" sz="800"/>
            </a:br>
            <a:r>
              <a:rPr lang="en-US" altLang="en-US" sz="800"/>
              <a:t>A switch is a special kind of a multiport bridge where the bridging functionality is controlled by hardware. VLANS segment the switch an </a:t>
            </a:r>
            <a:br>
              <a:rPr lang="en-US" altLang="en-US" sz="800"/>
            </a:br>
            <a:r>
              <a:rPr lang="en-US" altLang="en-US" sz="800"/>
              <a:t>connected segments into different broadcast domains based on logical grouping of hosts or segments. The term layer 3 switch refers to </a:t>
            </a:r>
            <a:br>
              <a:rPr lang="en-US" altLang="en-US" sz="800"/>
            </a:br>
            <a:r>
              <a:rPr lang="en-US" altLang="en-US" sz="800"/>
              <a:t>VLANS. </a:t>
            </a:r>
            <a:br>
              <a:rPr lang="en-US" altLang="en-US" sz="800"/>
            </a:br>
            <a:r>
              <a:rPr lang="en-US" altLang="en-US" sz="800"/>
              <a:t>A router forwards traffic to the destination logical segment, making its forwarding decisions based on logical addresses (IP,IPX), </a:t>
            </a:r>
            <a:br>
              <a:rPr lang="en-US" altLang="en-US" sz="800"/>
            </a:br>
            <a:r>
              <a:rPr lang="en-US" altLang="en-US" sz="800"/>
              <a:t>separating collision domains as well as broadcast domains. Different VLANS can only be connected by a router since they are broadcast </a:t>
            </a:r>
            <a:br>
              <a:rPr lang="en-US" altLang="en-US" sz="800"/>
            </a:br>
            <a:r>
              <a:rPr lang="en-US" altLang="en-US" sz="800"/>
              <a:t>domains. </a:t>
            </a:r>
          </a:p>
          <a:p>
            <a:pPr>
              <a:lnSpc>
                <a:spcPct val="80000"/>
              </a:lnSpc>
            </a:pPr>
            <a:endParaRPr lang="en-US" altLang="en-US" sz="800"/>
          </a:p>
          <a:p>
            <a:pPr>
              <a:lnSpc>
                <a:spcPct val="80000"/>
              </a:lnSpc>
            </a:pPr>
            <a:r>
              <a:rPr lang="en-US" altLang="en-US" sz="800"/>
              <a:t>||Well first of all, a switch has more ports than a hub I believe. </a:t>
            </a:r>
            <a:br>
              <a:rPr lang="en-US" altLang="en-US" sz="800"/>
            </a:br>
            <a:br>
              <a:rPr lang="en-US" altLang="en-US" sz="800"/>
            </a:br>
            <a:r>
              <a:rPr lang="en-US" altLang="en-US" sz="800"/>
              <a:t>Correct? No! </a:t>
            </a:r>
            <a:br>
              <a:rPr lang="en-US" altLang="en-US" sz="800"/>
            </a:br>
            <a:r>
              <a:rPr lang="en-US" altLang="en-US" sz="800"/>
              <a:t>There are 32 port hubs out there and 4 port switches too </a:t>
            </a:r>
            <a:br>
              <a:rPr lang="en-US" altLang="en-US" sz="800"/>
            </a:br>
            <a:br>
              <a:rPr lang="en-US" altLang="en-US" sz="800"/>
            </a:br>
            <a:r>
              <a:rPr lang="en-US" altLang="en-US" sz="800"/>
              <a:t>||Also, a switch can be classified as a kind of hub while a bridge cannot. </a:t>
            </a:r>
            <a:br>
              <a:rPr lang="en-US" altLang="en-US" sz="800"/>
            </a:br>
            <a:br>
              <a:rPr lang="en-US" altLang="en-US" sz="800"/>
            </a:br>
            <a:r>
              <a:rPr lang="en-US" altLang="en-US" sz="800"/>
              <a:t>Correct? No! </a:t>
            </a:r>
            <a:br>
              <a:rPr lang="en-US" altLang="en-US" sz="800"/>
            </a:br>
            <a:r>
              <a:rPr lang="en-US" altLang="en-US" sz="800"/>
              <a:t>Since a switch is a multiport bridge you can't say one of the is some kind of hub while the other is not. Also a hub works in a very </a:t>
            </a:r>
            <a:br>
              <a:rPr lang="en-US" altLang="en-US" sz="800"/>
            </a:br>
            <a:r>
              <a:rPr lang="en-US" altLang="en-US" sz="800"/>
              <a:t>different way than a switch or bridge. Hubs work at the physical layer while switch and bridge work at the datalink layer of the OSI </a:t>
            </a:r>
            <a:br>
              <a:rPr lang="en-US" altLang="en-US" sz="800"/>
            </a:br>
            <a:r>
              <a:rPr lang="en-US" altLang="en-US" sz="800"/>
              <a:t>reference model. </a:t>
            </a:r>
            <a:br>
              <a:rPr lang="en-US" altLang="en-US" sz="800"/>
            </a:br>
            <a:br>
              <a:rPr lang="en-US" altLang="en-US" sz="800"/>
            </a:br>
            <a:r>
              <a:rPr lang="en-US" altLang="en-US" sz="800"/>
              <a:t>||I also believe a switch is more intelligent than a hub. </a:t>
            </a:r>
            <a:br>
              <a:rPr lang="en-US" altLang="en-US" sz="800"/>
            </a:br>
            <a:br>
              <a:rPr lang="en-US" altLang="en-US" sz="800"/>
            </a:br>
            <a:r>
              <a:rPr lang="en-US" altLang="en-US" sz="800"/>
              <a:t>Correct? Yes! </a:t>
            </a:r>
            <a:br>
              <a:rPr lang="en-US" altLang="en-US" sz="800"/>
            </a:br>
            <a:r>
              <a:rPr lang="en-US" altLang="en-US" sz="800"/>
              <a:t>Since a hub is only a bit more than a cable, while the switch has to decide where to forward the traffic and where not. </a:t>
            </a:r>
            <a:br>
              <a:rPr lang="en-US" altLang="en-US" sz="800"/>
            </a:br>
            <a:br>
              <a:rPr lang="en-US" altLang="en-US" sz="800"/>
            </a:br>
            <a:r>
              <a:rPr lang="en-US" altLang="en-US" sz="800"/>
              <a:t>||Yes, I would agree that a switch belongs in the hub family more than </a:t>
            </a:r>
            <a:br>
              <a:rPr lang="en-US" altLang="en-US" sz="800"/>
            </a:br>
            <a:r>
              <a:rPr lang="en-US" altLang="en-US" sz="800"/>
              <a:t>||it does the bridge family. </a:t>
            </a:r>
            <a:br>
              <a:rPr lang="en-US" altLang="en-US" sz="800"/>
            </a:br>
            <a:br>
              <a:rPr lang="en-US" altLang="en-US" sz="800"/>
            </a:br>
            <a:r>
              <a:rPr lang="en-US" altLang="en-US" sz="800"/>
              <a:t>Correct? No! </a:t>
            </a:r>
            <a:br>
              <a:rPr lang="en-US" altLang="en-US" sz="800"/>
            </a:br>
            <a:r>
              <a:rPr lang="en-US" altLang="en-US" sz="800"/>
              <a:t>A 16 port switch is a row of ports where a (hardware-) bridge is </a:t>
            </a:r>
            <a:br>
              <a:rPr lang="en-US" altLang="en-US" sz="800"/>
            </a:br>
            <a:r>
              <a:rPr lang="en-US" altLang="en-US" sz="800"/>
              <a:t>established between two of the ports when the need arises from the </a:t>
            </a:r>
            <a:br>
              <a:rPr lang="en-US" altLang="en-US" sz="800"/>
            </a:br>
            <a:r>
              <a:rPr lang="en-US" altLang="en-US" sz="800"/>
              <a:t>switches forwarding decision. </a:t>
            </a:r>
            <a:br>
              <a:rPr lang="en-US" altLang="en-US" sz="800"/>
            </a:br>
            <a:br>
              <a:rPr lang="en-US" altLang="en-US" sz="800"/>
            </a:br>
            <a:r>
              <a:rPr lang="en-US" altLang="en-US" sz="800"/>
              <a:t>||Three types of hub: </a:t>
            </a:r>
            <a:br>
              <a:rPr lang="en-US" altLang="en-US" sz="800"/>
            </a:br>
            <a:br>
              <a:rPr lang="en-US" altLang="en-US" sz="800"/>
            </a:br>
            <a:r>
              <a:rPr lang="en-US" altLang="en-US" sz="800"/>
              <a:t>I'd put only two of the following into the hub family. </a:t>
            </a:r>
            <a:br>
              <a:rPr lang="en-US" altLang="en-US" sz="800"/>
            </a:br>
            <a:br>
              <a:rPr lang="en-US" altLang="en-US" sz="800"/>
            </a:br>
            <a:r>
              <a:rPr lang="en-US" altLang="en-US" sz="800"/>
              <a:t>||Passive hub - broadcasts data to all connected ports. </a:t>
            </a:r>
            <a:br>
              <a:rPr lang="en-US" altLang="en-US" sz="800"/>
            </a:br>
            <a:br>
              <a:rPr lang="en-US" altLang="en-US" sz="800"/>
            </a:br>
            <a:r>
              <a:rPr lang="en-US" altLang="en-US" sz="800"/>
              <a:t>Right! </a:t>
            </a:r>
            <a:br>
              <a:rPr lang="en-US" altLang="en-US" sz="800"/>
            </a:br>
            <a:br>
              <a:rPr lang="en-US" altLang="en-US" sz="800"/>
            </a:br>
            <a:r>
              <a:rPr lang="en-US" altLang="en-US" sz="800"/>
              <a:t>||Active hub - the norm, broadcasts to all connected ports, and </a:t>
            </a:r>
            <a:br>
              <a:rPr lang="en-US" altLang="en-US" sz="800"/>
            </a:br>
            <a:r>
              <a:rPr lang="en-US" altLang="en-US" sz="800"/>
              <a:t>||regenerates (repeats) the signal. </a:t>
            </a:r>
            <a:br>
              <a:rPr lang="en-US" altLang="en-US" sz="800"/>
            </a:br>
            <a:br>
              <a:rPr lang="en-US" altLang="en-US" sz="800"/>
            </a:br>
            <a:r>
              <a:rPr lang="en-US" altLang="en-US" sz="800"/>
              <a:t>Right! </a:t>
            </a:r>
            <a:br>
              <a:rPr lang="en-US" altLang="en-US" sz="800"/>
            </a:br>
            <a:r>
              <a:rPr lang="en-US" altLang="en-US" sz="800"/>
              <a:t>That's why the name multiport repeater applies to modern hubs. </a:t>
            </a:r>
            <a:br>
              <a:rPr lang="en-US" altLang="en-US" sz="800"/>
            </a:br>
            <a:br>
              <a:rPr lang="en-US" altLang="en-US" sz="800"/>
            </a:br>
            <a:r>
              <a:rPr lang="en-US" altLang="en-US" sz="800"/>
              <a:t>||Switching hub - intelligent hub, only broadcasts data to the port </a:t>
            </a:r>
            <a:br>
              <a:rPr lang="en-US" altLang="en-US" sz="800"/>
            </a:br>
            <a:r>
              <a:rPr lang="en-US" altLang="en-US" sz="800"/>
              <a:t>||&gt;associated with the target MAC address. </a:t>
            </a:r>
            <a:br>
              <a:rPr lang="en-US" altLang="en-US" sz="800"/>
            </a:br>
            <a:br>
              <a:rPr lang="en-US" altLang="en-US" sz="800"/>
            </a:br>
            <a:r>
              <a:rPr lang="en-US" altLang="en-US" sz="800"/>
              <a:t>Wrong! </a:t>
            </a:r>
            <a:br>
              <a:rPr lang="en-US" altLang="en-US" sz="800"/>
            </a:br>
            <a:r>
              <a:rPr lang="en-US" altLang="en-US" sz="800"/>
              <a:t>If it forwards traffic based on MAC addresses it is per definition a </a:t>
            </a:r>
            <a:br>
              <a:rPr lang="en-US" altLang="en-US" sz="800"/>
            </a:br>
            <a:r>
              <a:rPr lang="en-US" altLang="en-US" sz="800"/>
              <a:t>bridge and if it has more than two ports and works hardware controlled </a:t>
            </a:r>
            <a:br>
              <a:rPr lang="en-US" altLang="en-US" sz="800"/>
            </a:br>
            <a:r>
              <a:rPr lang="en-US" altLang="en-US" sz="800"/>
              <a:t>it is a multiport bridge which is called a switch. </a:t>
            </a:r>
            <a:br>
              <a:rPr lang="en-US" altLang="en-US" sz="800"/>
            </a:br>
            <a:r>
              <a:rPr lang="en-US" altLang="en-US" sz="800"/>
              <a:t>The term "switching hub" was invented by soemone who didn't know </a:t>
            </a:r>
            <a:br>
              <a:rPr lang="en-US" altLang="en-US" sz="800"/>
            </a:br>
            <a:r>
              <a:rPr lang="en-US" altLang="en-US" sz="800"/>
              <a:t>better. I'm not sure, but I think I remember they called the first </a:t>
            </a:r>
            <a:br>
              <a:rPr lang="en-US" altLang="en-US" sz="800"/>
            </a:br>
            <a:r>
              <a:rPr lang="en-US" altLang="en-US" sz="800"/>
              <a:t>switches that way, because the term "switch" was not present at that </a:t>
            </a:r>
            <a:br>
              <a:rPr lang="en-US" altLang="en-US" sz="800"/>
            </a:br>
            <a:r>
              <a:rPr lang="en-US" altLang="en-US" sz="800"/>
              <a:t>time. Later on they simply called switches as switches since there are </a:t>
            </a:r>
            <a:br>
              <a:rPr lang="en-US" altLang="en-US" sz="800"/>
            </a:br>
            <a:r>
              <a:rPr lang="en-US" altLang="en-US" sz="800"/>
              <a:t>switches inside them   </a:t>
            </a:r>
            <a:br>
              <a:rPr lang="en-US" altLang="en-US" sz="800"/>
            </a:br>
            <a:r>
              <a:rPr lang="en-US" altLang="en-US" sz="800"/>
              <a:t>Forget about the "switching hub". Today it is either a hub or a switch </a:t>
            </a:r>
            <a:br>
              <a:rPr lang="en-US" altLang="en-US" sz="800"/>
            </a:br>
            <a:r>
              <a:rPr lang="en-US" altLang="en-US" sz="800"/>
              <a:t>but never it is both. </a:t>
            </a:r>
            <a:br>
              <a:rPr lang="en-US" altLang="en-US" sz="800"/>
            </a:br>
            <a:br>
              <a:rPr lang="en-US" altLang="en-US" sz="800"/>
            </a:br>
            <a:r>
              <a:rPr lang="en-US" altLang="en-US" sz="800"/>
              <a:t>||"A switching hub routes data directly from one node to another while a </a:t>
            </a:r>
            <a:br>
              <a:rPr lang="en-US" altLang="en-US" sz="800"/>
            </a:br>
            <a:r>
              <a:rPr lang="en-US" altLang="en-US" sz="800"/>
              <a:t>||hub sends data through all nodes." </a:t>
            </a:r>
            <a:br>
              <a:rPr lang="en-US" altLang="en-US" sz="800"/>
            </a:br>
            <a:br>
              <a:rPr lang="en-US" altLang="en-US" sz="800"/>
            </a:br>
            <a:r>
              <a:rPr lang="en-US" altLang="en-US" sz="800"/>
              <a:t>A very good joke, which I would like to ask your permission to quote </a:t>
            </a:r>
            <a:br>
              <a:rPr lang="en-US" altLang="en-US" sz="800"/>
            </a:br>
            <a:r>
              <a:rPr lang="en-US" altLang="en-US" sz="800"/>
              <a:t>it as "Some Words of Wisdom". </a:t>
            </a:r>
            <a:br>
              <a:rPr lang="en-US" altLang="en-US" sz="800"/>
            </a:br>
            <a:br>
              <a:rPr lang="en-US" altLang="en-US" sz="800"/>
            </a:br>
            <a:r>
              <a:rPr lang="en-US" altLang="en-US" sz="800"/>
              <a:t>A hub that switches is no hub but a switch. </a:t>
            </a:r>
            <a:br>
              <a:rPr lang="en-US" altLang="en-US" sz="800"/>
            </a:br>
            <a:r>
              <a:rPr lang="en-US" altLang="en-US" sz="800"/>
              <a:t>A switch that routes is no switch but a router. </a:t>
            </a:r>
            <a:br>
              <a:rPr lang="en-US" altLang="en-US" sz="800"/>
            </a:br>
            <a:r>
              <a:rPr lang="en-US" altLang="en-US" sz="800"/>
              <a:t>Everything below the network layer is just forwarding, while routing </a:t>
            </a:r>
            <a:br>
              <a:rPr lang="en-US" altLang="en-US" sz="800"/>
            </a:br>
            <a:r>
              <a:rPr lang="en-US" altLang="en-US" sz="800"/>
              <a:t>is the functionality to decide what path to take where the path may </a:t>
            </a:r>
            <a:br>
              <a:rPr lang="en-US" altLang="en-US" sz="800"/>
            </a:br>
            <a:r>
              <a:rPr lang="en-US" altLang="en-US" sz="800"/>
              <a:t>have one or more relaying stations. You may say now, that you can </a:t>
            </a:r>
            <a:br>
              <a:rPr lang="en-US" altLang="en-US" sz="800"/>
            </a:br>
            <a:r>
              <a:rPr lang="en-US" altLang="en-US" sz="800"/>
              <a:t>connect a switch to another switch and yet another switch, but no </a:t>
            </a:r>
            <a:br>
              <a:rPr lang="en-US" altLang="en-US" sz="800"/>
            </a:br>
            <a:r>
              <a:rPr lang="en-US" altLang="en-US" sz="800"/>
              <a:t>routing would take place here, only the MAC address of the destination </a:t>
            </a:r>
            <a:br>
              <a:rPr lang="en-US" altLang="en-US" sz="800"/>
            </a:br>
            <a:r>
              <a:rPr lang="en-US" altLang="en-US" sz="800"/>
              <a:t>host is known to the switch port and not the path. </a:t>
            </a:r>
            <a:br>
              <a:rPr lang="en-US" altLang="en-US" sz="800"/>
            </a:br>
            <a:r>
              <a:rPr lang="en-US" altLang="en-US" sz="800"/>
              <a:t>Be sure that you never confuse the devices. Categorize them easily by the OSI layers at which they work: </a:t>
            </a:r>
            <a:br>
              <a:rPr lang="en-US" altLang="en-US" sz="800"/>
            </a:br>
            <a:r>
              <a:rPr lang="en-US" altLang="en-US" sz="800"/>
              <a:t>physical: repeater, hub </a:t>
            </a:r>
            <a:br>
              <a:rPr lang="en-US" altLang="en-US" sz="800"/>
            </a:br>
            <a:r>
              <a:rPr lang="en-US" altLang="en-US" sz="800"/>
              <a:t>datalink: bridge, switch </a:t>
            </a:r>
            <a:br>
              <a:rPr lang="en-US" altLang="en-US" sz="800"/>
            </a:br>
            <a:r>
              <a:rPr lang="en-US" altLang="en-US" sz="800"/>
              <a:t>network : router (VLANs of a switch) </a:t>
            </a:r>
            <a:br>
              <a:rPr lang="en-US" altLang="en-US" sz="800"/>
            </a:br>
            <a:endParaRPr lang="en-US" altLang="en-US" sz="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5C89104F-3665-419E-9579-165422E06C83}"/>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FFDBBD0D-BB7C-4B53-8CD1-B5797B624568}"/>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B04094BB-AB80-402A-AB9A-893C55D7F969}"/>
              </a:ext>
            </a:extLst>
          </p:cNvPr>
          <p:cNvSpPr>
            <a:spLocks noGrp="1"/>
          </p:cNvSpPr>
          <p:nvPr>
            <p:ph type="sldNum" sz="quarter" idx="12"/>
          </p:nvPr>
        </p:nvSpPr>
        <p:spPr/>
        <p:txBody>
          <a:bodyPr/>
          <a:lstStyle>
            <a:lvl1pPr>
              <a:defRPr/>
            </a:lvl1pPr>
          </a:lstStyle>
          <a:p>
            <a:pPr>
              <a:defRPr/>
            </a:pPr>
            <a:r>
              <a:rPr lang="en-US" altLang="en-US"/>
              <a:t>1-</a:t>
            </a:r>
            <a:fld id="{A097805E-D573-463F-91F3-D37EA4B23A9C}" type="slidenum">
              <a:rPr lang="en-US" altLang="en-US" smtClean="0"/>
              <a:pPr>
                <a:defRPr/>
              </a:pPr>
              <a:t>‹#›</a:t>
            </a:fld>
            <a:endParaRPr lang="en-US" altLang="en-US"/>
          </a:p>
        </p:txBody>
      </p:sp>
    </p:spTree>
    <p:extLst>
      <p:ext uri="{BB962C8B-B14F-4D97-AF65-F5344CB8AC3E}">
        <p14:creationId xmlns:p14="http://schemas.microsoft.com/office/powerpoint/2010/main" val="4259595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C405E7-ABBA-417B-AFB6-73E5E89FE463}"/>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94FD7591-7725-4CCB-A474-0F9299FDF809}"/>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D5DD58DF-61DA-475E-8BE4-BA5A2EF42355}"/>
              </a:ext>
            </a:extLst>
          </p:cNvPr>
          <p:cNvSpPr>
            <a:spLocks noGrp="1"/>
          </p:cNvSpPr>
          <p:nvPr>
            <p:ph type="sldNum" sz="quarter" idx="12"/>
          </p:nvPr>
        </p:nvSpPr>
        <p:spPr/>
        <p:txBody>
          <a:bodyPr/>
          <a:lstStyle>
            <a:lvl1pPr>
              <a:defRPr/>
            </a:lvl1pPr>
          </a:lstStyle>
          <a:p>
            <a:pPr>
              <a:defRPr/>
            </a:pPr>
            <a:r>
              <a:rPr lang="en-US" altLang="en-US"/>
              <a:t>1-</a:t>
            </a:r>
            <a:fld id="{E20528DB-1A41-47DE-BB22-5FC2513474B4}" type="slidenum">
              <a:rPr lang="en-US" altLang="en-US" smtClean="0"/>
              <a:pPr>
                <a:defRPr/>
              </a:pPr>
              <a:t>‹#›</a:t>
            </a:fld>
            <a:endParaRPr lang="en-US" altLang="en-US"/>
          </a:p>
        </p:txBody>
      </p:sp>
    </p:spTree>
    <p:extLst>
      <p:ext uri="{BB962C8B-B14F-4D97-AF65-F5344CB8AC3E}">
        <p14:creationId xmlns:p14="http://schemas.microsoft.com/office/powerpoint/2010/main" val="83756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C04F6D1E-0E5F-4E9C-BA06-4C5685F440D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FF99B40C-471B-4BF4-B819-F4BE9E2F728F}"/>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7F3274D6-0961-4437-9492-8FDD45D883E5}"/>
              </a:ext>
            </a:extLst>
          </p:cNvPr>
          <p:cNvSpPr>
            <a:spLocks noGrp="1"/>
          </p:cNvSpPr>
          <p:nvPr>
            <p:ph type="sldNum" sz="quarter" idx="12"/>
          </p:nvPr>
        </p:nvSpPr>
        <p:spPr/>
        <p:txBody>
          <a:bodyPr/>
          <a:lstStyle>
            <a:lvl1pPr>
              <a:defRPr/>
            </a:lvl1pPr>
          </a:lstStyle>
          <a:p>
            <a:pPr>
              <a:defRPr/>
            </a:pPr>
            <a:r>
              <a:rPr lang="en-US" altLang="en-US"/>
              <a:t>1-</a:t>
            </a:r>
            <a:fld id="{A3CC556E-B85B-4188-BC64-A4826C3F9DC0}" type="slidenum">
              <a:rPr lang="en-US" altLang="en-US" smtClean="0"/>
              <a:pPr>
                <a:defRPr/>
              </a:pPr>
              <a:t>‹#›</a:t>
            </a:fld>
            <a:endParaRPr lang="en-US" altLang="en-US"/>
          </a:p>
        </p:txBody>
      </p:sp>
    </p:spTree>
    <p:extLst>
      <p:ext uri="{BB962C8B-B14F-4D97-AF65-F5344CB8AC3E}">
        <p14:creationId xmlns:p14="http://schemas.microsoft.com/office/powerpoint/2010/main" val="895110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E9B0F5-46AD-4122-9CDA-61E404A4C329}"/>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3C09678C-2E7B-4EF9-88F6-0F2908B4E424}"/>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A0A3BB0D-1545-4BAF-8483-0238E956233A}"/>
              </a:ext>
            </a:extLst>
          </p:cNvPr>
          <p:cNvSpPr>
            <a:spLocks noGrp="1"/>
          </p:cNvSpPr>
          <p:nvPr>
            <p:ph type="sldNum" sz="quarter" idx="12"/>
          </p:nvPr>
        </p:nvSpPr>
        <p:spPr/>
        <p:txBody>
          <a:bodyPr/>
          <a:lstStyle>
            <a:lvl1pPr>
              <a:defRPr/>
            </a:lvl1pPr>
          </a:lstStyle>
          <a:p>
            <a:pPr>
              <a:defRPr/>
            </a:pPr>
            <a:r>
              <a:rPr lang="en-US" altLang="en-US"/>
              <a:t>1-</a:t>
            </a:r>
            <a:fld id="{22610882-A241-4E75-A940-76E463163A78}" type="slidenum">
              <a:rPr lang="en-US" altLang="en-US" smtClean="0"/>
              <a:pPr>
                <a:defRPr/>
              </a:pPr>
              <a:t>‹#›</a:t>
            </a:fld>
            <a:endParaRPr lang="en-US" altLang="en-US"/>
          </a:p>
        </p:txBody>
      </p:sp>
    </p:spTree>
    <p:extLst>
      <p:ext uri="{BB962C8B-B14F-4D97-AF65-F5344CB8AC3E}">
        <p14:creationId xmlns:p14="http://schemas.microsoft.com/office/powerpoint/2010/main" val="101117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0F47C8-408B-4102-BAFC-17D06C03625F}"/>
              </a:ext>
            </a:extLst>
          </p:cNvPr>
          <p:cNvSpPr>
            <a:spLocks noGrp="1"/>
          </p:cNvSpPr>
          <p:nvPr>
            <p:ph type="dt" sz="half" idx="10"/>
          </p:nvPr>
        </p:nvSpPr>
        <p:spPr/>
        <p:txBody>
          <a:bodyPr/>
          <a:lstStyle>
            <a:lvl1pPr>
              <a:defRPr/>
            </a:lvl1pPr>
          </a:lstStyle>
          <a:p>
            <a:pPr>
              <a:defRPr/>
            </a:pPr>
            <a:endParaRPr lang="en-US"/>
          </a:p>
        </p:txBody>
      </p:sp>
      <p:sp>
        <p:nvSpPr>
          <p:cNvPr id="8" name="Footer Placeholder 7">
            <a:extLst>
              <a:ext uri="{FF2B5EF4-FFF2-40B4-BE49-F238E27FC236}">
                <a16:creationId xmlns:a16="http://schemas.microsoft.com/office/drawing/2014/main" id="{0729D130-8247-4E43-AEF8-7F4FB086A347}"/>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9" name="Slide Number Placeholder 8">
            <a:extLst>
              <a:ext uri="{FF2B5EF4-FFF2-40B4-BE49-F238E27FC236}">
                <a16:creationId xmlns:a16="http://schemas.microsoft.com/office/drawing/2014/main" id="{FD6CC09C-10D9-43DD-97DB-D257952C06DD}"/>
              </a:ext>
            </a:extLst>
          </p:cNvPr>
          <p:cNvSpPr>
            <a:spLocks noGrp="1"/>
          </p:cNvSpPr>
          <p:nvPr>
            <p:ph type="sldNum" sz="quarter" idx="12"/>
          </p:nvPr>
        </p:nvSpPr>
        <p:spPr/>
        <p:txBody>
          <a:bodyPr/>
          <a:lstStyle>
            <a:lvl1pPr>
              <a:defRPr/>
            </a:lvl1pPr>
          </a:lstStyle>
          <a:p>
            <a:pPr>
              <a:defRPr/>
            </a:pPr>
            <a:r>
              <a:rPr lang="en-US" altLang="en-US"/>
              <a:t>1-</a:t>
            </a:r>
            <a:fld id="{53F930F8-DB86-4FEB-B1C8-358603162FBE}" type="slidenum">
              <a:rPr lang="en-US" altLang="en-US" smtClean="0"/>
              <a:pPr>
                <a:defRPr/>
              </a:pPr>
              <a:t>‹#›</a:t>
            </a:fld>
            <a:endParaRPr lang="en-US" altLang="en-US"/>
          </a:p>
        </p:txBody>
      </p:sp>
    </p:spTree>
    <p:extLst>
      <p:ext uri="{BB962C8B-B14F-4D97-AF65-F5344CB8AC3E}">
        <p14:creationId xmlns:p14="http://schemas.microsoft.com/office/powerpoint/2010/main" val="3967945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918F6D-31AD-4C5B-8A24-C90FC005654C}"/>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B4DC0AA7-544D-4E93-9146-8154271BD01F}"/>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5" name="Slide Number Placeholder 4">
            <a:extLst>
              <a:ext uri="{FF2B5EF4-FFF2-40B4-BE49-F238E27FC236}">
                <a16:creationId xmlns:a16="http://schemas.microsoft.com/office/drawing/2014/main" id="{3A1E9BE3-7878-4327-9ED6-AD297B34A053}"/>
              </a:ext>
            </a:extLst>
          </p:cNvPr>
          <p:cNvSpPr>
            <a:spLocks noGrp="1"/>
          </p:cNvSpPr>
          <p:nvPr>
            <p:ph type="sldNum" sz="quarter" idx="12"/>
          </p:nvPr>
        </p:nvSpPr>
        <p:spPr/>
        <p:txBody>
          <a:bodyPr/>
          <a:lstStyle>
            <a:lvl1pPr>
              <a:defRPr/>
            </a:lvl1pPr>
          </a:lstStyle>
          <a:p>
            <a:pPr>
              <a:defRPr/>
            </a:pPr>
            <a:r>
              <a:rPr lang="en-US" altLang="en-US"/>
              <a:t>1-</a:t>
            </a:r>
            <a:fld id="{CCB6BDD6-4314-4F7F-908B-A49A3C420133}" type="slidenum">
              <a:rPr lang="en-US" altLang="en-US" smtClean="0"/>
              <a:pPr>
                <a:defRPr/>
              </a:pPr>
              <a:t>‹#›</a:t>
            </a:fld>
            <a:endParaRPr lang="en-US" altLang="en-US"/>
          </a:p>
        </p:txBody>
      </p:sp>
    </p:spTree>
    <p:extLst>
      <p:ext uri="{BB962C8B-B14F-4D97-AF65-F5344CB8AC3E}">
        <p14:creationId xmlns:p14="http://schemas.microsoft.com/office/powerpoint/2010/main" val="3069066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CAF812-EA01-4AEE-9EE3-0A2A58C0C6E1}"/>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7EE90CB3-9E01-400D-AB9A-B2C9BD62E021}"/>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4" name="Slide Number Placeholder 3">
            <a:extLst>
              <a:ext uri="{FF2B5EF4-FFF2-40B4-BE49-F238E27FC236}">
                <a16:creationId xmlns:a16="http://schemas.microsoft.com/office/drawing/2014/main" id="{7DE9A841-660F-4A6A-A859-4AE4CAAF11F1}"/>
              </a:ext>
            </a:extLst>
          </p:cNvPr>
          <p:cNvSpPr>
            <a:spLocks noGrp="1"/>
          </p:cNvSpPr>
          <p:nvPr>
            <p:ph type="sldNum" sz="quarter" idx="12"/>
          </p:nvPr>
        </p:nvSpPr>
        <p:spPr/>
        <p:txBody>
          <a:bodyPr/>
          <a:lstStyle>
            <a:lvl1pPr>
              <a:defRPr/>
            </a:lvl1pPr>
          </a:lstStyle>
          <a:p>
            <a:pPr>
              <a:defRPr/>
            </a:pPr>
            <a:r>
              <a:rPr lang="en-US" altLang="en-US"/>
              <a:t>1-</a:t>
            </a:r>
            <a:fld id="{5C5A2051-1B2C-441B-9584-C911C4C8B4A3}" type="slidenum">
              <a:rPr lang="en-US" altLang="en-US" smtClean="0"/>
              <a:pPr>
                <a:defRPr/>
              </a:pPr>
              <a:t>‹#›</a:t>
            </a:fld>
            <a:endParaRPr lang="en-US" altLang="en-US"/>
          </a:p>
        </p:txBody>
      </p:sp>
    </p:spTree>
    <p:extLst>
      <p:ext uri="{BB962C8B-B14F-4D97-AF65-F5344CB8AC3E}">
        <p14:creationId xmlns:p14="http://schemas.microsoft.com/office/powerpoint/2010/main" val="69575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8BD39FC2-61FC-4463-A06D-70DAD6FA17B7}"/>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075FBD1F-E976-4088-B99F-8A2FF8BBE6FD}"/>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1C3D4C7C-2F94-4D07-ADE3-118A8C5407C9}"/>
              </a:ext>
            </a:extLst>
          </p:cNvPr>
          <p:cNvSpPr>
            <a:spLocks noGrp="1"/>
          </p:cNvSpPr>
          <p:nvPr>
            <p:ph type="sldNum" sz="quarter" idx="12"/>
          </p:nvPr>
        </p:nvSpPr>
        <p:spPr/>
        <p:txBody>
          <a:bodyPr/>
          <a:lstStyle>
            <a:lvl1pPr>
              <a:defRPr/>
            </a:lvl1pPr>
          </a:lstStyle>
          <a:p>
            <a:pPr>
              <a:defRPr/>
            </a:pPr>
            <a:r>
              <a:rPr lang="en-US" altLang="en-US"/>
              <a:t>1-</a:t>
            </a:r>
            <a:fld id="{104FFA91-75F6-4F5C-8835-E659F9A37A8B}" type="slidenum">
              <a:rPr lang="en-US" altLang="en-US" smtClean="0"/>
              <a:pPr>
                <a:defRPr/>
              </a:pPr>
              <a:t>‹#›</a:t>
            </a:fld>
            <a:endParaRPr lang="en-US" altLang="en-US"/>
          </a:p>
        </p:txBody>
      </p:sp>
    </p:spTree>
    <p:extLst>
      <p:ext uri="{BB962C8B-B14F-4D97-AF65-F5344CB8AC3E}">
        <p14:creationId xmlns:p14="http://schemas.microsoft.com/office/powerpoint/2010/main" val="2438752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17834FB-EBAC-4850-A810-52FFB19D7C59}"/>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C552338F-38D3-4773-A387-C624B549D600}"/>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B9ECB262-0AC5-4E8D-9CF5-7DAD5B242A2F}"/>
              </a:ext>
            </a:extLst>
          </p:cNvPr>
          <p:cNvSpPr>
            <a:spLocks noGrp="1"/>
          </p:cNvSpPr>
          <p:nvPr>
            <p:ph type="sldNum" sz="quarter" idx="12"/>
          </p:nvPr>
        </p:nvSpPr>
        <p:spPr/>
        <p:txBody>
          <a:bodyPr/>
          <a:lstStyle>
            <a:lvl1pPr>
              <a:defRPr/>
            </a:lvl1pPr>
          </a:lstStyle>
          <a:p>
            <a:pPr>
              <a:defRPr/>
            </a:pPr>
            <a:r>
              <a:rPr lang="en-US" altLang="en-US"/>
              <a:t>1-</a:t>
            </a:r>
            <a:fld id="{3312D8DF-6F8E-4B4F-A73B-49AA4D1519FE}" type="slidenum">
              <a:rPr lang="en-US" altLang="en-US" smtClean="0"/>
              <a:pPr>
                <a:defRPr/>
              </a:pPr>
              <a:t>‹#›</a:t>
            </a:fld>
            <a:endParaRPr lang="en-US" altLang="en-US"/>
          </a:p>
        </p:txBody>
      </p:sp>
    </p:spTree>
    <p:extLst>
      <p:ext uri="{BB962C8B-B14F-4D97-AF65-F5344CB8AC3E}">
        <p14:creationId xmlns:p14="http://schemas.microsoft.com/office/powerpoint/2010/main" val="1883072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3AEE7-6DB3-4C8B-84E2-94995796D842}"/>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1A10B52-2856-4A46-A4CB-DF8F44D3F51E}"/>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ED820B13-2B9D-4B8D-B8D0-3A803E06C7BE}"/>
              </a:ext>
            </a:extLst>
          </p:cNvPr>
          <p:cNvSpPr>
            <a:spLocks noGrp="1"/>
          </p:cNvSpPr>
          <p:nvPr>
            <p:ph type="sldNum" sz="quarter" idx="12"/>
          </p:nvPr>
        </p:nvSpPr>
        <p:spPr/>
        <p:txBody>
          <a:bodyPr/>
          <a:lstStyle>
            <a:lvl1pPr>
              <a:defRPr/>
            </a:lvl1pPr>
          </a:lstStyle>
          <a:p>
            <a:pPr>
              <a:defRPr/>
            </a:pPr>
            <a:r>
              <a:rPr lang="en-US" altLang="en-US"/>
              <a:t>1-</a:t>
            </a:r>
            <a:fld id="{32E8FBF4-7E5E-4675-A24E-36676A579521}" type="slidenum">
              <a:rPr lang="en-US" altLang="en-US" smtClean="0"/>
              <a:pPr>
                <a:defRPr/>
              </a:pPr>
              <a:t>‹#›</a:t>
            </a:fld>
            <a:endParaRPr lang="en-US" altLang="en-US"/>
          </a:p>
        </p:txBody>
      </p:sp>
    </p:spTree>
    <p:extLst>
      <p:ext uri="{BB962C8B-B14F-4D97-AF65-F5344CB8AC3E}">
        <p14:creationId xmlns:p14="http://schemas.microsoft.com/office/powerpoint/2010/main" val="1488151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B8E12-C577-4039-BF8B-0CF96A5C3CBF}"/>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575AA00-733B-4B1D-887A-3E670FAA92CE}"/>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F7E0793E-0216-4DED-BF46-86AB1D652712}"/>
              </a:ext>
            </a:extLst>
          </p:cNvPr>
          <p:cNvSpPr>
            <a:spLocks noGrp="1"/>
          </p:cNvSpPr>
          <p:nvPr>
            <p:ph type="sldNum" sz="quarter" idx="12"/>
          </p:nvPr>
        </p:nvSpPr>
        <p:spPr/>
        <p:txBody>
          <a:bodyPr/>
          <a:lstStyle>
            <a:lvl1pPr>
              <a:defRPr/>
            </a:lvl1pPr>
          </a:lstStyle>
          <a:p>
            <a:pPr>
              <a:defRPr/>
            </a:pPr>
            <a:r>
              <a:rPr lang="en-US" altLang="en-US"/>
              <a:t>1-</a:t>
            </a:r>
            <a:fld id="{118A6383-C75B-469E-836E-1B5A3618C145}" type="slidenum">
              <a:rPr lang="en-US" altLang="en-US" smtClean="0"/>
              <a:pPr>
                <a:defRPr/>
              </a:pPr>
              <a:t>‹#›</a:t>
            </a:fld>
            <a:endParaRPr lang="en-US" altLang="en-US"/>
          </a:p>
        </p:txBody>
      </p:sp>
    </p:spTree>
    <p:extLst>
      <p:ext uri="{BB962C8B-B14F-4D97-AF65-F5344CB8AC3E}">
        <p14:creationId xmlns:p14="http://schemas.microsoft.com/office/powerpoint/2010/main" val="2556411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0D4E23-3C8E-4C5F-918C-967CA4A514EA}"/>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F3297D54-96B2-4DCF-B62C-4B7F76A58632}"/>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B6537FCD-1D0D-4789-AACF-3BAAFDD11907}"/>
              </a:ext>
            </a:extLst>
          </p:cNvPr>
          <p:cNvSpPr>
            <a:spLocks noGrp="1"/>
          </p:cNvSpPr>
          <p:nvPr>
            <p:ph type="sldNum" sz="quarter" idx="12"/>
          </p:nvPr>
        </p:nvSpPr>
        <p:spPr/>
        <p:txBody>
          <a:bodyPr/>
          <a:lstStyle>
            <a:lvl1pPr>
              <a:defRPr/>
            </a:lvl1pPr>
          </a:lstStyle>
          <a:p>
            <a:pPr>
              <a:defRPr/>
            </a:pPr>
            <a:r>
              <a:rPr lang="en-US" altLang="en-US"/>
              <a:t>1-</a:t>
            </a:r>
            <a:fld id="{94183614-C848-49B4-811C-13D73684D885}" type="slidenum">
              <a:rPr lang="en-US" altLang="en-US" smtClean="0"/>
              <a:pPr>
                <a:defRPr/>
              </a:pPr>
              <a:t>‹#›</a:t>
            </a:fld>
            <a:endParaRPr lang="en-US" altLang="en-US"/>
          </a:p>
        </p:txBody>
      </p:sp>
    </p:spTree>
    <p:extLst>
      <p:ext uri="{BB962C8B-B14F-4D97-AF65-F5344CB8AC3E}">
        <p14:creationId xmlns:p14="http://schemas.microsoft.com/office/powerpoint/2010/main" val="220391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8FD4D4-AD1A-4327-8B2E-97C2FEFF841B}"/>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FEC09F4D-986D-4715-AB8D-8D1620FF3936}"/>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2B9C8B0C-3E01-40EB-AFCB-DDB4F7D564B8}"/>
              </a:ext>
            </a:extLst>
          </p:cNvPr>
          <p:cNvSpPr>
            <a:spLocks noGrp="1"/>
          </p:cNvSpPr>
          <p:nvPr>
            <p:ph type="sldNum" sz="quarter" idx="12"/>
          </p:nvPr>
        </p:nvSpPr>
        <p:spPr/>
        <p:txBody>
          <a:bodyPr/>
          <a:lstStyle>
            <a:lvl1pPr>
              <a:defRPr/>
            </a:lvl1pPr>
          </a:lstStyle>
          <a:p>
            <a:pPr>
              <a:defRPr/>
            </a:pPr>
            <a:r>
              <a:rPr lang="en-US" altLang="en-US"/>
              <a:t>1-</a:t>
            </a:r>
            <a:fld id="{54BE0DF8-AFC4-499D-A758-B9537C151821}" type="slidenum">
              <a:rPr lang="en-US" altLang="en-US" smtClean="0"/>
              <a:pPr>
                <a:defRPr/>
              </a:pPr>
              <a:t>‹#›</a:t>
            </a:fld>
            <a:endParaRPr lang="en-US" altLang="en-US"/>
          </a:p>
        </p:txBody>
      </p:sp>
    </p:spTree>
    <p:extLst>
      <p:ext uri="{BB962C8B-B14F-4D97-AF65-F5344CB8AC3E}">
        <p14:creationId xmlns:p14="http://schemas.microsoft.com/office/powerpoint/2010/main" val="1419161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able Placeholder 2"/>
          <p:cNvSpPr>
            <a:spLocks noGrp="1"/>
          </p:cNvSpPr>
          <p:nvPr>
            <p:ph type="tbl" idx="1"/>
          </p:nvPr>
        </p:nvSpPr>
        <p:spPr>
          <a:xfrm>
            <a:off x="533400" y="1600200"/>
            <a:ext cx="7772400" cy="4648200"/>
          </a:xfrm>
        </p:spPr>
        <p:txBody>
          <a:bodyPr/>
          <a:lstStyle/>
          <a:p>
            <a:pPr lvl="0"/>
            <a:endParaRPr lang="en-US" noProof="0"/>
          </a:p>
        </p:txBody>
      </p:sp>
      <p:sp>
        <p:nvSpPr>
          <p:cNvPr id="4" name="Date Placeholder 3">
            <a:extLst>
              <a:ext uri="{FF2B5EF4-FFF2-40B4-BE49-F238E27FC236}">
                <a16:creationId xmlns:a16="http://schemas.microsoft.com/office/drawing/2014/main" id="{BFE3DE2A-51FA-46C3-A6FA-4EBBF4F82A7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A7EC15A3-E52F-4B19-A63A-CC621528D4EB}"/>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EFF7ADF9-865C-4C0F-ABE0-089C819B8D6A}"/>
              </a:ext>
            </a:extLst>
          </p:cNvPr>
          <p:cNvSpPr>
            <a:spLocks noGrp="1"/>
          </p:cNvSpPr>
          <p:nvPr>
            <p:ph type="sldNum" sz="quarter" idx="12"/>
          </p:nvPr>
        </p:nvSpPr>
        <p:spPr/>
        <p:txBody>
          <a:bodyPr/>
          <a:lstStyle>
            <a:lvl1pPr>
              <a:defRPr/>
            </a:lvl1pPr>
          </a:lstStyle>
          <a:p>
            <a:pPr>
              <a:defRPr/>
            </a:pPr>
            <a:r>
              <a:rPr lang="en-US" altLang="en-US"/>
              <a:t>1-</a:t>
            </a:r>
            <a:fld id="{53EE1891-294E-45A0-B37E-126B8F2D5560}" type="slidenum">
              <a:rPr lang="en-US" altLang="en-US" smtClean="0"/>
              <a:pPr>
                <a:defRPr/>
              </a:pPr>
              <a:t>‹#›</a:t>
            </a:fld>
            <a:endParaRPr lang="en-US" altLang="en-US"/>
          </a:p>
        </p:txBody>
      </p:sp>
    </p:spTree>
    <p:extLst>
      <p:ext uri="{BB962C8B-B14F-4D97-AF65-F5344CB8AC3E}">
        <p14:creationId xmlns:p14="http://schemas.microsoft.com/office/powerpoint/2010/main" val="413853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61DC16-0F68-4527-9529-8F0D30E6DC90}"/>
              </a:ext>
            </a:extLst>
          </p:cNvPr>
          <p:cNvSpPr>
            <a:spLocks noGrp="1" noChangeArrowheads="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8544C858-0E87-4F05-B190-8A2C1A9FEF43}"/>
              </a:ext>
            </a:extLst>
          </p:cNvPr>
          <p:cNvSpPr>
            <a:spLocks noGrp="1" noChangeArrowheads="1"/>
          </p:cNvSpPr>
          <p:nvPr>
            <p:ph type="ftr" sz="quarter" idx="11"/>
          </p:nvPr>
        </p:nvSpPr>
        <p:spPr/>
        <p:txBody>
          <a:bodyPr/>
          <a:lstStyle>
            <a:lvl1pPr>
              <a:defRPr/>
            </a:lvl1pPr>
          </a:lstStyle>
          <a:p>
            <a:pPr>
              <a:defRPr/>
            </a:pPr>
            <a:r>
              <a:rPr lang="en-US"/>
              <a:t>3: The Data Link Layer</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34ACB909-A716-4AF2-99A4-38C3BD746252}"/>
              </a:ext>
            </a:extLst>
          </p:cNvPr>
          <p:cNvSpPr>
            <a:spLocks noGrp="1" noChangeArrowheads="1"/>
          </p:cNvSpPr>
          <p:nvPr>
            <p:ph type="sldNum" sz="quarter" idx="12"/>
          </p:nvPr>
        </p:nvSpPr>
        <p:spPr/>
        <p:txBody>
          <a:bodyPr/>
          <a:lstStyle>
            <a:lvl1pPr>
              <a:defRPr/>
            </a:lvl1pPr>
          </a:lstStyle>
          <a:p>
            <a:pPr>
              <a:defRPr/>
            </a:pPr>
            <a:fld id="{A4126913-F783-4F1C-BB0F-292AC3AC9271}" type="slidenum">
              <a:rPr lang="en-US" altLang="en-US"/>
              <a:pPr>
                <a:defRPr/>
              </a:pPr>
              <a:t>‹#›</a:t>
            </a:fld>
            <a:endParaRPr lang="en-US" altLang="en-US"/>
          </a:p>
        </p:txBody>
      </p:sp>
    </p:spTree>
    <p:extLst>
      <p:ext uri="{BB962C8B-B14F-4D97-AF65-F5344CB8AC3E}">
        <p14:creationId xmlns:p14="http://schemas.microsoft.com/office/powerpoint/2010/main" val="13083275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495800" y="1600200"/>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495800" y="4000500"/>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C281B647-3B5F-4BF5-AC91-3F5E9E88F45E}"/>
              </a:ext>
            </a:extLst>
          </p:cNvPr>
          <p:cNvSpPr>
            <a:spLocks noGrp="1"/>
          </p:cNvSpPr>
          <p:nvPr>
            <p:ph type="dt" sz="half" idx="10"/>
          </p:nvPr>
        </p:nvSpPr>
        <p:spPr/>
        <p:txBody>
          <a:bodyPr/>
          <a:lstStyle>
            <a:lvl1pPr>
              <a:defRPr/>
            </a:lvl1pPr>
          </a:lstStyle>
          <a:p>
            <a:pPr>
              <a:defRPr/>
            </a:pPr>
            <a:endParaRPr lang="en-US"/>
          </a:p>
        </p:txBody>
      </p:sp>
      <p:sp>
        <p:nvSpPr>
          <p:cNvPr id="7" name="Footer Placeholder 6">
            <a:extLst>
              <a:ext uri="{FF2B5EF4-FFF2-40B4-BE49-F238E27FC236}">
                <a16:creationId xmlns:a16="http://schemas.microsoft.com/office/drawing/2014/main" id="{B894FC67-19C7-453D-95E9-516342B9E5F1}"/>
              </a:ext>
            </a:extLst>
          </p:cNvPr>
          <p:cNvSpPr>
            <a:spLocks noGrp="1"/>
          </p:cNvSpPr>
          <p:nvPr>
            <p:ph type="ftr" sz="quarter" idx="11"/>
          </p:nvPr>
        </p:nvSpPr>
        <p:spPr/>
        <p:txBody>
          <a:bodyPr/>
          <a:lstStyle>
            <a:lvl1pPr>
              <a:defRPr/>
            </a:lvl1pPr>
          </a:lstStyle>
          <a:p>
            <a:pPr>
              <a:defRPr/>
            </a:pPr>
            <a:r>
              <a:rPr lang="en-US"/>
              <a:t>3: Local Area Networks</a:t>
            </a:r>
            <a:endParaRPr lang="en-US">
              <a:latin typeface="Times New Roman" pitchFamily="18" charset="0"/>
            </a:endParaRPr>
          </a:p>
        </p:txBody>
      </p:sp>
      <p:sp>
        <p:nvSpPr>
          <p:cNvPr id="8" name="Slide Number Placeholder 7">
            <a:extLst>
              <a:ext uri="{FF2B5EF4-FFF2-40B4-BE49-F238E27FC236}">
                <a16:creationId xmlns:a16="http://schemas.microsoft.com/office/drawing/2014/main" id="{0E7BB424-FF6B-4211-89E7-21410BEF26AA}"/>
              </a:ext>
            </a:extLst>
          </p:cNvPr>
          <p:cNvSpPr>
            <a:spLocks noGrp="1"/>
          </p:cNvSpPr>
          <p:nvPr>
            <p:ph type="sldNum" sz="quarter" idx="12"/>
          </p:nvPr>
        </p:nvSpPr>
        <p:spPr/>
        <p:txBody>
          <a:bodyPr/>
          <a:lstStyle>
            <a:lvl1pPr>
              <a:defRPr/>
            </a:lvl1pPr>
          </a:lstStyle>
          <a:p>
            <a:pPr>
              <a:defRPr/>
            </a:pPr>
            <a:fld id="{3EBE2DAA-FC2F-4713-BC26-E23009E8CE2A}" type="slidenum">
              <a:rPr lang="en-US" altLang="en-US"/>
              <a:pPr>
                <a:defRPr/>
              </a:pPr>
              <a:t>‹#›</a:t>
            </a:fld>
            <a:endParaRPr lang="en-US" altLang="en-US"/>
          </a:p>
        </p:txBody>
      </p:sp>
    </p:spTree>
    <p:extLst>
      <p:ext uri="{BB962C8B-B14F-4D97-AF65-F5344CB8AC3E}">
        <p14:creationId xmlns:p14="http://schemas.microsoft.com/office/powerpoint/2010/main" val="1264969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77813F5-8451-4460-8BBE-6B3A2EFB8FE2}"/>
              </a:ext>
            </a:extLst>
          </p:cNvPr>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CD43BA1-EE56-4CC3-B749-57703DFFCE80}"/>
              </a:ext>
            </a:extLst>
          </p:cNvPr>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9D9FD0-70E8-4D15-B58B-7F925DC3DB05}"/>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a:extLst>
              <a:ext uri="{FF2B5EF4-FFF2-40B4-BE49-F238E27FC236}">
                <a16:creationId xmlns:a16="http://schemas.microsoft.com/office/drawing/2014/main" id="{74263B4D-4A49-4022-8284-84E4098DF214}"/>
              </a:ext>
            </a:extLst>
          </p:cNvPr>
          <p:cNvSpPr>
            <a:spLocks noGrp="1" noChangeArrowheads="1"/>
          </p:cNvSpPr>
          <p:nvPr>
            <p:ph type="ftr" sz="quarter" idx="3"/>
          </p:nvPr>
        </p:nvSpPr>
        <p:spPr bwMode="auto">
          <a:xfrm>
            <a:off x="5410200" y="64008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r>
              <a:rPr lang="en-US"/>
              <a:t> Introduction</a:t>
            </a:r>
          </a:p>
        </p:txBody>
      </p:sp>
      <p:sp>
        <p:nvSpPr>
          <p:cNvPr id="1030" name="Rectangle 6">
            <a:extLst>
              <a:ext uri="{FF2B5EF4-FFF2-40B4-BE49-F238E27FC236}">
                <a16:creationId xmlns:a16="http://schemas.microsoft.com/office/drawing/2014/main" id="{771E36C9-E546-421F-B04F-D661C4690CB2}"/>
              </a:ext>
            </a:extLst>
          </p:cNvPr>
          <p:cNvSpPr>
            <a:spLocks noGrp="1" noChangeArrowheads="1"/>
          </p:cNvSpPr>
          <p:nvPr>
            <p:ph type="sldNum" sz="quarter" idx="4"/>
          </p:nvPr>
        </p:nvSpPr>
        <p:spPr bwMode="auto">
          <a:xfrm>
            <a:off x="8305800" y="6400800"/>
            <a:ext cx="6254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r>
              <a:rPr lang="en-US" altLang="en-US"/>
              <a:t>1-</a:t>
            </a:r>
            <a:fld id="{2754FDA1-3C4B-4B76-88BE-B477C165A514}"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577" r:id="rId1"/>
    <p:sldLayoutId id="2147484578" r:id="rId2"/>
    <p:sldLayoutId id="2147484579" r:id="rId3"/>
    <p:sldLayoutId id="2147484580" r:id="rId4"/>
    <p:sldLayoutId id="2147484581" r:id="rId5"/>
    <p:sldLayoutId id="2147484582" r:id="rId6"/>
    <p:sldLayoutId id="2147484583" r:id="rId7"/>
    <p:sldLayoutId id="2147484584" r:id="rId8"/>
    <p:sldLayoutId id="2147484585" r:id="rId9"/>
    <p:sldLayoutId id="2147484586" r:id="rId10"/>
    <p:sldLayoutId id="2147484587" r:id="rId11"/>
    <p:sldLayoutId id="2147484588" r:id="rId12"/>
    <p:sldLayoutId id="2147484589" r:id="rId13"/>
    <p:sldLayoutId id="2147484590" r:id="rId14"/>
    <p:sldLayoutId id="2147484591" r:id="rId15"/>
    <p:sldLayoutId id="2147484592" r:id="rId16"/>
  </p:sldLayoutIdLst>
  <p:hf hdr="0" dt="0"/>
  <p:txStyles>
    <p:titleStyle>
      <a:lvl1pPr algn="l" rtl="0" eaLnBrk="0" fontAlgn="base" hangingPunct="0">
        <a:spcBef>
          <a:spcPct val="0"/>
        </a:spcBef>
        <a:spcAft>
          <a:spcPct val="0"/>
        </a:spcAft>
        <a:defRPr sz="4000" u="sng">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itchFamily="66" charset="0"/>
        </a:defRPr>
      </a:lvl2pPr>
      <a:lvl3pPr algn="l" rtl="0" eaLnBrk="0" fontAlgn="base" hangingPunct="0">
        <a:spcBef>
          <a:spcPct val="0"/>
        </a:spcBef>
        <a:spcAft>
          <a:spcPct val="0"/>
        </a:spcAft>
        <a:defRPr sz="4000" u="sng">
          <a:solidFill>
            <a:schemeClr val="accent2"/>
          </a:solidFill>
          <a:latin typeface="Comic Sans MS" pitchFamily="66" charset="0"/>
        </a:defRPr>
      </a:lvl3pPr>
      <a:lvl4pPr algn="l" rtl="0" eaLnBrk="0" fontAlgn="base" hangingPunct="0">
        <a:spcBef>
          <a:spcPct val="0"/>
        </a:spcBef>
        <a:spcAft>
          <a:spcPct val="0"/>
        </a:spcAft>
        <a:defRPr sz="4000" u="sng">
          <a:solidFill>
            <a:schemeClr val="accent2"/>
          </a:solidFill>
          <a:latin typeface="Comic Sans MS" pitchFamily="66" charset="0"/>
        </a:defRPr>
      </a:lvl4pPr>
      <a:lvl5pPr algn="l" rtl="0" eaLnBrk="0" fontAlgn="base" hangingPunct="0">
        <a:spcBef>
          <a:spcPct val="0"/>
        </a:spcBef>
        <a:spcAft>
          <a:spcPct val="0"/>
        </a:spcAft>
        <a:defRPr sz="4000" u="sng">
          <a:solidFill>
            <a:schemeClr val="accent2"/>
          </a:solidFill>
          <a:latin typeface="Comic Sans MS" pitchFamily="66"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6.png"/><Relationship Id="rId5" Type="http://schemas.openxmlformats.org/officeDocument/2006/relationships/oleObject" Target="../embeddings/oleObject2.bin"/><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10.xml"/><Relationship Id="rId7"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oleObject" Target="../embeddings/oleObject9.bin"/><Relationship Id="rId5" Type="http://schemas.openxmlformats.org/officeDocument/2006/relationships/image" Target="../media/image18.wmf"/><Relationship Id="rId10" Type="http://schemas.openxmlformats.org/officeDocument/2006/relationships/oleObject" Target="../embeddings/oleObject8.bin"/><Relationship Id="rId4" Type="http://schemas.openxmlformats.org/officeDocument/2006/relationships/oleObject" Target="../embeddings/oleObject3.bin"/><Relationship Id="rId9"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2.png"/><Relationship Id="rId4" Type="http://schemas.openxmlformats.org/officeDocument/2006/relationships/oleObject" Target="../embeddings/oleObject10.bin"/></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19.xml"/><Relationship Id="rId7" Type="http://schemas.openxmlformats.org/officeDocument/2006/relationships/image" Target="../media/image26.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2.bin"/><Relationship Id="rId5" Type="http://schemas.openxmlformats.org/officeDocument/2006/relationships/image" Target="../media/image25.wmf"/><Relationship Id="rId4"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54.jpeg"/><Relationship Id="rId4" Type="http://schemas.openxmlformats.org/officeDocument/2006/relationships/image" Target="../media/image53.jpeg"/></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57.png"/><Relationship Id="rId4" Type="http://schemas.openxmlformats.org/officeDocument/2006/relationships/image" Target="../media/image56.png"/></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5.xml"/><Relationship Id="rId1" Type="http://schemas.openxmlformats.org/officeDocument/2006/relationships/vmlDrawing" Target="../drawings/vmlDrawing6.vml"/><Relationship Id="rId4" Type="http://schemas.openxmlformats.org/officeDocument/2006/relationships/image" Target="../media/image59.emf"/></Relationships>
</file>

<file path=ppt/slides/_rels/slide5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63.png"/></Relationships>
</file>

<file path=ppt/slides/_rels/slide64.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6.xml"/><Relationship Id="rId1" Type="http://schemas.openxmlformats.org/officeDocument/2006/relationships/vmlDrawing" Target="../drawings/vmlDrawing8.vml"/><Relationship Id="rId5" Type="http://schemas.openxmlformats.org/officeDocument/2006/relationships/image" Target="../media/image70.png"/><Relationship Id="rId4" Type="http://schemas.openxmlformats.org/officeDocument/2006/relationships/image" Target="../media/image6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71.png"/></Relationships>
</file>

<file path=ppt/slides/_rels/slide77.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4.xml"/><Relationship Id="rId1" Type="http://schemas.openxmlformats.org/officeDocument/2006/relationships/vmlDrawing" Target="../drawings/vmlDrawing10.vml"/><Relationship Id="rId5" Type="http://schemas.openxmlformats.org/officeDocument/2006/relationships/image" Target="../media/image74.wmf"/><Relationship Id="rId4" Type="http://schemas.openxmlformats.org/officeDocument/2006/relationships/oleObject" Target="../embeddings/oleObject1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Slide Number Placeholder 5">
            <a:extLst>
              <a:ext uri="{FF2B5EF4-FFF2-40B4-BE49-F238E27FC236}">
                <a16:creationId xmlns:a16="http://schemas.microsoft.com/office/drawing/2014/main" id="{04260560-6800-421C-A0BF-68F99E8250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10622F4D-32FB-463D-96BD-F7328B250B72}" type="slidenum">
              <a:rPr lang="en-US" altLang="en-US" sz="1400" smtClean="0">
                <a:latin typeface="Times New Roman" panose="02020603050405020304" pitchFamily="18" charset="0"/>
              </a:rPr>
              <a:pPr>
                <a:spcBef>
                  <a:spcPct val="0"/>
                </a:spcBef>
                <a:buClrTx/>
                <a:buSzTx/>
                <a:buFontTx/>
                <a:buNone/>
              </a:pPr>
              <a:t>1</a:t>
            </a:fld>
            <a:endParaRPr lang="en-US" altLang="en-US" sz="1400">
              <a:latin typeface="Times New Roman" panose="02020603050405020304" pitchFamily="18" charset="0"/>
            </a:endParaRPr>
          </a:p>
        </p:txBody>
      </p:sp>
      <p:sp>
        <p:nvSpPr>
          <p:cNvPr id="259075" name="Rectangle 2">
            <a:extLst>
              <a:ext uri="{FF2B5EF4-FFF2-40B4-BE49-F238E27FC236}">
                <a16:creationId xmlns:a16="http://schemas.microsoft.com/office/drawing/2014/main" id="{0BEA0016-3A26-4951-903A-D44D9773D27C}"/>
              </a:ext>
            </a:extLst>
          </p:cNvPr>
          <p:cNvSpPr>
            <a:spLocks noGrp="1" noChangeArrowheads="1"/>
          </p:cNvSpPr>
          <p:nvPr>
            <p:ph type="ctrTitle"/>
          </p:nvPr>
        </p:nvSpPr>
        <p:spPr>
          <a:xfrm>
            <a:off x="0" y="1295400"/>
            <a:ext cx="9144000" cy="3276600"/>
          </a:xfrm>
        </p:spPr>
        <p:txBody>
          <a:bodyPr/>
          <a:lstStyle/>
          <a:p>
            <a:pPr algn="ctr"/>
            <a:r>
              <a:rPr lang="en-US" altLang="en-US" sz="4800"/>
              <a:t>Chương 5: Mạng Cục Bộ</a:t>
            </a:r>
            <a:br>
              <a:rPr lang="en-US" altLang="en-US" sz="4800"/>
            </a:br>
            <a:r>
              <a:rPr lang="en-US" altLang="en-US" sz="4800"/>
              <a:t>(Local Area Networks)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Slide Number Placeholder 5">
            <a:extLst>
              <a:ext uri="{FF2B5EF4-FFF2-40B4-BE49-F238E27FC236}">
                <a16:creationId xmlns:a16="http://schemas.microsoft.com/office/drawing/2014/main" id="{809DA116-721C-41AF-B736-9440146C2C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6912EE60-1613-4005-9217-846632DB6887}" type="slidenum">
              <a:rPr lang="en-US" altLang="en-US" sz="1400" smtClean="0">
                <a:latin typeface="Times New Roman" panose="02020603050405020304" pitchFamily="18" charset="0"/>
              </a:rPr>
              <a:pPr>
                <a:spcBef>
                  <a:spcPct val="0"/>
                </a:spcBef>
                <a:buClrTx/>
                <a:buSzTx/>
                <a:buFontTx/>
                <a:buNone/>
              </a:pPr>
              <a:t>2</a:t>
            </a:fld>
            <a:endParaRPr lang="en-US" altLang="en-US" sz="1400">
              <a:latin typeface="Times New Roman" panose="02020603050405020304" pitchFamily="18" charset="0"/>
            </a:endParaRPr>
          </a:p>
        </p:txBody>
      </p:sp>
      <p:sp>
        <p:nvSpPr>
          <p:cNvPr id="260099" name="Rectangle 2">
            <a:extLst>
              <a:ext uri="{FF2B5EF4-FFF2-40B4-BE49-F238E27FC236}">
                <a16:creationId xmlns:a16="http://schemas.microsoft.com/office/drawing/2014/main" id="{FE0EC86F-105C-434A-886A-C82DFBD9291D}"/>
              </a:ext>
            </a:extLst>
          </p:cNvPr>
          <p:cNvSpPr>
            <a:spLocks noGrp="1" noChangeArrowheads="1"/>
          </p:cNvSpPr>
          <p:nvPr>
            <p:ph type="title"/>
          </p:nvPr>
        </p:nvSpPr>
        <p:spPr/>
        <p:txBody>
          <a:bodyPr/>
          <a:lstStyle/>
          <a:p>
            <a:r>
              <a:rPr lang="en-US" altLang="en-US"/>
              <a:t>Chương 5: Mạng cục bộ - LANs</a:t>
            </a:r>
          </a:p>
        </p:txBody>
      </p:sp>
      <p:sp>
        <p:nvSpPr>
          <p:cNvPr id="260100" name="Rectangle 3">
            <a:extLst>
              <a:ext uri="{FF2B5EF4-FFF2-40B4-BE49-F238E27FC236}">
                <a16:creationId xmlns:a16="http://schemas.microsoft.com/office/drawing/2014/main" id="{EDD774A4-26A0-4ADA-BE55-D2DA1AC5CFCA}"/>
              </a:ext>
            </a:extLst>
          </p:cNvPr>
          <p:cNvSpPr>
            <a:spLocks noGrp="1" noChangeArrowheads="1"/>
          </p:cNvSpPr>
          <p:nvPr>
            <p:ph type="body" idx="1"/>
          </p:nvPr>
        </p:nvSpPr>
        <p:spPr>
          <a:xfrm>
            <a:off x="0" y="1600200"/>
            <a:ext cx="9144000" cy="4648200"/>
          </a:xfrm>
        </p:spPr>
        <p:txBody>
          <a:bodyPr/>
          <a:lstStyle/>
          <a:p>
            <a:r>
              <a:rPr lang="en-US" altLang="en-US"/>
              <a:t>Kết nối các máy tính trong phạm vi ngắn</a:t>
            </a:r>
          </a:p>
          <a:p>
            <a:r>
              <a:rPr lang="en-US" altLang="en-US"/>
              <a:t>Làm thế nào để liên kết nhiều máy tính với nhau</a:t>
            </a:r>
          </a:p>
          <a:p>
            <a:pPr lvl="1"/>
            <a:r>
              <a:rPr lang="en-US" altLang="en-US"/>
              <a:t>Mỗi máy kết nối đến tất cả các máy khác</a:t>
            </a:r>
          </a:p>
          <a:p>
            <a:pPr lvl="1"/>
            <a:r>
              <a:rPr lang="en-US" altLang="en-US"/>
              <a:t>Tất cả các máy nối đến một liên kết chia sẻ</a:t>
            </a:r>
          </a:p>
          <a:p>
            <a:pPr lvl="1"/>
            <a:r>
              <a:rPr lang="en-US" altLang="en-US"/>
              <a:t>Nối theo dạng vòng</a:t>
            </a:r>
          </a:p>
          <a:p>
            <a:pPr lvl="1"/>
            <a:r>
              <a:rPr lang="en-US" altLang="en-US"/>
              <a:t>Tất cả nối đến switch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Slide Number Placeholder 5">
            <a:extLst>
              <a:ext uri="{FF2B5EF4-FFF2-40B4-BE49-F238E27FC236}">
                <a16:creationId xmlns:a16="http://schemas.microsoft.com/office/drawing/2014/main" id="{83988A06-84CC-4F21-8648-F7E7597EDC2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A66F44E3-E885-4F7B-89AA-FDAC72FFB612}" type="slidenum">
              <a:rPr lang="en-US" altLang="en-US" sz="1400" smtClean="0">
                <a:latin typeface="Times New Roman" panose="02020603050405020304" pitchFamily="18" charset="0"/>
              </a:rPr>
              <a:pPr>
                <a:spcBef>
                  <a:spcPct val="0"/>
                </a:spcBef>
                <a:buClrTx/>
                <a:buSzTx/>
                <a:buFontTx/>
                <a:buNone/>
              </a:pPr>
              <a:t>3</a:t>
            </a:fld>
            <a:endParaRPr lang="en-US" altLang="en-US" sz="1400">
              <a:latin typeface="Times New Roman" panose="02020603050405020304" pitchFamily="18" charset="0"/>
            </a:endParaRPr>
          </a:p>
        </p:txBody>
      </p:sp>
      <p:pic>
        <p:nvPicPr>
          <p:cNvPr id="262147" name="Picture 2" descr="5">
            <a:extLst>
              <a:ext uri="{FF2B5EF4-FFF2-40B4-BE49-F238E27FC236}">
                <a16:creationId xmlns:a16="http://schemas.microsoft.com/office/drawing/2014/main" id="{E39A0EFD-7AD2-4790-864A-E7C4C2F8AC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3663" y="3560763"/>
            <a:ext cx="457200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2148" name="Rectangle 3">
            <a:extLst>
              <a:ext uri="{FF2B5EF4-FFF2-40B4-BE49-F238E27FC236}">
                <a16:creationId xmlns:a16="http://schemas.microsoft.com/office/drawing/2014/main" id="{9F2AF5FF-550C-4045-AA95-A210BFC36E9A}"/>
              </a:ext>
            </a:extLst>
          </p:cNvPr>
          <p:cNvSpPr>
            <a:spLocks noGrp="1" noChangeArrowheads="1"/>
          </p:cNvSpPr>
          <p:nvPr>
            <p:ph type="title"/>
          </p:nvPr>
        </p:nvSpPr>
        <p:spPr>
          <a:xfrm>
            <a:off x="533400" y="106363"/>
            <a:ext cx="7772400" cy="1143000"/>
          </a:xfrm>
        </p:spPr>
        <p:txBody>
          <a:bodyPr/>
          <a:lstStyle/>
          <a:p>
            <a:r>
              <a:rPr lang="en-US" altLang="en-US"/>
              <a:t>Các công nghệ mạng cục bộ</a:t>
            </a:r>
          </a:p>
        </p:txBody>
      </p:sp>
      <p:sp>
        <p:nvSpPr>
          <p:cNvPr id="262149" name="Rectangle 4">
            <a:extLst>
              <a:ext uri="{FF2B5EF4-FFF2-40B4-BE49-F238E27FC236}">
                <a16:creationId xmlns:a16="http://schemas.microsoft.com/office/drawing/2014/main" id="{319D499C-5752-4963-81B5-9A29B05C5C3C}"/>
              </a:ext>
            </a:extLst>
          </p:cNvPr>
          <p:cNvSpPr>
            <a:spLocks noGrp="1" noChangeArrowheads="1"/>
          </p:cNvSpPr>
          <p:nvPr>
            <p:ph type="body" idx="1"/>
          </p:nvPr>
        </p:nvSpPr>
        <p:spPr>
          <a:xfrm>
            <a:off x="449263" y="1349375"/>
            <a:ext cx="7772400" cy="4648200"/>
          </a:xfrm>
        </p:spPr>
        <p:txBody>
          <a:bodyPr/>
          <a:lstStyle/>
          <a:p>
            <a:pPr>
              <a:buFont typeface="ZapfDingbats" pitchFamily="82" charset="2"/>
              <a:buNone/>
            </a:pPr>
            <a:r>
              <a:rPr lang="en-US" altLang="en-US"/>
              <a:t>Các vấn đề về tầng LKDL đã được đề cập:</a:t>
            </a:r>
          </a:p>
          <a:p>
            <a:pPr lvl="1"/>
            <a:r>
              <a:rPr lang="en-US" altLang="en-US"/>
              <a:t>Các dịch vụ, phát hiện/sửa lỗi, đa truy cập, truy cập điểm – điểm</a:t>
            </a:r>
          </a:p>
          <a:p>
            <a:pPr>
              <a:buFont typeface="ZapfDingbats" pitchFamily="82" charset="2"/>
              <a:buNone/>
            </a:pPr>
            <a:r>
              <a:rPr lang="en-US" altLang="en-US"/>
              <a:t>Các vấn đề liên quan đến LAN sẽ được đề cập:</a:t>
            </a:r>
          </a:p>
          <a:p>
            <a:pPr lvl="1"/>
            <a:r>
              <a:rPr lang="en-US" altLang="en-US"/>
              <a:t>addressing</a:t>
            </a:r>
          </a:p>
          <a:p>
            <a:pPr lvl="1"/>
            <a:r>
              <a:rPr lang="en-US" altLang="en-US"/>
              <a:t>Ethernet</a:t>
            </a:r>
          </a:p>
          <a:p>
            <a:pPr lvl="1"/>
            <a:r>
              <a:rPr lang="en-US" altLang="en-US"/>
              <a:t>hubs, bridges, switches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Slide Number Placeholder 5">
            <a:extLst>
              <a:ext uri="{FF2B5EF4-FFF2-40B4-BE49-F238E27FC236}">
                <a16:creationId xmlns:a16="http://schemas.microsoft.com/office/drawing/2014/main" id="{F45F328F-3317-4109-AD9C-9DD6D57736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60B89EF7-A5D4-4121-AA5A-08260D370DF1}" type="slidenum">
              <a:rPr lang="en-US" altLang="en-US" sz="1400" smtClean="0">
                <a:latin typeface="Times New Roman" panose="02020603050405020304" pitchFamily="18" charset="0"/>
              </a:rPr>
              <a:pPr>
                <a:spcBef>
                  <a:spcPct val="0"/>
                </a:spcBef>
                <a:buClrTx/>
                <a:buSzTx/>
                <a:buFontTx/>
                <a:buNone/>
              </a:pPr>
              <a:t>4</a:t>
            </a:fld>
            <a:endParaRPr lang="en-US" altLang="en-US" sz="1400">
              <a:latin typeface="Times New Roman" panose="02020603050405020304" pitchFamily="18" charset="0"/>
            </a:endParaRPr>
          </a:p>
        </p:txBody>
      </p:sp>
      <p:sp>
        <p:nvSpPr>
          <p:cNvPr id="263171" name="Rectangle 2">
            <a:extLst>
              <a:ext uri="{FF2B5EF4-FFF2-40B4-BE49-F238E27FC236}">
                <a16:creationId xmlns:a16="http://schemas.microsoft.com/office/drawing/2014/main" id="{30F52F3A-C434-4A6C-A683-41405A94A084}"/>
              </a:ext>
            </a:extLst>
          </p:cNvPr>
          <p:cNvSpPr>
            <a:spLocks noGrp="1" noChangeArrowheads="1"/>
          </p:cNvSpPr>
          <p:nvPr>
            <p:ph type="title"/>
          </p:nvPr>
        </p:nvSpPr>
        <p:spPr>
          <a:xfrm>
            <a:off x="533400" y="-85725"/>
            <a:ext cx="7772400" cy="1143000"/>
          </a:xfrm>
        </p:spPr>
        <p:txBody>
          <a:bodyPr/>
          <a:lstStyle/>
          <a:p>
            <a:r>
              <a:rPr lang="en-US" altLang="en-US"/>
              <a:t>Các ủy ban IEEE 802</a:t>
            </a:r>
          </a:p>
        </p:txBody>
      </p:sp>
      <p:sp>
        <p:nvSpPr>
          <p:cNvPr id="263172" name="AutoShape 3">
            <a:extLst>
              <a:ext uri="{FF2B5EF4-FFF2-40B4-BE49-F238E27FC236}">
                <a16:creationId xmlns:a16="http://schemas.microsoft.com/office/drawing/2014/main" id="{22F0BF51-23B8-4A39-8A4D-8FE8E066DA9F}"/>
              </a:ext>
            </a:extLst>
          </p:cNvPr>
          <p:cNvSpPr>
            <a:spLocks noChangeArrowheads="1"/>
          </p:cNvSpPr>
          <p:nvPr/>
        </p:nvSpPr>
        <p:spPr bwMode="auto">
          <a:xfrm>
            <a:off x="6396038" y="1919288"/>
            <a:ext cx="2519362" cy="920750"/>
          </a:xfrm>
          <a:prstGeom prst="wedgeRectCallout">
            <a:avLst>
              <a:gd name="adj1" fmla="val -75144"/>
              <a:gd name="adj2" fmla="val -28449"/>
            </a:avLst>
          </a:prstGeom>
          <a:solidFill>
            <a:srgbClr val="008080">
              <a:alpha val="10196"/>
            </a:srgbClr>
          </a:solidFill>
          <a:ln w="9525">
            <a:solidFill>
              <a:schemeClr val="tx1"/>
            </a:solidFill>
            <a:miter lim="800000"/>
            <a:headEnd/>
            <a:tailEnd/>
          </a:ln>
        </p:spPr>
        <p:txBody>
          <a:bodyPr lIns="90000" tIns="46800" rIns="90000" bIns="46800"/>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1400">
              <a:latin typeface="Arial" panose="020B0604020202020204" pitchFamily="34" charset="0"/>
            </a:endParaRPr>
          </a:p>
        </p:txBody>
      </p:sp>
      <p:graphicFrame>
        <p:nvGraphicFramePr>
          <p:cNvPr id="325684" name="Group 52">
            <a:extLst>
              <a:ext uri="{FF2B5EF4-FFF2-40B4-BE49-F238E27FC236}">
                <a16:creationId xmlns:a16="http://schemas.microsoft.com/office/drawing/2014/main" id="{D9D8D511-3307-410B-998A-1E581C875DE6}"/>
              </a:ext>
            </a:extLst>
          </p:cNvPr>
          <p:cNvGraphicFramePr>
            <a:graphicFrameLocks noGrp="1"/>
          </p:cNvGraphicFramePr>
          <p:nvPr/>
        </p:nvGraphicFramePr>
        <p:xfrm>
          <a:off x="1066800" y="1127125"/>
          <a:ext cx="4681538" cy="5645150"/>
        </p:xfrm>
        <a:graphic>
          <a:graphicData uri="http://schemas.openxmlformats.org/drawingml/2006/table">
            <a:tbl>
              <a:tblPr/>
              <a:tblGrid>
                <a:gridCol w="4681538">
                  <a:extLst>
                    <a:ext uri="{9D8B030D-6E8A-4147-A177-3AD203B41FA5}">
                      <a16:colId xmlns:a16="http://schemas.microsoft.com/office/drawing/2014/main" val="20000"/>
                    </a:ext>
                  </a:extLst>
                </a:gridCol>
              </a:tblGrid>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802.0 SEC</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0"/>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802.1 High Level Interface (HILI)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1"/>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802.2 Logical Link Control (LLC)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802.3 CSMA/CD Working Group</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802.4 Token Bus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4"/>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802.5 Token Ring</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5"/>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rPr>
                        <a:t>802.6 Metropolitan Area Network (MAN)</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6"/>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802.7 BroadBand Technical Adv. Group (BBTAG)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7"/>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802.8 Fiber Optics Technical Adv. Group (FOTAG)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8"/>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802.9 Integrated Services LAN (ISLAN)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9"/>
                  </a:ext>
                </a:extLst>
              </a:tr>
              <a:tr h="520330">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802.10 Standard for Interoperable LAN Security (SILS)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10"/>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802.11 Wireless LAN (WLAN)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1"/>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802.12 Demand Priority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12"/>
                  </a:ext>
                </a:extLst>
              </a:tr>
              <a:tr h="520330">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802.14 Cable-TV Based Broadband Communication Network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13"/>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802.15 Wireless Personal Area Network (WPAN)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14"/>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802.16 Broadband Wireless Access (BBWA) </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15"/>
                  </a:ext>
                </a:extLst>
              </a:tr>
              <a:tr h="306966">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chemeClr val="tx1"/>
                          </a:solidFill>
                          <a:effectLst/>
                          <a:latin typeface="Comic Sans MS" pitchFamily="66" charset="0"/>
                          <a:ea typeface="Times New Roman" pitchFamily="18" charset="0"/>
                          <a:cs typeface="TimesNewRoman"/>
                        </a:rPr>
                        <a:t>RPRSG Resilient Packet Ring Study Group (RPRSG)</a:t>
                      </a:r>
                    </a:p>
                  </a:txBody>
                  <a:tcPr marL="90000" marR="90000" marT="46801" marB="468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16"/>
                  </a:ext>
                </a:extLst>
              </a:tr>
            </a:tbl>
          </a:graphicData>
        </a:graphic>
      </p:graphicFrame>
      <p:graphicFrame>
        <p:nvGraphicFramePr>
          <p:cNvPr id="325674" name="Group 42">
            <a:extLst>
              <a:ext uri="{FF2B5EF4-FFF2-40B4-BE49-F238E27FC236}">
                <a16:creationId xmlns:a16="http://schemas.microsoft.com/office/drawing/2014/main" id="{1065BFD1-7517-4DB0-A879-2840B37CB052}"/>
              </a:ext>
            </a:extLst>
          </p:cNvPr>
          <p:cNvGraphicFramePr>
            <a:graphicFrameLocks noGrp="1"/>
          </p:cNvGraphicFramePr>
          <p:nvPr/>
        </p:nvGraphicFramePr>
        <p:xfrm>
          <a:off x="6396038" y="1919288"/>
          <a:ext cx="2519362" cy="952501"/>
        </p:xfrm>
        <a:graphic>
          <a:graphicData uri="http://schemas.openxmlformats.org/drawingml/2006/table">
            <a:tbl>
              <a:tblPr/>
              <a:tblGrid>
                <a:gridCol w="2519362">
                  <a:extLst>
                    <a:ext uri="{9D8B030D-6E8A-4147-A177-3AD203B41FA5}">
                      <a16:colId xmlns:a16="http://schemas.microsoft.com/office/drawing/2014/main" val="20000"/>
                    </a:ext>
                  </a:extLst>
                </a:gridCol>
              </a:tblGrid>
              <a:tr h="338295">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rgbClr val="000000"/>
                          </a:solidFill>
                          <a:effectLst/>
                          <a:latin typeface="Comic Sans MS" pitchFamily="66" charset="0"/>
                          <a:cs typeface="Times New Roman" pitchFamily="18" charset="0"/>
                        </a:rPr>
                        <a:t>IEEE 802.3  - 10    Mbit</a:t>
                      </a:r>
                      <a:endParaRPr kumimoji="0" lang="en-US" sz="1400" b="0" i="0" u="none" strike="noStrike" cap="none" normalizeH="0" baseline="0">
                        <a:ln>
                          <a:noFill/>
                        </a:ln>
                        <a:solidFill>
                          <a:schemeClr val="tx1"/>
                        </a:solidFill>
                        <a:effectLst/>
                        <a:latin typeface="Comic Sans MS" pitchFamily="66" charset="0"/>
                        <a:cs typeface="Times New Roman" pitchFamily="18" charset="0"/>
                      </a:endParaRPr>
                    </a:p>
                  </a:txBody>
                  <a:tcPr marL="90000" marR="90000" marT="46822" marB="468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0"/>
                  </a:ext>
                </a:extLst>
              </a:tr>
              <a:tr h="307103">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rgbClr val="000000"/>
                          </a:solidFill>
                          <a:effectLst/>
                          <a:latin typeface="Comic Sans MS" pitchFamily="66" charset="0"/>
                          <a:cs typeface="Times New Roman" pitchFamily="18" charset="0"/>
                        </a:rPr>
                        <a:t>IEEE 802.3u - 100  Mbit</a:t>
                      </a:r>
                    </a:p>
                  </a:txBody>
                  <a:tcPr marL="90000" marR="90000" marT="46822" marB="468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1"/>
                  </a:ext>
                </a:extLst>
              </a:tr>
              <a:tr h="307103">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1" i="0" u="none" strike="noStrike" cap="none" normalizeH="0" baseline="0">
                          <a:ln>
                            <a:noFill/>
                          </a:ln>
                          <a:solidFill>
                            <a:srgbClr val="000000"/>
                          </a:solidFill>
                          <a:effectLst/>
                          <a:latin typeface="Comic Sans MS" pitchFamily="66" charset="0"/>
                          <a:cs typeface="Times New Roman" pitchFamily="18" charset="0"/>
                        </a:rPr>
                        <a:t>IEEE 802.3z - 1000 Mbit</a:t>
                      </a:r>
                    </a:p>
                  </a:txBody>
                  <a:tcPr marL="90000" marR="90000" marT="46822" marB="468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Slide Number Placeholder 5">
            <a:extLst>
              <a:ext uri="{FF2B5EF4-FFF2-40B4-BE49-F238E27FC236}">
                <a16:creationId xmlns:a16="http://schemas.microsoft.com/office/drawing/2014/main" id="{427EA36C-67D9-464C-9173-2F14ACB345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B96387B5-BF40-4666-9A47-BC3AB510AC7A}" type="slidenum">
              <a:rPr lang="en-US" altLang="en-US" sz="1400" smtClean="0">
                <a:latin typeface="Times New Roman" panose="02020603050405020304" pitchFamily="18" charset="0"/>
              </a:rPr>
              <a:pPr>
                <a:spcBef>
                  <a:spcPct val="0"/>
                </a:spcBef>
                <a:buClrTx/>
                <a:buSzTx/>
                <a:buFontTx/>
                <a:buNone/>
              </a:pPr>
              <a:t>5</a:t>
            </a:fld>
            <a:endParaRPr lang="en-US" altLang="en-US" sz="1400">
              <a:latin typeface="Times New Roman" panose="02020603050405020304" pitchFamily="18" charset="0"/>
            </a:endParaRPr>
          </a:p>
        </p:txBody>
      </p:sp>
      <p:sp>
        <p:nvSpPr>
          <p:cNvPr id="265219" name="Rectangle 2">
            <a:extLst>
              <a:ext uri="{FF2B5EF4-FFF2-40B4-BE49-F238E27FC236}">
                <a16:creationId xmlns:a16="http://schemas.microsoft.com/office/drawing/2014/main" id="{E56D0D5A-60F0-42E5-830D-5350FE6E7383}"/>
              </a:ext>
            </a:extLst>
          </p:cNvPr>
          <p:cNvSpPr>
            <a:spLocks noGrp="1" noChangeArrowheads="1"/>
          </p:cNvSpPr>
          <p:nvPr>
            <p:ph type="title"/>
          </p:nvPr>
        </p:nvSpPr>
        <p:spPr/>
        <p:txBody>
          <a:bodyPr/>
          <a:lstStyle/>
          <a:p>
            <a:r>
              <a:rPr lang="en-US" altLang="en-US"/>
              <a:t>IEEE 802 LAN Standard Family</a:t>
            </a:r>
            <a:endParaRPr lang="en-US" altLang="ko-KR">
              <a:ea typeface="Gulim" panose="020B0600000101010101" pitchFamily="34" charset="-127"/>
            </a:endParaRPr>
          </a:p>
        </p:txBody>
      </p:sp>
      <p:sp>
        <p:nvSpPr>
          <p:cNvPr id="265220" name="Rectangle 3">
            <a:extLst>
              <a:ext uri="{FF2B5EF4-FFF2-40B4-BE49-F238E27FC236}">
                <a16:creationId xmlns:a16="http://schemas.microsoft.com/office/drawing/2014/main" id="{824247F0-69C9-4126-84CC-0AE6B301C991}"/>
              </a:ext>
            </a:extLst>
          </p:cNvPr>
          <p:cNvSpPr>
            <a:spLocks noChangeArrowheads="1"/>
          </p:cNvSpPr>
          <p:nvPr/>
        </p:nvSpPr>
        <p:spPr bwMode="auto">
          <a:xfrm>
            <a:off x="1219200" y="2606675"/>
            <a:ext cx="4876800" cy="914400"/>
          </a:xfrm>
          <a:prstGeom prst="rect">
            <a:avLst/>
          </a:prstGeom>
          <a:solidFill>
            <a:srgbClr val="3399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latin typeface="Tahoma" panose="020B0604030504040204" pitchFamily="34" charset="0"/>
                <a:ea typeface="Gulim" panose="020B0600000101010101" pitchFamily="34" charset="-127"/>
              </a:rPr>
              <a:t>802.2</a:t>
            </a:r>
          </a:p>
          <a:p>
            <a:pPr eaLnBrk="1" hangingPunct="1">
              <a:spcBef>
                <a:spcPct val="0"/>
              </a:spcBef>
              <a:buClrTx/>
              <a:buSzTx/>
              <a:buFontTx/>
              <a:buNone/>
            </a:pPr>
            <a:r>
              <a:rPr lang="en-US" altLang="en-US" sz="2400">
                <a:latin typeface="Tahoma" panose="020B0604030504040204" pitchFamily="34" charset="0"/>
                <a:ea typeface="Gulim" panose="020B0600000101010101" pitchFamily="34" charset="-127"/>
              </a:rPr>
              <a:t>Logical Link Control (LLC)</a:t>
            </a:r>
          </a:p>
        </p:txBody>
      </p:sp>
      <p:sp>
        <p:nvSpPr>
          <p:cNvPr id="265221" name="Rectangle 4">
            <a:extLst>
              <a:ext uri="{FF2B5EF4-FFF2-40B4-BE49-F238E27FC236}">
                <a16:creationId xmlns:a16="http://schemas.microsoft.com/office/drawing/2014/main" id="{97105E25-9F64-4D46-9205-1AF41C5D8C33}"/>
              </a:ext>
            </a:extLst>
          </p:cNvPr>
          <p:cNvSpPr>
            <a:spLocks noChangeArrowheads="1"/>
          </p:cNvSpPr>
          <p:nvPr/>
        </p:nvSpPr>
        <p:spPr bwMode="auto">
          <a:xfrm>
            <a:off x="1219200" y="3521075"/>
            <a:ext cx="1219200" cy="1828800"/>
          </a:xfrm>
          <a:prstGeom prst="rect">
            <a:avLst/>
          </a:prstGeom>
          <a:solidFill>
            <a:srgbClr val="FFFF66"/>
          </a:solidFill>
          <a:ln w="9525">
            <a:solidFill>
              <a:schemeClr val="accent2"/>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100">
                <a:solidFill>
                  <a:schemeClr val="bg2"/>
                </a:solidFill>
                <a:latin typeface="Tahoma" panose="020B0604030504040204" pitchFamily="34" charset="0"/>
                <a:ea typeface="Gulim" panose="020B0600000101010101" pitchFamily="34" charset="-127"/>
              </a:rPr>
              <a:t>802.3</a:t>
            </a:r>
          </a:p>
          <a:p>
            <a:pPr eaLnBrk="1" hangingPunct="1">
              <a:spcBef>
                <a:spcPct val="0"/>
              </a:spcBef>
              <a:buClrTx/>
              <a:buSzTx/>
              <a:buFontTx/>
              <a:buNone/>
            </a:pPr>
            <a:r>
              <a:rPr lang="en-US" altLang="en-US" sz="2100">
                <a:solidFill>
                  <a:schemeClr val="bg2"/>
                </a:solidFill>
                <a:latin typeface="Tahoma" panose="020B0604030504040204" pitchFamily="34" charset="0"/>
                <a:ea typeface="Gulim" panose="020B0600000101010101" pitchFamily="34" charset="-127"/>
              </a:rPr>
              <a:t>CSMA/CD</a:t>
            </a:r>
          </a:p>
          <a:p>
            <a:pPr eaLnBrk="1" hangingPunct="1">
              <a:spcBef>
                <a:spcPct val="0"/>
              </a:spcBef>
              <a:buClrTx/>
              <a:buSzTx/>
              <a:buFontTx/>
              <a:buNone/>
            </a:pPr>
            <a:endParaRPr lang="en-US" altLang="en-US" sz="2100">
              <a:solidFill>
                <a:schemeClr val="bg2"/>
              </a:solidFill>
              <a:latin typeface="Tahoma" panose="020B0604030504040204" pitchFamily="34" charset="0"/>
              <a:ea typeface="Gulim" panose="020B0600000101010101" pitchFamily="34" charset="-127"/>
            </a:endParaRPr>
          </a:p>
        </p:txBody>
      </p:sp>
      <p:sp>
        <p:nvSpPr>
          <p:cNvPr id="265222" name="Rectangle 5">
            <a:extLst>
              <a:ext uri="{FF2B5EF4-FFF2-40B4-BE49-F238E27FC236}">
                <a16:creationId xmlns:a16="http://schemas.microsoft.com/office/drawing/2014/main" id="{6C3B888E-D3AC-4B96-8259-7C98D734B526}"/>
              </a:ext>
            </a:extLst>
          </p:cNvPr>
          <p:cNvSpPr>
            <a:spLocks noChangeArrowheads="1"/>
          </p:cNvSpPr>
          <p:nvPr/>
        </p:nvSpPr>
        <p:spPr bwMode="auto">
          <a:xfrm>
            <a:off x="2438400" y="3521075"/>
            <a:ext cx="1219200" cy="1828800"/>
          </a:xfrm>
          <a:prstGeom prst="rect">
            <a:avLst/>
          </a:prstGeom>
          <a:solidFill>
            <a:srgbClr val="FFFF66"/>
          </a:solidFill>
          <a:ln w="9525">
            <a:solidFill>
              <a:schemeClr val="accent2"/>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solidFill>
                  <a:schemeClr val="bg2"/>
                </a:solidFill>
                <a:latin typeface="Tahoma" panose="020B0604030504040204" pitchFamily="34" charset="0"/>
                <a:ea typeface="Gulim" panose="020B0600000101010101" pitchFamily="34" charset="-127"/>
              </a:rPr>
              <a:t>802.4</a:t>
            </a:r>
          </a:p>
          <a:p>
            <a:pPr eaLnBrk="1" hangingPunct="1">
              <a:spcBef>
                <a:spcPct val="0"/>
              </a:spcBef>
              <a:buClrTx/>
              <a:buSzTx/>
              <a:buFontTx/>
              <a:buNone/>
            </a:pPr>
            <a:r>
              <a:rPr lang="en-US" altLang="en-US" sz="2400">
                <a:solidFill>
                  <a:schemeClr val="bg2"/>
                </a:solidFill>
                <a:latin typeface="Tahoma" panose="020B0604030504040204" pitchFamily="34" charset="0"/>
                <a:ea typeface="Gulim" panose="020B0600000101010101" pitchFamily="34" charset="-127"/>
              </a:rPr>
              <a:t>Token</a:t>
            </a:r>
          </a:p>
          <a:p>
            <a:pPr eaLnBrk="1" hangingPunct="1">
              <a:spcBef>
                <a:spcPct val="0"/>
              </a:spcBef>
              <a:buClrTx/>
              <a:buSzTx/>
              <a:buFontTx/>
              <a:buNone/>
            </a:pPr>
            <a:r>
              <a:rPr lang="en-US" altLang="en-US" sz="2400">
                <a:solidFill>
                  <a:schemeClr val="bg2"/>
                </a:solidFill>
                <a:latin typeface="Tahoma" panose="020B0604030504040204" pitchFamily="34" charset="0"/>
                <a:ea typeface="Gulim" panose="020B0600000101010101" pitchFamily="34" charset="-127"/>
              </a:rPr>
              <a:t>Bus</a:t>
            </a:r>
          </a:p>
        </p:txBody>
      </p:sp>
      <p:sp>
        <p:nvSpPr>
          <p:cNvPr id="265223" name="Rectangle 6">
            <a:extLst>
              <a:ext uri="{FF2B5EF4-FFF2-40B4-BE49-F238E27FC236}">
                <a16:creationId xmlns:a16="http://schemas.microsoft.com/office/drawing/2014/main" id="{EA53F4D0-AE4A-4E57-A7B5-2AFDD92C4D43}"/>
              </a:ext>
            </a:extLst>
          </p:cNvPr>
          <p:cNvSpPr>
            <a:spLocks noChangeArrowheads="1"/>
          </p:cNvSpPr>
          <p:nvPr/>
        </p:nvSpPr>
        <p:spPr bwMode="auto">
          <a:xfrm>
            <a:off x="3657600" y="3521075"/>
            <a:ext cx="1219200" cy="1828800"/>
          </a:xfrm>
          <a:prstGeom prst="rect">
            <a:avLst/>
          </a:prstGeom>
          <a:solidFill>
            <a:srgbClr val="FFFF66"/>
          </a:solidFill>
          <a:ln w="9525">
            <a:solidFill>
              <a:schemeClr val="accent2"/>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solidFill>
                  <a:schemeClr val="bg2"/>
                </a:solidFill>
                <a:latin typeface="Tahoma" panose="020B0604030504040204" pitchFamily="34" charset="0"/>
                <a:ea typeface="Gulim" panose="020B0600000101010101" pitchFamily="34" charset="-127"/>
              </a:rPr>
              <a:t>802.5</a:t>
            </a:r>
          </a:p>
          <a:p>
            <a:pPr eaLnBrk="1" hangingPunct="1">
              <a:spcBef>
                <a:spcPct val="0"/>
              </a:spcBef>
              <a:buClrTx/>
              <a:buSzTx/>
              <a:buFontTx/>
              <a:buNone/>
            </a:pPr>
            <a:r>
              <a:rPr lang="en-US" altLang="en-US" sz="2400">
                <a:solidFill>
                  <a:schemeClr val="bg2"/>
                </a:solidFill>
                <a:latin typeface="Tahoma" panose="020B0604030504040204" pitchFamily="34" charset="0"/>
                <a:ea typeface="Gulim" panose="020B0600000101010101" pitchFamily="34" charset="-127"/>
              </a:rPr>
              <a:t>Token</a:t>
            </a:r>
          </a:p>
          <a:p>
            <a:pPr eaLnBrk="1" hangingPunct="1">
              <a:spcBef>
                <a:spcPct val="0"/>
              </a:spcBef>
              <a:buClrTx/>
              <a:buSzTx/>
              <a:buFontTx/>
              <a:buNone/>
            </a:pPr>
            <a:r>
              <a:rPr lang="en-US" altLang="en-US" sz="2400">
                <a:solidFill>
                  <a:schemeClr val="bg2"/>
                </a:solidFill>
                <a:latin typeface="Tahoma" panose="020B0604030504040204" pitchFamily="34" charset="0"/>
                <a:ea typeface="Gulim" panose="020B0600000101010101" pitchFamily="34" charset="-127"/>
              </a:rPr>
              <a:t>Ring</a:t>
            </a:r>
          </a:p>
        </p:txBody>
      </p:sp>
      <p:sp>
        <p:nvSpPr>
          <p:cNvPr id="265224" name="Rectangle 7">
            <a:extLst>
              <a:ext uri="{FF2B5EF4-FFF2-40B4-BE49-F238E27FC236}">
                <a16:creationId xmlns:a16="http://schemas.microsoft.com/office/drawing/2014/main" id="{7905DDF4-C0AC-4C0A-828C-2C375A8736CF}"/>
              </a:ext>
            </a:extLst>
          </p:cNvPr>
          <p:cNvSpPr>
            <a:spLocks noChangeArrowheads="1"/>
          </p:cNvSpPr>
          <p:nvPr/>
        </p:nvSpPr>
        <p:spPr bwMode="auto">
          <a:xfrm>
            <a:off x="4876800" y="3521075"/>
            <a:ext cx="1219200" cy="1828800"/>
          </a:xfrm>
          <a:prstGeom prst="rect">
            <a:avLst/>
          </a:prstGeom>
          <a:solidFill>
            <a:srgbClr val="FFFF66"/>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solidFill>
                  <a:schemeClr val="bg2"/>
                </a:solidFill>
                <a:latin typeface="Tahoma" panose="020B0604030504040204" pitchFamily="34" charset="0"/>
                <a:ea typeface="Gulim" panose="020B0600000101010101" pitchFamily="34" charset="-127"/>
              </a:rPr>
              <a:t>802.11</a:t>
            </a:r>
          </a:p>
          <a:p>
            <a:pPr eaLnBrk="1" hangingPunct="1">
              <a:spcBef>
                <a:spcPct val="0"/>
              </a:spcBef>
              <a:buClrTx/>
              <a:buSzTx/>
              <a:buFontTx/>
              <a:buNone/>
            </a:pPr>
            <a:r>
              <a:rPr lang="en-US" altLang="en-US" sz="2400">
                <a:solidFill>
                  <a:schemeClr val="bg2"/>
                </a:solidFill>
                <a:latin typeface="Tahoma" panose="020B0604030504040204" pitchFamily="34" charset="0"/>
                <a:ea typeface="Gulim" panose="020B0600000101010101" pitchFamily="34" charset="-127"/>
              </a:rPr>
              <a:t>Wireless</a:t>
            </a:r>
          </a:p>
          <a:p>
            <a:pPr eaLnBrk="1" hangingPunct="1">
              <a:spcBef>
                <a:spcPct val="0"/>
              </a:spcBef>
              <a:buClrTx/>
              <a:buSzTx/>
              <a:buFontTx/>
              <a:buNone/>
            </a:pPr>
            <a:endParaRPr lang="en-US" altLang="en-US" sz="2400">
              <a:solidFill>
                <a:schemeClr val="bg2"/>
              </a:solidFill>
              <a:latin typeface="Tahoma" panose="020B0604030504040204" pitchFamily="34" charset="0"/>
              <a:ea typeface="Gulim" panose="020B0600000101010101" pitchFamily="34" charset="-127"/>
            </a:endParaRPr>
          </a:p>
        </p:txBody>
      </p:sp>
      <p:sp>
        <p:nvSpPr>
          <p:cNvPr id="265225" name="Line 8">
            <a:extLst>
              <a:ext uri="{FF2B5EF4-FFF2-40B4-BE49-F238E27FC236}">
                <a16:creationId xmlns:a16="http://schemas.microsoft.com/office/drawing/2014/main" id="{035550EE-5AB3-43B3-ADC5-EF7DEDB3FF2A}"/>
              </a:ext>
            </a:extLst>
          </p:cNvPr>
          <p:cNvSpPr>
            <a:spLocks noChangeShapeType="1"/>
          </p:cNvSpPr>
          <p:nvPr/>
        </p:nvSpPr>
        <p:spPr bwMode="auto">
          <a:xfrm>
            <a:off x="6096000" y="2606675"/>
            <a:ext cx="2438400" cy="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65226" name="Line 9">
            <a:extLst>
              <a:ext uri="{FF2B5EF4-FFF2-40B4-BE49-F238E27FC236}">
                <a16:creationId xmlns:a16="http://schemas.microsoft.com/office/drawing/2014/main" id="{1B36565C-02DE-44D8-A389-A5CC47A6952E}"/>
              </a:ext>
            </a:extLst>
          </p:cNvPr>
          <p:cNvSpPr>
            <a:spLocks noChangeShapeType="1"/>
          </p:cNvSpPr>
          <p:nvPr/>
        </p:nvSpPr>
        <p:spPr bwMode="auto">
          <a:xfrm>
            <a:off x="6096000" y="4054475"/>
            <a:ext cx="2438400" cy="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65227" name="Line 10">
            <a:extLst>
              <a:ext uri="{FF2B5EF4-FFF2-40B4-BE49-F238E27FC236}">
                <a16:creationId xmlns:a16="http://schemas.microsoft.com/office/drawing/2014/main" id="{71635DED-5155-4333-BE9B-C6DF3F145554}"/>
              </a:ext>
            </a:extLst>
          </p:cNvPr>
          <p:cNvSpPr>
            <a:spLocks noChangeShapeType="1"/>
          </p:cNvSpPr>
          <p:nvPr/>
        </p:nvSpPr>
        <p:spPr bwMode="auto">
          <a:xfrm>
            <a:off x="6096000" y="5349875"/>
            <a:ext cx="2438400" cy="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65228" name="Line 11">
            <a:extLst>
              <a:ext uri="{FF2B5EF4-FFF2-40B4-BE49-F238E27FC236}">
                <a16:creationId xmlns:a16="http://schemas.microsoft.com/office/drawing/2014/main" id="{71DC1B6B-E982-49E6-BC4B-4CEA14EAEBD9}"/>
              </a:ext>
            </a:extLst>
          </p:cNvPr>
          <p:cNvSpPr>
            <a:spLocks noChangeShapeType="1"/>
          </p:cNvSpPr>
          <p:nvPr/>
        </p:nvSpPr>
        <p:spPr bwMode="auto">
          <a:xfrm>
            <a:off x="6096000" y="3521075"/>
            <a:ext cx="914400" cy="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65229" name="Text Box 12">
            <a:extLst>
              <a:ext uri="{FF2B5EF4-FFF2-40B4-BE49-F238E27FC236}">
                <a16:creationId xmlns:a16="http://schemas.microsoft.com/office/drawing/2014/main" id="{1D7F8A19-3955-4B6F-889F-FB5128A15435}"/>
              </a:ext>
            </a:extLst>
          </p:cNvPr>
          <p:cNvSpPr txBox="1">
            <a:spLocks noChangeArrowheads="1"/>
          </p:cNvSpPr>
          <p:nvPr/>
        </p:nvSpPr>
        <p:spPr bwMode="auto">
          <a:xfrm>
            <a:off x="7162800" y="2987675"/>
            <a:ext cx="12430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000">
                <a:latin typeface="Tahoma" panose="020B0604030504040204" pitchFamily="34" charset="0"/>
                <a:ea typeface="Gulim" panose="020B0600000101010101" pitchFamily="34" charset="-127"/>
              </a:rPr>
              <a:t>Layer 2</a:t>
            </a:r>
          </a:p>
          <a:p>
            <a:pPr eaLnBrk="1" hangingPunct="1">
              <a:spcBef>
                <a:spcPct val="0"/>
              </a:spcBef>
              <a:buClrTx/>
              <a:buSzTx/>
              <a:buFontTx/>
              <a:buNone/>
            </a:pPr>
            <a:r>
              <a:rPr lang="en-US" altLang="en-US" sz="2000">
                <a:latin typeface="Tahoma" panose="020B0604030504040204" pitchFamily="34" charset="0"/>
                <a:ea typeface="Gulim" panose="020B0600000101010101" pitchFamily="34" charset="-127"/>
              </a:rPr>
              <a:t>Data Link</a:t>
            </a:r>
          </a:p>
        </p:txBody>
      </p:sp>
      <p:sp>
        <p:nvSpPr>
          <p:cNvPr id="265230" name="Text Box 13">
            <a:extLst>
              <a:ext uri="{FF2B5EF4-FFF2-40B4-BE49-F238E27FC236}">
                <a16:creationId xmlns:a16="http://schemas.microsoft.com/office/drawing/2014/main" id="{7A7882F4-F857-4451-A1C1-08E0919EF389}"/>
              </a:ext>
            </a:extLst>
          </p:cNvPr>
          <p:cNvSpPr txBox="1">
            <a:spLocks noChangeArrowheads="1"/>
          </p:cNvSpPr>
          <p:nvPr/>
        </p:nvSpPr>
        <p:spPr bwMode="auto">
          <a:xfrm>
            <a:off x="7315200" y="4267200"/>
            <a:ext cx="1073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000">
                <a:latin typeface="Tahoma" panose="020B0604030504040204" pitchFamily="34" charset="0"/>
                <a:ea typeface="Gulim" panose="020B0600000101010101" pitchFamily="34" charset="-127"/>
              </a:rPr>
              <a:t>Layer 1</a:t>
            </a:r>
          </a:p>
          <a:p>
            <a:pPr eaLnBrk="1" hangingPunct="1">
              <a:spcBef>
                <a:spcPct val="0"/>
              </a:spcBef>
              <a:buClrTx/>
              <a:buSzTx/>
              <a:buFontTx/>
              <a:buNone/>
            </a:pPr>
            <a:r>
              <a:rPr lang="en-US" altLang="en-US" sz="2000">
                <a:latin typeface="Tahoma" panose="020B0604030504040204" pitchFamily="34" charset="0"/>
                <a:ea typeface="Gulim" panose="020B0600000101010101" pitchFamily="34" charset="-127"/>
              </a:rPr>
              <a:t>Physical</a:t>
            </a:r>
          </a:p>
        </p:txBody>
      </p:sp>
      <p:sp>
        <p:nvSpPr>
          <p:cNvPr id="265231" name="Text Box 14">
            <a:extLst>
              <a:ext uri="{FF2B5EF4-FFF2-40B4-BE49-F238E27FC236}">
                <a16:creationId xmlns:a16="http://schemas.microsoft.com/office/drawing/2014/main" id="{F4DC2FC4-21A3-4F06-8962-1C1E9ECD25E3}"/>
              </a:ext>
            </a:extLst>
          </p:cNvPr>
          <p:cNvSpPr txBox="1">
            <a:spLocks noChangeArrowheads="1"/>
          </p:cNvSpPr>
          <p:nvPr/>
        </p:nvSpPr>
        <p:spPr bwMode="auto">
          <a:xfrm>
            <a:off x="6172200" y="3521075"/>
            <a:ext cx="684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000">
                <a:solidFill>
                  <a:schemeClr val="accent2"/>
                </a:solidFill>
                <a:latin typeface="Tahoma" panose="020B0604030504040204" pitchFamily="34" charset="0"/>
                <a:ea typeface="Gulim" panose="020B0600000101010101" pitchFamily="34" charset="-127"/>
              </a:rPr>
              <a:t>MAC</a:t>
            </a:r>
          </a:p>
        </p:txBody>
      </p:sp>
      <p:sp>
        <p:nvSpPr>
          <p:cNvPr id="265232" name="Text Box 15">
            <a:extLst>
              <a:ext uri="{FF2B5EF4-FFF2-40B4-BE49-F238E27FC236}">
                <a16:creationId xmlns:a16="http://schemas.microsoft.com/office/drawing/2014/main" id="{17258870-6569-4AB7-821B-583154AB607F}"/>
              </a:ext>
            </a:extLst>
          </p:cNvPr>
          <p:cNvSpPr txBox="1">
            <a:spLocks noChangeArrowheads="1"/>
          </p:cNvSpPr>
          <p:nvPr/>
        </p:nvSpPr>
        <p:spPr bwMode="auto">
          <a:xfrm>
            <a:off x="6248400" y="4419600"/>
            <a:ext cx="641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000">
                <a:solidFill>
                  <a:schemeClr val="accent2"/>
                </a:solidFill>
                <a:latin typeface="Tahoma" panose="020B0604030504040204" pitchFamily="34" charset="0"/>
                <a:ea typeface="Gulim" panose="020B0600000101010101" pitchFamily="34" charset="-127"/>
              </a:rPr>
              <a:t>PHY</a:t>
            </a:r>
          </a:p>
        </p:txBody>
      </p:sp>
      <p:sp>
        <p:nvSpPr>
          <p:cNvPr id="265233" name="Line 16">
            <a:extLst>
              <a:ext uri="{FF2B5EF4-FFF2-40B4-BE49-F238E27FC236}">
                <a16:creationId xmlns:a16="http://schemas.microsoft.com/office/drawing/2014/main" id="{11056A77-BB08-4E44-B708-3876282357D0}"/>
              </a:ext>
            </a:extLst>
          </p:cNvPr>
          <p:cNvSpPr>
            <a:spLocks noChangeShapeType="1"/>
          </p:cNvSpPr>
          <p:nvPr/>
        </p:nvSpPr>
        <p:spPr bwMode="auto">
          <a:xfrm>
            <a:off x="6858000" y="3521075"/>
            <a:ext cx="0" cy="533400"/>
          </a:xfrm>
          <a:prstGeom prst="line">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5234" name="Line 17">
            <a:extLst>
              <a:ext uri="{FF2B5EF4-FFF2-40B4-BE49-F238E27FC236}">
                <a16:creationId xmlns:a16="http://schemas.microsoft.com/office/drawing/2014/main" id="{A797DD9E-FDE4-4F23-A565-DFDB92D702C4}"/>
              </a:ext>
            </a:extLst>
          </p:cNvPr>
          <p:cNvSpPr>
            <a:spLocks noChangeShapeType="1"/>
          </p:cNvSpPr>
          <p:nvPr/>
        </p:nvSpPr>
        <p:spPr bwMode="auto">
          <a:xfrm>
            <a:off x="6858000" y="4054475"/>
            <a:ext cx="0" cy="1295400"/>
          </a:xfrm>
          <a:prstGeom prst="line">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5235" name="Line 18">
            <a:extLst>
              <a:ext uri="{FF2B5EF4-FFF2-40B4-BE49-F238E27FC236}">
                <a16:creationId xmlns:a16="http://schemas.microsoft.com/office/drawing/2014/main" id="{756DDA47-4708-4516-8A5C-BECB71A83120}"/>
              </a:ext>
            </a:extLst>
          </p:cNvPr>
          <p:cNvSpPr>
            <a:spLocks noChangeShapeType="1"/>
          </p:cNvSpPr>
          <p:nvPr/>
        </p:nvSpPr>
        <p:spPr bwMode="auto">
          <a:xfrm>
            <a:off x="8382000" y="2530475"/>
            <a:ext cx="0" cy="1524000"/>
          </a:xfrm>
          <a:prstGeom prst="line">
            <a:avLst/>
          </a:prstGeom>
          <a:noFill/>
          <a:ln w="1905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5236" name="Line 19">
            <a:extLst>
              <a:ext uri="{FF2B5EF4-FFF2-40B4-BE49-F238E27FC236}">
                <a16:creationId xmlns:a16="http://schemas.microsoft.com/office/drawing/2014/main" id="{87AFB81B-CFCA-41A9-9E0C-435DF3AD3930}"/>
              </a:ext>
            </a:extLst>
          </p:cNvPr>
          <p:cNvSpPr>
            <a:spLocks noChangeShapeType="1"/>
          </p:cNvSpPr>
          <p:nvPr/>
        </p:nvSpPr>
        <p:spPr bwMode="auto">
          <a:xfrm>
            <a:off x="8382000" y="4054475"/>
            <a:ext cx="0" cy="1295400"/>
          </a:xfrm>
          <a:prstGeom prst="line">
            <a:avLst/>
          </a:prstGeom>
          <a:noFill/>
          <a:ln w="1905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5237" name="Text Box 20">
            <a:extLst>
              <a:ext uri="{FF2B5EF4-FFF2-40B4-BE49-F238E27FC236}">
                <a16:creationId xmlns:a16="http://schemas.microsoft.com/office/drawing/2014/main" id="{94A78AC8-7114-4251-AA5F-D01A0EFF7844}"/>
              </a:ext>
            </a:extLst>
          </p:cNvPr>
          <p:cNvSpPr txBox="1">
            <a:spLocks noChangeArrowheads="1"/>
          </p:cNvSpPr>
          <p:nvPr/>
        </p:nvSpPr>
        <p:spPr bwMode="auto">
          <a:xfrm>
            <a:off x="7046913" y="2057400"/>
            <a:ext cx="1479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000">
                <a:latin typeface="Tahoma" panose="020B0604030504040204" pitchFamily="34" charset="0"/>
                <a:ea typeface="Gulim" panose="020B0600000101010101" pitchFamily="34" charset="-127"/>
              </a:rPr>
              <a:t>Layer 3-5/7</a:t>
            </a:r>
          </a:p>
        </p:txBody>
      </p:sp>
      <p:sp>
        <p:nvSpPr>
          <p:cNvPr id="262165" name="Rectangle 21">
            <a:extLst>
              <a:ext uri="{FF2B5EF4-FFF2-40B4-BE49-F238E27FC236}">
                <a16:creationId xmlns:a16="http://schemas.microsoft.com/office/drawing/2014/main" id="{ACB786B8-E321-4058-8423-1594544AAFEB}"/>
              </a:ext>
            </a:extLst>
          </p:cNvPr>
          <p:cNvSpPr>
            <a:spLocks noChangeArrowheads="1"/>
          </p:cNvSpPr>
          <p:nvPr/>
        </p:nvSpPr>
        <p:spPr bwMode="auto">
          <a:xfrm>
            <a:off x="1201738" y="3502025"/>
            <a:ext cx="1219200" cy="1828800"/>
          </a:xfrm>
          <a:prstGeom prst="rect">
            <a:avLst/>
          </a:prstGeom>
          <a:noFill/>
          <a:ln w="571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21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6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Slide Number Placeholder 5">
            <a:extLst>
              <a:ext uri="{FF2B5EF4-FFF2-40B4-BE49-F238E27FC236}">
                <a16:creationId xmlns:a16="http://schemas.microsoft.com/office/drawing/2014/main" id="{3C2828FA-D015-4AE8-A7F7-50A246504A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2C8F9DEF-7C8B-4E72-84A1-71A37FAD3D53}" type="slidenum">
              <a:rPr lang="en-US" altLang="en-US" sz="1400" smtClean="0">
                <a:latin typeface="Times New Roman" panose="02020603050405020304" pitchFamily="18" charset="0"/>
              </a:rPr>
              <a:pPr>
                <a:spcBef>
                  <a:spcPct val="0"/>
                </a:spcBef>
                <a:buClrTx/>
                <a:buSzTx/>
                <a:buFontTx/>
                <a:buNone/>
              </a:pPr>
              <a:t>6</a:t>
            </a:fld>
            <a:endParaRPr lang="en-US" altLang="en-US" sz="1400">
              <a:latin typeface="Times New Roman" panose="02020603050405020304" pitchFamily="18" charset="0"/>
            </a:endParaRPr>
          </a:p>
        </p:txBody>
      </p:sp>
      <p:sp>
        <p:nvSpPr>
          <p:cNvPr id="266243" name="Rectangle 2">
            <a:extLst>
              <a:ext uri="{FF2B5EF4-FFF2-40B4-BE49-F238E27FC236}">
                <a16:creationId xmlns:a16="http://schemas.microsoft.com/office/drawing/2014/main" id="{650A6554-2034-43F4-A8F5-969034CBBB17}"/>
              </a:ext>
            </a:extLst>
          </p:cNvPr>
          <p:cNvSpPr>
            <a:spLocks noGrp="1" noChangeArrowheads="1"/>
          </p:cNvSpPr>
          <p:nvPr>
            <p:ph type="title"/>
          </p:nvPr>
        </p:nvSpPr>
        <p:spPr>
          <a:xfrm>
            <a:off x="533400" y="-50800"/>
            <a:ext cx="7772400" cy="1143000"/>
          </a:xfrm>
        </p:spPr>
        <p:txBody>
          <a:bodyPr/>
          <a:lstStyle/>
          <a:p>
            <a:r>
              <a:rPr lang="en-US" altLang="en-US"/>
              <a:t>Tầng liên kết dữ liệu </a:t>
            </a:r>
            <a:r>
              <a:rPr lang="en-US" altLang="en-US" sz="2800"/>
              <a:t>(trình bày lại!)</a:t>
            </a:r>
          </a:p>
        </p:txBody>
      </p:sp>
      <p:sp>
        <p:nvSpPr>
          <p:cNvPr id="266244" name="Rectangle 3">
            <a:extLst>
              <a:ext uri="{FF2B5EF4-FFF2-40B4-BE49-F238E27FC236}">
                <a16:creationId xmlns:a16="http://schemas.microsoft.com/office/drawing/2014/main" id="{3BB16323-E693-48A1-9A9E-7B997DA4215E}"/>
              </a:ext>
            </a:extLst>
          </p:cNvPr>
          <p:cNvSpPr>
            <a:spLocks noGrp="1" noChangeArrowheads="1"/>
          </p:cNvSpPr>
          <p:nvPr>
            <p:ph type="body" idx="1"/>
          </p:nvPr>
        </p:nvSpPr>
        <p:spPr>
          <a:xfrm>
            <a:off x="0" y="1216025"/>
            <a:ext cx="9144000" cy="5400675"/>
          </a:xfrm>
        </p:spPr>
        <p:txBody>
          <a:bodyPr/>
          <a:lstStyle/>
          <a:p>
            <a:pPr>
              <a:lnSpc>
                <a:spcPct val="90000"/>
              </a:lnSpc>
            </a:pPr>
            <a:r>
              <a:rPr lang="en-US" altLang="en-US"/>
              <a:t>Dịch vụ: phân phát (tin cậy) các gói dữ liệu giữa các trạm gần kề (hàng xóm)</a:t>
            </a:r>
          </a:p>
          <a:p>
            <a:pPr>
              <a:lnSpc>
                <a:spcPct val="90000"/>
              </a:lnSpc>
            </a:pPr>
            <a:r>
              <a:rPr lang="en-US" altLang="en-US"/>
              <a:t>Điều khiển truy cập phương tiện truyền (MAC)</a:t>
            </a:r>
          </a:p>
          <a:p>
            <a:pPr lvl="1">
              <a:lnSpc>
                <a:spcPct val="90000"/>
              </a:lnSpc>
            </a:pPr>
            <a:r>
              <a:rPr lang="en-US" altLang="en-US"/>
              <a:t>Quy định việc truyền dữ liệu lên phương tiện truyền chia sẻ</a:t>
            </a:r>
          </a:p>
          <a:p>
            <a:pPr lvl="1">
              <a:lnSpc>
                <a:spcPct val="90000"/>
              </a:lnSpc>
            </a:pPr>
            <a:r>
              <a:rPr lang="en-US" altLang="en-US"/>
              <a:t>Dựng khung và đánh địa chỉ</a:t>
            </a:r>
          </a:p>
          <a:p>
            <a:pPr lvl="1">
              <a:lnSpc>
                <a:spcPct val="90000"/>
              </a:lnSpc>
            </a:pPr>
            <a:r>
              <a:rPr lang="en-US" altLang="en-US"/>
              <a:t>Liên hệ với các thành phần vật lý được dùng để truyền thông tin</a:t>
            </a:r>
            <a:endParaRPr lang="en-US" altLang="en-US" sz="2800"/>
          </a:p>
          <a:p>
            <a:pPr>
              <a:lnSpc>
                <a:spcPct val="90000"/>
              </a:lnSpc>
            </a:pPr>
            <a:r>
              <a:rPr lang="en-US" altLang="en-US"/>
              <a:t>Kiểm soát kết nối luận lý (LLC)</a:t>
            </a:r>
          </a:p>
          <a:p>
            <a:pPr lvl="1">
              <a:lnSpc>
                <a:spcPct val="90000"/>
              </a:lnSpc>
            </a:pPr>
            <a:r>
              <a:rPr lang="en-US" altLang="en-US"/>
              <a:t>Có những chức năng kiểm soát quá trình truyền thông với độ tin cậy cao</a:t>
            </a:r>
          </a:p>
          <a:p>
            <a:pPr lvl="1">
              <a:lnSpc>
                <a:spcPct val="90000"/>
              </a:lnSpc>
            </a:pPr>
            <a:r>
              <a:rPr lang="en-US" altLang="en-US"/>
              <a:t>Làm cầu nối cho phép giao tiếp chung</a:t>
            </a:r>
          </a:p>
          <a:p>
            <a:pPr lvl="1">
              <a:lnSpc>
                <a:spcPct val="90000"/>
              </a:lnSpc>
            </a:pPr>
            <a:r>
              <a:rPr lang="en-US" altLang="en-US"/>
              <a:t>Nhận thông tin từ tầng mạng ở bên gửi và chuyển đến cổng thích hợp của hệ thống đích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Slide Number Placeholder 5">
            <a:extLst>
              <a:ext uri="{FF2B5EF4-FFF2-40B4-BE49-F238E27FC236}">
                <a16:creationId xmlns:a16="http://schemas.microsoft.com/office/drawing/2014/main" id="{3D371892-F4DF-480D-82F7-F4D0AF6370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8848D1E4-768F-4D31-8034-9AD3AB940550}" type="slidenum">
              <a:rPr lang="en-US" altLang="en-US" sz="1400" smtClean="0">
                <a:latin typeface="Times New Roman" panose="02020603050405020304" pitchFamily="18" charset="0"/>
              </a:rPr>
              <a:pPr>
                <a:spcBef>
                  <a:spcPct val="0"/>
                </a:spcBef>
                <a:buClrTx/>
                <a:buSzTx/>
                <a:buFontTx/>
                <a:buNone/>
              </a:pPr>
              <a:t>7</a:t>
            </a:fld>
            <a:endParaRPr lang="en-US" altLang="en-US" sz="1400">
              <a:latin typeface="Times New Roman" panose="02020603050405020304" pitchFamily="18" charset="0"/>
            </a:endParaRPr>
          </a:p>
        </p:txBody>
      </p:sp>
      <p:sp>
        <p:nvSpPr>
          <p:cNvPr id="268291" name="Rectangle 2">
            <a:extLst>
              <a:ext uri="{FF2B5EF4-FFF2-40B4-BE49-F238E27FC236}">
                <a16:creationId xmlns:a16="http://schemas.microsoft.com/office/drawing/2014/main" id="{321B1524-CCA0-4E1E-800A-E40CB9DA4739}"/>
              </a:ext>
            </a:extLst>
          </p:cNvPr>
          <p:cNvSpPr>
            <a:spLocks noGrp="1" noChangeArrowheads="1"/>
          </p:cNvSpPr>
          <p:nvPr>
            <p:ph type="title"/>
          </p:nvPr>
        </p:nvSpPr>
        <p:spPr>
          <a:xfrm>
            <a:off x="533400" y="36513"/>
            <a:ext cx="7772400" cy="1143000"/>
          </a:xfrm>
        </p:spPr>
        <p:txBody>
          <a:bodyPr/>
          <a:lstStyle/>
          <a:p>
            <a:r>
              <a:rPr lang="en-US" altLang="en-US"/>
              <a:t>Lớp phụ LLC</a:t>
            </a:r>
          </a:p>
        </p:txBody>
      </p:sp>
      <p:sp>
        <p:nvSpPr>
          <p:cNvPr id="268292" name="Rectangle 3">
            <a:extLst>
              <a:ext uri="{FF2B5EF4-FFF2-40B4-BE49-F238E27FC236}">
                <a16:creationId xmlns:a16="http://schemas.microsoft.com/office/drawing/2014/main" id="{C5B5AAE0-847D-47BA-91BC-6AD965F1FDA5}"/>
              </a:ext>
            </a:extLst>
          </p:cNvPr>
          <p:cNvSpPr>
            <a:spLocks noGrp="1" noChangeArrowheads="1"/>
          </p:cNvSpPr>
          <p:nvPr>
            <p:ph type="body" idx="1"/>
          </p:nvPr>
        </p:nvSpPr>
        <p:spPr>
          <a:xfrm>
            <a:off x="228600" y="4572000"/>
            <a:ext cx="8839200" cy="1905000"/>
          </a:xfrm>
        </p:spPr>
        <p:txBody>
          <a:bodyPr/>
          <a:lstStyle/>
          <a:p>
            <a:pPr>
              <a:lnSpc>
                <a:spcPct val="80000"/>
              </a:lnSpc>
            </a:pPr>
            <a:r>
              <a:rPr lang="en-US" altLang="en-US" sz="2400"/>
              <a:t>Đơn vị dữ liệu giao thức của LLC:</a:t>
            </a:r>
          </a:p>
          <a:p>
            <a:pPr lvl="1">
              <a:lnSpc>
                <a:spcPct val="80000"/>
              </a:lnSpc>
            </a:pPr>
            <a:r>
              <a:rPr lang="en-US" altLang="en-US"/>
              <a:t>DSAP:	điểm truy cập dịch vụ của hệ thống đích</a:t>
            </a:r>
          </a:p>
          <a:p>
            <a:pPr lvl="1">
              <a:lnSpc>
                <a:spcPct val="80000"/>
              </a:lnSpc>
            </a:pPr>
            <a:r>
              <a:rPr lang="en-US" altLang="en-US"/>
              <a:t>SSAP:	điểm truy cập dịch vụ của hệ thống nguồn</a:t>
            </a:r>
          </a:p>
          <a:p>
            <a:pPr>
              <a:lnSpc>
                <a:spcPct val="80000"/>
              </a:lnSpc>
            </a:pPr>
            <a:r>
              <a:rPr lang="en-US" altLang="en-US" sz="2400"/>
              <a:t>Hỗ trợ các phương pháp kiểm soát kết nối được chỉ rõ bởi các giao thức ở tầng trên</a:t>
            </a:r>
          </a:p>
        </p:txBody>
      </p:sp>
      <p:sp>
        <p:nvSpPr>
          <p:cNvPr id="268293" name="Rectangle 4">
            <a:extLst>
              <a:ext uri="{FF2B5EF4-FFF2-40B4-BE49-F238E27FC236}">
                <a16:creationId xmlns:a16="http://schemas.microsoft.com/office/drawing/2014/main" id="{2CFC790D-88EB-4547-8B8F-7A7B4E9665D6}"/>
              </a:ext>
            </a:extLst>
          </p:cNvPr>
          <p:cNvSpPr>
            <a:spLocks noChangeArrowheads="1"/>
          </p:cNvSpPr>
          <p:nvPr/>
        </p:nvSpPr>
        <p:spPr bwMode="auto">
          <a:xfrm>
            <a:off x="5029200" y="1143000"/>
            <a:ext cx="1905000" cy="609600"/>
          </a:xfrm>
          <a:prstGeom prst="rect">
            <a:avLst/>
          </a:prstGeom>
          <a:solidFill>
            <a:srgbClr val="FFFFCC"/>
          </a:solidFill>
          <a:ln w="381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40000"/>
              </a:spcBef>
              <a:buClr>
                <a:srgbClr val="6699FF"/>
              </a:buClr>
              <a:buSzTx/>
              <a:buFontTx/>
              <a:buNone/>
            </a:pPr>
            <a:r>
              <a:rPr lang="en-US" altLang="en-US" b="1">
                <a:solidFill>
                  <a:schemeClr val="tx2"/>
                </a:solidFill>
                <a:latin typeface="Arial" panose="020B0604020202020204" pitchFamily="34" charset="0"/>
              </a:rPr>
              <a:t>Packet</a:t>
            </a:r>
          </a:p>
        </p:txBody>
      </p:sp>
      <p:grpSp>
        <p:nvGrpSpPr>
          <p:cNvPr id="268294" name="Group 5">
            <a:extLst>
              <a:ext uri="{FF2B5EF4-FFF2-40B4-BE49-F238E27FC236}">
                <a16:creationId xmlns:a16="http://schemas.microsoft.com/office/drawing/2014/main" id="{A774A771-857E-4396-AE53-F5D00A1E472F}"/>
              </a:ext>
            </a:extLst>
          </p:cNvPr>
          <p:cNvGrpSpPr>
            <a:grpSpLocks/>
          </p:cNvGrpSpPr>
          <p:nvPr/>
        </p:nvGrpSpPr>
        <p:grpSpPr bwMode="auto">
          <a:xfrm>
            <a:off x="4114800" y="1752600"/>
            <a:ext cx="3124200" cy="1219200"/>
            <a:chOff x="912" y="1392"/>
            <a:chExt cx="1968" cy="768"/>
          </a:xfrm>
        </p:grpSpPr>
        <p:sp>
          <p:nvSpPr>
            <p:cNvPr id="268303" name="Rectangle 6">
              <a:extLst>
                <a:ext uri="{FF2B5EF4-FFF2-40B4-BE49-F238E27FC236}">
                  <a16:creationId xmlns:a16="http://schemas.microsoft.com/office/drawing/2014/main" id="{8A21CC38-0CAB-4EEC-8ECE-6F1CF58DF183}"/>
                </a:ext>
              </a:extLst>
            </p:cNvPr>
            <p:cNvSpPr>
              <a:spLocks noChangeArrowheads="1"/>
            </p:cNvSpPr>
            <p:nvPr/>
          </p:nvSpPr>
          <p:spPr bwMode="auto">
            <a:xfrm>
              <a:off x="912" y="1680"/>
              <a:ext cx="1968" cy="480"/>
            </a:xfrm>
            <a:prstGeom prst="rect">
              <a:avLst/>
            </a:prstGeom>
            <a:solidFill>
              <a:schemeClr val="hlink"/>
            </a:solidFill>
            <a:ln w="381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68304" name="Rectangle 7">
              <a:extLst>
                <a:ext uri="{FF2B5EF4-FFF2-40B4-BE49-F238E27FC236}">
                  <a16:creationId xmlns:a16="http://schemas.microsoft.com/office/drawing/2014/main" id="{E046D506-56E0-4124-8AE4-51B13B001F42}"/>
                </a:ext>
              </a:extLst>
            </p:cNvPr>
            <p:cNvSpPr>
              <a:spLocks noChangeArrowheads="1"/>
            </p:cNvSpPr>
            <p:nvPr/>
          </p:nvSpPr>
          <p:spPr bwMode="auto">
            <a:xfrm>
              <a:off x="1488" y="1728"/>
              <a:ext cx="1200" cy="384"/>
            </a:xfrm>
            <a:prstGeom prst="rect">
              <a:avLst/>
            </a:prstGeom>
            <a:solidFill>
              <a:srgbClr val="FFFFCC"/>
            </a:solidFill>
            <a:ln w="381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40000"/>
                </a:spcBef>
                <a:buClr>
                  <a:srgbClr val="6699FF"/>
                </a:buClr>
                <a:buSzTx/>
                <a:buFontTx/>
                <a:buNone/>
              </a:pPr>
              <a:r>
                <a:rPr lang="en-US" altLang="en-US" b="1">
                  <a:solidFill>
                    <a:schemeClr val="tx2"/>
                  </a:solidFill>
                  <a:latin typeface="Arial" panose="020B0604020202020204" pitchFamily="34" charset="0"/>
                </a:rPr>
                <a:t>Packet</a:t>
              </a:r>
            </a:p>
          </p:txBody>
        </p:sp>
        <p:sp>
          <p:nvSpPr>
            <p:cNvPr id="268305" name="Line 8">
              <a:extLst>
                <a:ext uri="{FF2B5EF4-FFF2-40B4-BE49-F238E27FC236}">
                  <a16:creationId xmlns:a16="http://schemas.microsoft.com/office/drawing/2014/main" id="{9065B216-EA2A-4139-B20E-A255FDCBCBDC}"/>
                </a:ext>
              </a:extLst>
            </p:cNvPr>
            <p:cNvSpPr>
              <a:spLocks noChangeShapeType="1"/>
            </p:cNvSpPr>
            <p:nvPr/>
          </p:nvSpPr>
          <p:spPr bwMode="auto">
            <a:xfrm>
              <a:off x="2064" y="1392"/>
              <a:ext cx="0" cy="288"/>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68295" name="Group 9">
            <a:extLst>
              <a:ext uri="{FF2B5EF4-FFF2-40B4-BE49-F238E27FC236}">
                <a16:creationId xmlns:a16="http://schemas.microsoft.com/office/drawing/2014/main" id="{57F52FA2-2E63-4AC1-8FBC-9F6649B16BCA}"/>
              </a:ext>
            </a:extLst>
          </p:cNvPr>
          <p:cNvGrpSpPr>
            <a:grpSpLocks/>
          </p:cNvGrpSpPr>
          <p:nvPr/>
        </p:nvGrpSpPr>
        <p:grpSpPr bwMode="auto">
          <a:xfrm>
            <a:off x="3200400" y="2971800"/>
            <a:ext cx="4343400" cy="1371600"/>
            <a:chOff x="336" y="2160"/>
            <a:chExt cx="2736" cy="864"/>
          </a:xfrm>
        </p:grpSpPr>
        <p:sp>
          <p:nvSpPr>
            <p:cNvPr id="268299" name="Rectangle 10">
              <a:extLst>
                <a:ext uri="{FF2B5EF4-FFF2-40B4-BE49-F238E27FC236}">
                  <a16:creationId xmlns:a16="http://schemas.microsoft.com/office/drawing/2014/main" id="{8A9699FB-FCA8-499A-8FCE-9C0EC85A95F8}"/>
                </a:ext>
              </a:extLst>
            </p:cNvPr>
            <p:cNvSpPr>
              <a:spLocks noChangeArrowheads="1"/>
            </p:cNvSpPr>
            <p:nvPr/>
          </p:nvSpPr>
          <p:spPr bwMode="auto">
            <a:xfrm>
              <a:off x="336" y="2448"/>
              <a:ext cx="2736" cy="576"/>
            </a:xfrm>
            <a:prstGeom prst="rect">
              <a:avLst/>
            </a:prstGeom>
            <a:solidFill>
              <a:srgbClr val="FFCCFF"/>
            </a:solidFill>
            <a:ln w="381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68300" name="Rectangle 11">
              <a:extLst>
                <a:ext uri="{FF2B5EF4-FFF2-40B4-BE49-F238E27FC236}">
                  <a16:creationId xmlns:a16="http://schemas.microsoft.com/office/drawing/2014/main" id="{71A39A79-FBA4-4E84-877C-1AEEEA0341FD}"/>
                </a:ext>
              </a:extLst>
            </p:cNvPr>
            <p:cNvSpPr>
              <a:spLocks noChangeArrowheads="1"/>
            </p:cNvSpPr>
            <p:nvPr/>
          </p:nvSpPr>
          <p:spPr bwMode="auto">
            <a:xfrm>
              <a:off x="912" y="2496"/>
              <a:ext cx="1968" cy="480"/>
            </a:xfrm>
            <a:prstGeom prst="rect">
              <a:avLst/>
            </a:prstGeom>
            <a:solidFill>
              <a:schemeClr val="hlink"/>
            </a:solidFill>
            <a:ln w="381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68301" name="Rectangle 12">
              <a:extLst>
                <a:ext uri="{FF2B5EF4-FFF2-40B4-BE49-F238E27FC236}">
                  <a16:creationId xmlns:a16="http://schemas.microsoft.com/office/drawing/2014/main" id="{3FD6FCDE-82E6-43C9-ABC5-AA3AA2AD08A3}"/>
                </a:ext>
              </a:extLst>
            </p:cNvPr>
            <p:cNvSpPr>
              <a:spLocks noChangeArrowheads="1"/>
            </p:cNvSpPr>
            <p:nvPr/>
          </p:nvSpPr>
          <p:spPr bwMode="auto">
            <a:xfrm>
              <a:off x="1488" y="2544"/>
              <a:ext cx="1200" cy="384"/>
            </a:xfrm>
            <a:prstGeom prst="rect">
              <a:avLst/>
            </a:prstGeom>
            <a:solidFill>
              <a:srgbClr val="FFFFCC"/>
            </a:solidFill>
            <a:ln w="381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40000"/>
                </a:spcBef>
                <a:buClr>
                  <a:srgbClr val="6699FF"/>
                </a:buClr>
                <a:buSzTx/>
                <a:buFontTx/>
                <a:buNone/>
              </a:pPr>
              <a:r>
                <a:rPr lang="en-US" altLang="en-US" b="1">
                  <a:solidFill>
                    <a:schemeClr val="tx2"/>
                  </a:solidFill>
                  <a:latin typeface="Arial" panose="020B0604020202020204" pitchFamily="34" charset="0"/>
                </a:rPr>
                <a:t>Packet</a:t>
              </a:r>
            </a:p>
          </p:txBody>
        </p:sp>
        <p:sp>
          <p:nvSpPr>
            <p:cNvPr id="268302" name="Line 13">
              <a:extLst>
                <a:ext uri="{FF2B5EF4-FFF2-40B4-BE49-F238E27FC236}">
                  <a16:creationId xmlns:a16="http://schemas.microsoft.com/office/drawing/2014/main" id="{82C76C92-F01F-41E8-A0C0-4A53EC504292}"/>
                </a:ext>
              </a:extLst>
            </p:cNvPr>
            <p:cNvSpPr>
              <a:spLocks noChangeShapeType="1"/>
            </p:cNvSpPr>
            <p:nvPr/>
          </p:nvSpPr>
          <p:spPr bwMode="auto">
            <a:xfrm>
              <a:off x="2064" y="2160"/>
              <a:ext cx="0" cy="288"/>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pic>
        <p:nvPicPr>
          <p:cNvPr id="268296" name="Picture 14">
            <a:extLst>
              <a:ext uri="{FF2B5EF4-FFF2-40B4-BE49-F238E27FC236}">
                <a16:creationId xmlns:a16="http://schemas.microsoft.com/office/drawing/2014/main" id="{F1451771-B60C-40CA-896D-69CFDB1483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13" y="1981200"/>
            <a:ext cx="2033587"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8297" name="Text Box 15">
            <a:extLst>
              <a:ext uri="{FF2B5EF4-FFF2-40B4-BE49-F238E27FC236}">
                <a16:creationId xmlns:a16="http://schemas.microsoft.com/office/drawing/2014/main" id="{BEA9630E-B65C-4146-A379-54765E01E470}"/>
              </a:ext>
            </a:extLst>
          </p:cNvPr>
          <p:cNvSpPr txBox="1">
            <a:spLocks noChangeArrowheads="1"/>
          </p:cNvSpPr>
          <p:nvPr/>
        </p:nvSpPr>
        <p:spPr bwMode="auto">
          <a:xfrm>
            <a:off x="7239000" y="2376488"/>
            <a:ext cx="1828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40000"/>
              </a:spcBef>
              <a:buClr>
                <a:srgbClr val="6699FF"/>
              </a:buClr>
              <a:buSzTx/>
              <a:buFontTx/>
              <a:buNone/>
            </a:pPr>
            <a:r>
              <a:rPr lang="en-US" altLang="en-US" b="1">
                <a:solidFill>
                  <a:schemeClr val="tx2"/>
                </a:solidFill>
                <a:latin typeface="Arial" panose="020B0604020202020204" pitchFamily="34" charset="0"/>
              </a:rPr>
              <a:t>LLC PDU</a:t>
            </a:r>
          </a:p>
        </p:txBody>
      </p:sp>
      <p:sp>
        <p:nvSpPr>
          <p:cNvPr id="268298" name="Text Box 16">
            <a:extLst>
              <a:ext uri="{FF2B5EF4-FFF2-40B4-BE49-F238E27FC236}">
                <a16:creationId xmlns:a16="http://schemas.microsoft.com/office/drawing/2014/main" id="{93A495B4-C48B-4319-94A4-02E72DC53322}"/>
              </a:ext>
            </a:extLst>
          </p:cNvPr>
          <p:cNvSpPr txBox="1">
            <a:spLocks noChangeArrowheads="1"/>
          </p:cNvSpPr>
          <p:nvPr/>
        </p:nvSpPr>
        <p:spPr bwMode="auto">
          <a:xfrm>
            <a:off x="7696200" y="3581400"/>
            <a:ext cx="129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40000"/>
              </a:spcBef>
              <a:buClr>
                <a:srgbClr val="6699FF"/>
              </a:buClr>
              <a:buSzTx/>
              <a:buFontTx/>
              <a:buNone/>
            </a:pPr>
            <a:r>
              <a:rPr lang="en-US" altLang="en-US" b="1">
                <a:solidFill>
                  <a:schemeClr val="tx2"/>
                </a:solidFill>
                <a:latin typeface="Arial" panose="020B0604020202020204" pitchFamily="34" charset="0"/>
              </a:rPr>
              <a:t>Frame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Slide Number Placeholder 5">
            <a:extLst>
              <a:ext uri="{FF2B5EF4-FFF2-40B4-BE49-F238E27FC236}">
                <a16:creationId xmlns:a16="http://schemas.microsoft.com/office/drawing/2014/main" id="{A037CDA6-CC12-45B6-A1AC-577775D78F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57F94B7-9F6A-452C-AB0C-C563EBD64822}" type="slidenum">
              <a:rPr lang="en-US" altLang="en-US" sz="1400" smtClean="0">
                <a:latin typeface="Times New Roman" panose="02020603050405020304" pitchFamily="18" charset="0"/>
              </a:rPr>
              <a:pPr>
                <a:spcBef>
                  <a:spcPct val="0"/>
                </a:spcBef>
                <a:buClrTx/>
                <a:buSzTx/>
                <a:buFontTx/>
                <a:buNone/>
              </a:pPr>
              <a:t>8</a:t>
            </a:fld>
            <a:endParaRPr lang="en-US" altLang="en-US" sz="1400">
              <a:latin typeface="Times New Roman" panose="02020603050405020304" pitchFamily="18" charset="0"/>
            </a:endParaRPr>
          </a:p>
        </p:txBody>
      </p:sp>
      <p:sp>
        <p:nvSpPr>
          <p:cNvPr id="270339" name="Rectangle 2">
            <a:extLst>
              <a:ext uri="{FF2B5EF4-FFF2-40B4-BE49-F238E27FC236}">
                <a16:creationId xmlns:a16="http://schemas.microsoft.com/office/drawing/2014/main" id="{71120E4D-3C7F-400B-9D47-51743AAB273E}"/>
              </a:ext>
            </a:extLst>
          </p:cNvPr>
          <p:cNvSpPr>
            <a:spLocks noGrp="1" noChangeArrowheads="1"/>
          </p:cNvSpPr>
          <p:nvPr>
            <p:ph type="title"/>
          </p:nvPr>
        </p:nvSpPr>
        <p:spPr>
          <a:xfrm>
            <a:off x="550863" y="106363"/>
            <a:ext cx="7772400" cy="1143000"/>
          </a:xfrm>
        </p:spPr>
        <p:txBody>
          <a:bodyPr/>
          <a:lstStyle/>
          <a:p>
            <a:pPr algn="ctr"/>
            <a:r>
              <a:rPr lang="en-US" altLang="en-US"/>
              <a:t>Chuẩn Ethernet</a:t>
            </a:r>
          </a:p>
        </p:txBody>
      </p:sp>
      <p:sp>
        <p:nvSpPr>
          <p:cNvPr id="270340" name="Rectangle 3">
            <a:extLst>
              <a:ext uri="{FF2B5EF4-FFF2-40B4-BE49-F238E27FC236}">
                <a16:creationId xmlns:a16="http://schemas.microsoft.com/office/drawing/2014/main" id="{E4F1A0BA-32F1-42C9-99BA-419590251942}"/>
              </a:ext>
            </a:extLst>
          </p:cNvPr>
          <p:cNvSpPr>
            <a:spLocks noGrp="1" noChangeArrowheads="1"/>
          </p:cNvSpPr>
          <p:nvPr>
            <p:ph type="body" idx="1"/>
          </p:nvPr>
        </p:nvSpPr>
        <p:spPr>
          <a:xfrm>
            <a:off x="0" y="1422400"/>
            <a:ext cx="9067800" cy="5592763"/>
          </a:xfrm>
        </p:spPr>
        <p:txBody>
          <a:bodyPr/>
          <a:lstStyle/>
          <a:p>
            <a:r>
              <a:rPr lang="en-US" altLang="en-US" sz="2400"/>
              <a:t>Ethernet hiện là họ công nghệ mạng cục bộ được dùng rộng rãi nhất trên thế giới. </a:t>
            </a:r>
            <a:br>
              <a:rPr lang="en-US" altLang="en-US" sz="2400"/>
            </a:br>
            <a:endParaRPr lang="en-US" altLang="en-US" sz="2400"/>
          </a:p>
          <a:p>
            <a:r>
              <a:rPr lang="en-US" altLang="en-US" sz="2400"/>
              <a:t>Chuẩn Ethernet được cung cấp (công bố) lần đầu tiên vào năm 1980 bởi một tiểu ban phối hợp giữa the Digital, Intel, và Xerox (DIX).</a:t>
            </a:r>
            <a:br>
              <a:rPr lang="en-US" altLang="en-US" sz="2400"/>
            </a:br>
            <a:endParaRPr lang="en-US" altLang="en-US" sz="2400"/>
          </a:p>
          <a:p>
            <a:r>
              <a:rPr lang="en-US" altLang="en-US" sz="2400"/>
              <a:t>IEEE lấy DIX Ethernet làm nền tảng cho đặc tả kỹ thuật IEEE 802.3 (1985).</a:t>
            </a:r>
            <a:br>
              <a:rPr lang="en-US" altLang="en-US" sz="2400"/>
            </a:br>
            <a:endParaRPr lang="en-US" altLang="en-US" sz="2400"/>
          </a:p>
          <a:p>
            <a:r>
              <a:rPr lang="en-US" altLang="en-US" sz="2400"/>
              <a:t>Sau đó, IEEE mở rộng thêm các ủy ban mới là 802.3u (Fast Ethernet), 802.3z (Gigabit Ethernet over Fiber), và 802.3ab (Gigabit Ethernet over UTP)...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Slide Number Placeholder 5">
            <a:extLst>
              <a:ext uri="{FF2B5EF4-FFF2-40B4-BE49-F238E27FC236}">
                <a16:creationId xmlns:a16="http://schemas.microsoft.com/office/drawing/2014/main" id="{551DAB9C-42C7-4FEF-BD6F-9BCCFF3DEF4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894FFCAB-24BC-4BAF-AAB0-82FE96A1326B}" type="slidenum">
              <a:rPr lang="en-US" altLang="en-US" sz="1400" smtClean="0">
                <a:latin typeface="Times New Roman" panose="02020603050405020304" pitchFamily="18" charset="0"/>
              </a:rPr>
              <a:pPr>
                <a:spcBef>
                  <a:spcPct val="0"/>
                </a:spcBef>
                <a:buClrTx/>
                <a:buSzTx/>
                <a:buFontTx/>
                <a:buNone/>
              </a:pPr>
              <a:t>9</a:t>
            </a:fld>
            <a:endParaRPr lang="en-US" altLang="en-US" sz="1400">
              <a:latin typeface="Times New Roman" panose="02020603050405020304" pitchFamily="18" charset="0"/>
            </a:endParaRPr>
          </a:p>
        </p:txBody>
      </p:sp>
      <p:sp>
        <p:nvSpPr>
          <p:cNvPr id="272387" name="Rectangle 2">
            <a:extLst>
              <a:ext uri="{FF2B5EF4-FFF2-40B4-BE49-F238E27FC236}">
                <a16:creationId xmlns:a16="http://schemas.microsoft.com/office/drawing/2014/main" id="{DF9EE01E-DB49-436D-8B32-7AA8F6E1FF02}"/>
              </a:ext>
            </a:extLst>
          </p:cNvPr>
          <p:cNvSpPr>
            <a:spLocks noGrp="1" noChangeArrowheads="1"/>
          </p:cNvSpPr>
          <p:nvPr>
            <p:ph type="title"/>
          </p:nvPr>
        </p:nvSpPr>
        <p:spPr>
          <a:xfrm>
            <a:off x="533400" y="19050"/>
            <a:ext cx="7772400" cy="1143000"/>
          </a:xfrm>
        </p:spPr>
        <p:txBody>
          <a:bodyPr/>
          <a:lstStyle/>
          <a:p>
            <a:r>
              <a:rPr lang="en-US" altLang="en-US"/>
              <a:t>Ethernet Standards</a:t>
            </a:r>
          </a:p>
        </p:txBody>
      </p:sp>
      <p:graphicFrame>
        <p:nvGraphicFramePr>
          <p:cNvPr id="272388" name="Object 3">
            <a:extLst>
              <a:ext uri="{FF2B5EF4-FFF2-40B4-BE49-F238E27FC236}">
                <a16:creationId xmlns:a16="http://schemas.microsoft.com/office/drawing/2014/main" id="{538B3B6C-F6BE-46D4-8E71-22D010FB70B5}"/>
              </a:ext>
            </a:extLst>
          </p:cNvPr>
          <p:cNvGraphicFramePr>
            <a:graphicFrameLocks noGrp="1" noChangeAspect="1"/>
          </p:cNvGraphicFramePr>
          <p:nvPr>
            <p:ph idx="1"/>
          </p:nvPr>
        </p:nvGraphicFramePr>
        <p:xfrm>
          <a:off x="223838" y="1368425"/>
          <a:ext cx="8331200" cy="5048250"/>
        </p:xfrm>
        <a:graphic>
          <a:graphicData uri="http://schemas.openxmlformats.org/presentationml/2006/ole">
            <mc:AlternateContent xmlns:mc="http://schemas.openxmlformats.org/markup-compatibility/2006">
              <mc:Choice xmlns:v="urn:schemas-microsoft-com:vml" Requires="v">
                <p:oleObj spid="_x0000_s272403" name="Image" r:id="rId4" imgW="9638095" imgH="5841270" progId="Photoshop.Image.6">
                  <p:embed/>
                </p:oleObj>
              </mc:Choice>
              <mc:Fallback>
                <p:oleObj name="Image" r:id="rId4" imgW="9638095" imgH="5841270" progId="Photoshop.Image.6">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38" y="1368425"/>
                        <a:ext cx="8331200" cy="504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Slide Number Placeholder 5">
            <a:extLst>
              <a:ext uri="{FF2B5EF4-FFF2-40B4-BE49-F238E27FC236}">
                <a16:creationId xmlns:a16="http://schemas.microsoft.com/office/drawing/2014/main" id="{466F20BA-5AA0-4E71-9678-3A61B84171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42D08030-EB19-419D-B90D-6C03AC32F4D2}" type="slidenum">
              <a:rPr lang="en-US" altLang="en-US" sz="1400" smtClean="0">
                <a:latin typeface="Times New Roman" panose="02020603050405020304" pitchFamily="18" charset="0"/>
              </a:rPr>
              <a:pPr>
                <a:spcBef>
                  <a:spcPct val="0"/>
                </a:spcBef>
                <a:buClrTx/>
                <a:buSzTx/>
                <a:buFontTx/>
                <a:buNone/>
              </a:pPr>
              <a:t>10</a:t>
            </a:fld>
            <a:endParaRPr lang="en-US" altLang="en-US" sz="1400">
              <a:latin typeface="Times New Roman" panose="02020603050405020304" pitchFamily="18" charset="0"/>
            </a:endParaRPr>
          </a:p>
        </p:txBody>
      </p:sp>
      <p:sp>
        <p:nvSpPr>
          <p:cNvPr id="274435" name="Rectangle 2">
            <a:extLst>
              <a:ext uri="{FF2B5EF4-FFF2-40B4-BE49-F238E27FC236}">
                <a16:creationId xmlns:a16="http://schemas.microsoft.com/office/drawing/2014/main" id="{3DD2197D-BAD6-49E6-944D-5F32EBB79DA1}"/>
              </a:ext>
            </a:extLst>
          </p:cNvPr>
          <p:cNvSpPr>
            <a:spLocks noGrp="1" noChangeArrowheads="1"/>
          </p:cNvSpPr>
          <p:nvPr>
            <p:ph type="title"/>
          </p:nvPr>
        </p:nvSpPr>
        <p:spPr>
          <a:xfrm>
            <a:off x="533400" y="-33338"/>
            <a:ext cx="7772400" cy="1143001"/>
          </a:xfrm>
        </p:spPr>
        <p:txBody>
          <a:bodyPr/>
          <a:lstStyle/>
          <a:p>
            <a:r>
              <a:rPr lang="en-US" altLang="en-US" sz="3600"/>
              <a:t>Các đặc tả kỹ thuật cho Ethernet Ethernet Specifications</a:t>
            </a:r>
          </a:p>
        </p:txBody>
      </p:sp>
      <p:graphicFrame>
        <p:nvGraphicFramePr>
          <p:cNvPr id="328707" name="Group 3">
            <a:extLst>
              <a:ext uri="{FF2B5EF4-FFF2-40B4-BE49-F238E27FC236}">
                <a16:creationId xmlns:a16="http://schemas.microsoft.com/office/drawing/2014/main" id="{488CE630-D4F5-4319-AE45-394B6E2895C6}"/>
              </a:ext>
            </a:extLst>
          </p:cNvPr>
          <p:cNvGraphicFramePr>
            <a:graphicFrameLocks noGrp="1"/>
          </p:cNvGraphicFramePr>
          <p:nvPr>
            <p:ph idx="1"/>
          </p:nvPr>
        </p:nvGraphicFramePr>
        <p:xfrm>
          <a:off x="233363" y="1135063"/>
          <a:ext cx="8610600" cy="5116517"/>
        </p:xfrm>
        <a:graphic>
          <a:graphicData uri="http://schemas.openxmlformats.org/drawingml/2006/table">
            <a:tbl>
              <a:tblPr/>
              <a:tblGrid>
                <a:gridCol w="1647825">
                  <a:extLst>
                    <a:ext uri="{9D8B030D-6E8A-4147-A177-3AD203B41FA5}">
                      <a16:colId xmlns:a16="http://schemas.microsoft.com/office/drawing/2014/main" val="20000"/>
                    </a:ext>
                  </a:extLst>
                </a:gridCol>
                <a:gridCol w="6962775">
                  <a:extLst>
                    <a:ext uri="{9D8B030D-6E8A-4147-A177-3AD203B41FA5}">
                      <a16:colId xmlns:a16="http://schemas.microsoft.com/office/drawing/2014/main" val="20001"/>
                    </a:ext>
                  </a:extLst>
                </a:gridCol>
              </a:tblGrid>
              <a:tr h="320675">
                <a:tc>
                  <a:txBody>
                    <a:bodyPr/>
                    <a:lstStyle/>
                    <a:p>
                      <a:pPr marL="0" marR="0" lvl="0" indent="0" algn="ctr"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0" i="0" u="none" strike="noStrike" cap="none" normalizeH="0" baseline="0">
                          <a:ln>
                            <a:noFill/>
                          </a:ln>
                          <a:solidFill>
                            <a:schemeClr val="tx1"/>
                          </a:solidFill>
                          <a:effectLst/>
                          <a:latin typeface="Comic Sans MS" pitchFamily="66" charset="0"/>
                          <a:cs typeface="Times New Roman" pitchFamily="18" charset="0"/>
                        </a:rPr>
                        <a:t>Designation</a:t>
                      </a:r>
                      <a:endParaRPr kumimoji="0" lang="en-US" sz="14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009999">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400" b="0" i="0" u="none" strike="noStrike" cap="none" normalizeH="0" baseline="0">
                          <a:ln>
                            <a:noFill/>
                          </a:ln>
                          <a:solidFill>
                            <a:schemeClr val="tx1"/>
                          </a:solidFill>
                          <a:effectLst/>
                          <a:latin typeface="Comic Sans MS" pitchFamily="66" charset="0"/>
                          <a:cs typeface="Times New Roman" pitchFamily="18" charset="0"/>
                        </a:rPr>
                        <a:t>Description</a:t>
                      </a:r>
                      <a:endParaRPr kumimoji="0" lang="en-US" sz="14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009999">
                        <a:alpha val="50000"/>
                      </a:srgbClr>
                    </a:solidFill>
                  </a:tcPr>
                </a:tc>
                <a:extLst>
                  <a:ext uri="{0D108BD9-81ED-4DB2-BD59-A6C34878D82A}">
                    <a16:rowId xmlns:a16="http://schemas.microsoft.com/office/drawing/2014/main" val="10000"/>
                  </a:ext>
                </a:extLst>
              </a:tr>
              <a:tr h="481013">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10Base-2</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 Mbps baseband Ethernet over coaxial cable with a maximum distance of 185 meters. Also referred to as </a:t>
                      </a:r>
                      <a:r>
                        <a:rPr kumimoji="0" lang="en-US" sz="1200" b="0" i="1" u="none" strike="noStrike" cap="none" normalizeH="0" baseline="0">
                          <a:ln>
                            <a:noFill/>
                          </a:ln>
                          <a:solidFill>
                            <a:schemeClr val="tx1"/>
                          </a:solidFill>
                          <a:effectLst/>
                          <a:latin typeface="Comic Sans MS" pitchFamily="66" charset="0"/>
                          <a:cs typeface="Times New Roman" pitchFamily="18" charset="0"/>
                        </a:rPr>
                        <a:t>Thin Ethernet</a:t>
                      </a:r>
                      <a:r>
                        <a:rPr kumimoji="0" lang="en-US" sz="1200" b="0" i="0" u="none" strike="noStrike" cap="none" normalizeH="0" baseline="0">
                          <a:ln>
                            <a:noFill/>
                          </a:ln>
                          <a:solidFill>
                            <a:schemeClr val="tx1"/>
                          </a:solidFill>
                          <a:effectLst/>
                          <a:latin typeface="Comic Sans MS" pitchFamily="66" charset="0"/>
                          <a:cs typeface="Times New Roman" pitchFamily="18" charset="0"/>
                        </a:rPr>
                        <a:t> or </a:t>
                      </a:r>
                      <a:r>
                        <a:rPr kumimoji="0" lang="en-US" sz="1200" b="0" i="1" u="none" strike="noStrike" cap="none" normalizeH="0" baseline="0">
                          <a:ln>
                            <a:noFill/>
                          </a:ln>
                          <a:solidFill>
                            <a:schemeClr val="tx1"/>
                          </a:solidFill>
                          <a:effectLst/>
                          <a:latin typeface="Comic Sans MS" pitchFamily="66" charset="0"/>
                          <a:cs typeface="Times New Roman" pitchFamily="18" charset="0"/>
                        </a:rPr>
                        <a:t>Thinnet</a:t>
                      </a:r>
                      <a:r>
                        <a:rPr kumimoji="0" lang="en-US" sz="1200" b="0" i="0" u="none" strike="noStrike" cap="none" normalizeH="0" baseline="0">
                          <a:ln>
                            <a:noFill/>
                          </a:ln>
                          <a:solidFill>
                            <a:schemeClr val="tx1"/>
                          </a:solidFill>
                          <a:effectLst/>
                          <a:latin typeface="Comic Sans MS" pitchFamily="66" charset="0"/>
                          <a:cs typeface="Times New Roman" pitchFamily="18" charset="0"/>
                        </a:rPr>
                        <a:t> or </a:t>
                      </a:r>
                      <a:r>
                        <a:rPr kumimoji="0" lang="en-US" sz="1200" b="0" i="1" u="none" strike="noStrike" cap="none" normalizeH="0" baseline="0">
                          <a:ln>
                            <a:noFill/>
                          </a:ln>
                          <a:solidFill>
                            <a:schemeClr val="tx1"/>
                          </a:solidFill>
                          <a:effectLst/>
                          <a:latin typeface="Comic Sans MS" pitchFamily="66" charset="0"/>
                          <a:cs typeface="Times New Roman" pitchFamily="18" charset="0"/>
                        </a:rPr>
                        <a:t>Thinwire</a:t>
                      </a:r>
                      <a:r>
                        <a:rPr kumimoji="0" lang="en-US" sz="1200" b="0" i="0" u="none" strike="noStrike" cap="none" normalizeH="0" baseline="0">
                          <a:ln>
                            <a:noFill/>
                          </a:ln>
                          <a:solidFill>
                            <a:schemeClr val="tx1"/>
                          </a:solidFill>
                          <a:effectLst/>
                          <a:latin typeface="Comic Sans MS" pitchFamily="66" charset="0"/>
                          <a:cs typeface="Times New Roman" pitchFamily="18" charset="0"/>
                        </a:rPr>
                        <a:t>.</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1"/>
                  </a:ext>
                </a:extLst>
              </a:tr>
              <a:tr h="481013">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10Base-5</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 Mbps baseband Ethernet over coaxial cable with a maximum distance of 500 meters. Also referred to as </a:t>
                      </a:r>
                      <a:r>
                        <a:rPr kumimoji="0" lang="en-US" sz="1200" b="0" i="1" u="none" strike="noStrike" cap="none" normalizeH="0" baseline="0">
                          <a:ln>
                            <a:noFill/>
                          </a:ln>
                          <a:solidFill>
                            <a:schemeClr val="tx1"/>
                          </a:solidFill>
                          <a:effectLst/>
                          <a:latin typeface="Comic Sans MS" pitchFamily="66" charset="0"/>
                          <a:cs typeface="Times New Roman" pitchFamily="18" charset="0"/>
                        </a:rPr>
                        <a:t>Thick Ethernet</a:t>
                      </a:r>
                      <a:r>
                        <a:rPr kumimoji="0" lang="en-US" sz="1200" b="0" i="0" u="none" strike="noStrike" cap="none" normalizeH="0" baseline="0">
                          <a:ln>
                            <a:noFill/>
                          </a:ln>
                          <a:solidFill>
                            <a:schemeClr val="tx1"/>
                          </a:solidFill>
                          <a:effectLst/>
                          <a:latin typeface="Comic Sans MS" pitchFamily="66" charset="0"/>
                          <a:cs typeface="Times New Roman" pitchFamily="18" charset="0"/>
                        </a:rPr>
                        <a:t> or </a:t>
                      </a:r>
                      <a:r>
                        <a:rPr kumimoji="0" lang="en-US" sz="1200" b="0" i="1" u="none" strike="noStrike" cap="none" normalizeH="0" baseline="0">
                          <a:ln>
                            <a:noFill/>
                          </a:ln>
                          <a:solidFill>
                            <a:schemeClr val="tx1"/>
                          </a:solidFill>
                          <a:effectLst/>
                          <a:latin typeface="Comic Sans MS" pitchFamily="66" charset="0"/>
                          <a:cs typeface="Times New Roman" pitchFamily="18" charset="0"/>
                        </a:rPr>
                        <a:t>Thicknet</a:t>
                      </a:r>
                      <a:r>
                        <a:rPr kumimoji="0" lang="en-US" sz="1200" b="0" i="0" u="none" strike="noStrike" cap="none" normalizeH="0" baseline="0">
                          <a:ln>
                            <a:noFill/>
                          </a:ln>
                          <a:solidFill>
                            <a:schemeClr val="tx1"/>
                          </a:solidFill>
                          <a:effectLst/>
                          <a:latin typeface="Comic Sans MS" pitchFamily="66" charset="0"/>
                          <a:cs typeface="Times New Roman" pitchFamily="18" charset="0"/>
                        </a:rPr>
                        <a:t> or </a:t>
                      </a:r>
                      <a:r>
                        <a:rPr kumimoji="0" lang="en-US" sz="1200" b="0" i="1" u="none" strike="noStrike" cap="none" normalizeH="0" baseline="0">
                          <a:ln>
                            <a:noFill/>
                          </a:ln>
                          <a:solidFill>
                            <a:schemeClr val="tx1"/>
                          </a:solidFill>
                          <a:effectLst/>
                          <a:latin typeface="Comic Sans MS" pitchFamily="66" charset="0"/>
                          <a:cs typeface="Times New Roman" pitchFamily="18" charset="0"/>
                        </a:rPr>
                        <a:t>Thickwire</a:t>
                      </a:r>
                      <a:r>
                        <a:rPr kumimoji="0" lang="en-US" sz="1200" b="0" i="0" u="none" strike="noStrike" cap="none" normalizeH="0" baseline="0">
                          <a:ln>
                            <a:noFill/>
                          </a:ln>
                          <a:solidFill>
                            <a:schemeClr val="tx1"/>
                          </a:solidFill>
                          <a:effectLst/>
                          <a:latin typeface="Comic Sans MS" pitchFamily="66" charset="0"/>
                          <a:cs typeface="Times New Roman" pitchFamily="18" charset="0"/>
                        </a:rPr>
                        <a:t>.</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2"/>
                  </a:ext>
                </a:extLst>
              </a:tr>
              <a:tr h="481013">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10Base-T</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 Mbps baseband Ethernet over twisted pair cables with a maximum length of 100 meters.</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3"/>
                  </a:ext>
                </a:extLst>
              </a:tr>
              <a:tr h="288925">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100Base-FX</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 Mbps baseband Ethernet over two multimode optical fibers.</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4"/>
                  </a:ext>
                </a:extLst>
              </a:tr>
              <a:tr h="288925">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100Base-T</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 Mbps baseband Ethernet over twisted pair cable.</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5"/>
                  </a:ext>
                </a:extLst>
              </a:tr>
              <a:tr h="481013">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100Base-T4</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 Mbps baseband Ethernet over four pairs of Category 3 or higher unshielded twisted pair cable.</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6"/>
                  </a:ext>
                </a:extLst>
              </a:tr>
              <a:tr h="481013">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100Base-TX</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 Mbps baseband Ethernet over two pairs of shielded twisted pair or Category 4 twisted pair cable.</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7"/>
                  </a:ext>
                </a:extLst>
              </a:tr>
              <a:tr h="369888">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1000Base-CX</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1000 Mbps baseband Ethernet over two pairs of 150 shielded twisted pair cable.</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8"/>
                  </a:ext>
                </a:extLst>
              </a:tr>
              <a:tr h="481013">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1000Base-LX</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1000 Mbps baseband Ethernet over two multimode or single-mode optical fibers using longwave laser optics.</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09"/>
                  </a:ext>
                </a:extLst>
              </a:tr>
              <a:tr h="481013">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1000Base-SX</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1000 Mbps baseband Ethernet over two multimode optical fibers using shortwave laser optics.</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10"/>
                  </a:ext>
                </a:extLst>
              </a:tr>
              <a:tr h="481013">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1000Base-T</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85000"/>
                        <a:buFont typeface="ZapfDingbats" pitchFamily="82" charset="2"/>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1000 Mbps baseband Ethernet over four pairs of Category 5 unshielded twisted pair cable.</a:t>
                      </a:r>
                      <a:endParaRPr kumimoji="0" lang="en-US" sz="1200" b="0" i="0" u="none" strike="noStrike" cap="none" normalizeH="0" baseline="0">
                        <a:ln>
                          <a:noFill/>
                        </a:ln>
                        <a:solidFill>
                          <a:schemeClr val="tx1"/>
                        </a:solidFill>
                        <a:effectLst/>
                        <a:latin typeface="Comic Sans MS" pitchFamily="66" charset="0"/>
                      </a:endParaRPr>
                    </a:p>
                  </a:txBody>
                  <a:tcPr marL="90000" marR="90000" marT="46800" marB="4680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00">
                        <a:alpha val="10001"/>
                      </a:srgbClr>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Slide Number Placeholder 5">
            <a:extLst>
              <a:ext uri="{FF2B5EF4-FFF2-40B4-BE49-F238E27FC236}">
                <a16:creationId xmlns:a16="http://schemas.microsoft.com/office/drawing/2014/main" id="{C14B950A-71B3-4737-AF91-BE61E130B0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1126E90-5122-4AF3-B892-A1F0D0DA20F1}" type="slidenum">
              <a:rPr lang="en-US" altLang="en-US" sz="1400" smtClean="0">
                <a:latin typeface="Times New Roman" panose="02020603050405020304" pitchFamily="18" charset="0"/>
              </a:rPr>
              <a:pPr>
                <a:spcBef>
                  <a:spcPct val="0"/>
                </a:spcBef>
                <a:buClrTx/>
                <a:buSzTx/>
                <a:buFontTx/>
                <a:buNone/>
              </a:pPr>
              <a:t>11</a:t>
            </a:fld>
            <a:endParaRPr lang="en-US" altLang="en-US" sz="1400">
              <a:latin typeface="Times New Roman" panose="02020603050405020304" pitchFamily="18" charset="0"/>
            </a:endParaRPr>
          </a:p>
        </p:txBody>
      </p:sp>
      <p:sp>
        <p:nvSpPr>
          <p:cNvPr id="275459" name="Rectangle 2">
            <a:extLst>
              <a:ext uri="{FF2B5EF4-FFF2-40B4-BE49-F238E27FC236}">
                <a16:creationId xmlns:a16="http://schemas.microsoft.com/office/drawing/2014/main" id="{2FBB2EB2-AFEF-4D55-A5D5-1B57E59425CD}"/>
              </a:ext>
            </a:extLst>
          </p:cNvPr>
          <p:cNvSpPr>
            <a:spLocks noGrp="1" noChangeArrowheads="1"/>
          </p:cNvSpPr>
          <p:nvPr>
            <p:ph type="title"/>
          </p:nvPr>
        </p:nvSpPr>
        <p:spPr/>
        <p:txBody>
          <a:bodyPr/>
          <a:lstStyle/>
          <a:p>
            <a:r>
              <a:rPr lang="en-US" altLang="en-US"/>
              <a:t>Ethernet Cable and Connector</a:t>
            </a:r>
          </a:p>
        </p:txBody>
      </p:sp>
      <p:pic>
        <p:nvPicPr>
          <p:cNvPr id="275460" name="Picture 3">
            <a:extLst>
              <a:ext uri="{FF2B5EF4-FFF2-40B4-BE49-F238E27FC236}">
                <a16:creationId xmlns:a16="http://schemas.microsoft.com/office/drawing/2014/main" id="{93A1FA24-C0D6-49E1-BCD8-A8AC1D2AEBA2}"/>
              </a:ext>
            </a:extLst>
          </p:cNvPr>
          <p:cNvPicPr>
            <a:picLocks noChangeAspect="1" noChangeArrowheads="1"/>
          </p:cNvPicPr>
          <p:nvPr/>
        </p:nvPicPr>
        <p:blipFill>
          <a:blip r:embed="rId2">
            <a:lum bright="-2000" contrast="24000"/>
            <a:extLst>
              <a:ext uri="{28A0092B-C50C-407E-A947-70E740481C1C}">
                <a14:useLocalDpi xmlns:a14="http://schemas.microsoft.com/office/drawing/2010/main" val="0"/>
              </a:ext>
            </a:extLst>
          </a:blip>
          <a:srcRect/>
          <a:stretch>
            <a:fillRect/>
          </a:stretch>
        </p:blipFill>
        <p:spPr bwMode="auto">
          <a:xfrm>
            <a:off x="85725" y="1590675"/>
            <a:ext cx="4714875" cy="454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61" name="Picture 4">
            <a:extLst>
              <a:ext uri="{FF2B5EF4-FFF2-40B4-BE49-F238E27FC236}">
                <a16:creationId xmlns:a16="http://schemas.microsoft.com/office/drawing/2014/main" id="{4C814B50-8612-4DFE-AEE2-701D19426F4D}"/>
              </a:ext>
            </a:extLst>
          </p:cNvPr>
          <p:cNvPicPr preferRelativeResize="0">
            <a:picLocks noChangeAspect="1" noChangeArrowheads="1"/>
          </p:cNvPicPr>
          <p:nvPr/>
        </p:nvPicPr>
        <p:blipFill>
          <a:blip r:embed="rId3">
            <a:lum bright="-2000" contrast="24000"/>
            <a:extLst>
              <a:ext uri="{28A0092B-C50C-407E-A947-70E740481C1C}">
                <a14:useLocalDpi xmlns:a14="http://schemas.microsoft.com/office/drawing/2010/main" val="0"/>
              </a:ext>
            </a:extLst>
          </a:blip>
          <a:srcRect/>
          <a:stretch>
            <a:fillRect/>
          </a:stretch>
        </p:blipFill>
        <p:spPr bwMode="auto">
          <a:xfrm>
            <a:off x="4730750" y="1600200"/>
            <a:ext cx="4067175" cy="454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Slide Number Placeholder 5">
            <a:extLst>
              <a:ext uri="{FF2B5EF4-FFF2-40B4-BE49-F238E27FC236}">
                <a16:creationId xmlns:a16="http://schemas.microsoft.com/office/drawing/2014/main" id="{FFBFB787-6BEA-457D-84D7-18D551DDF1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9C7E943-2ED1-4400-A2CA-61CC0F8B9A19}" type="slidenum">
              <a:rPr lang="en-US" altLang="en-US" sz="1400" smtClean="0">
                <a:latin typeface="Times New Roman" panose="02020603050405020304" pitchFamily="18" charset="0"/>
              </a:rPr>
              <a:pPr>
                <a:spcBef>
                  <a:spcPct val="0"/>
                </a:spcBef>
                <a:buClrTx/>
                <a:buSzTx/>
                <a:buFontTx/>
                <a:buNone/>
              </a:pPr>
              <a:t>12</a:t>
            </a:fld>
            <a:endParaRPr lang="en-US" altLang="en-US" sz="1400">
              <a:latin typeface="Times New Roman" panose="02020603050405020304" pitchFamily="18" charset="0"/>
            </a:endParaRPr>
          </a:p>
        </p:txBody>
      </p:sp>
      <p:sp>
        <p:nvSpPr>
          <p:cNvPr id="276483" name="Rectangle 2">
            <a:extLst>
              <a:ext uri="{FF2B5EF4-FFF2-40B4-BE49-F238E27FC236}">
                <a16:creationId xmlns:a16="http://schemas.microsoft.com/office/drawing/2014/main" id="{9A2A4EEC-B3A5-4F95-B10F-05D6C54528BA}"/>
              </a:ext>
            </a:extLst>
          </p:cNvPr>
          <p:cNvSpPr>
            <a:spLocks noGrp="1" noChangeArrowheads="1"/>
          </p:cNvSpPr>
          <p:nvPr>
            <p:ph type="title"/>
          </p:nvPr>
        </p:nvSpPr>
        <p:spPr>
          <a:xfrm>
            <a:off x="533400" y="-15875"/>
            <a:ext cx="7772400" cy="1143000"/>
          </a:xfrm>
        </p:spPr>
        <p:txBody>
          <a:bodyPr/>
          <a:lstStyle/>
          <a:p>
            <a:r>
              <a:rPr lang="en-US" altLang="en-US" sz="3600"/>
              <a:t>Ethernet Cable and Connector </a:t>
            </a:r>
            <a:r>
              <a:rPr lang="en-US" altLang="en-US" sz="2800"/>
              <a:t>(2)</a:t>
            </a:r>
          </a:p>
        </p:txBody>
      </p:sp>
      <p:pic>
        <p:nvPicPr>
          <p:cNvPr id="276484" name="Picture 5">
            <a:extLst>
              <a:ext uri="{FF2B5EF4-FFF2-40B4-BE49-F238E27FC236}">
                <a16:creationId xmlns:a16="http://schemas.microsoft.com/office/drawing/2014/main" id="{EA42662B-1C67-4D5A-8418-E4B0AFC946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 y="2709863"/>
            <a:ext cx="520065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485" name="Picture 6">
            <a:extLst>
              <a:ext uri="{FF2B5EF4-FFF2-40B4-BE49-F238E27FC236}">
                <a16:creationId xmlns:a16="http://schemas.microsoft.com/office/drawing/2014/main" id="{14B4DA78-C3EA-4B35-A85D-D4F37D921F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8725" y="2911475"/>
            <a:ext cx="410527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486" name="Text Box 7">
            <a:extLst>
              <a:ext uri="{FF2B5EF4-FFF2-40B4-BE49-F238E27FC236}">
                <a16:creationId xmlns:a16="http://schemas.microsoft.com/office/drawing/2014/main" id="{2CADC3B2-E59A-49BE-A6D0-DFF8E1D54D92}"/>
              </a:ext>
            </a:extLst>
          </p:cNvPr>
          <p:cNvSpPr txBox="1">
            <a:spLocks noChangeArrowheads="1"/>
          </p:cNvSpPr>
          <p:nvPr/>
        </p:nvSpPr>
        <p:spPr bwMode="auto">
          <a:xfrm>
            <a:off x="0" y="1470025"/>
            <a:ext cx="4105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4000">
                <a:solidFill>
                  <a:schemeClr val="accent2"/>
                </a:solidFill>
              </a:rPr>
              <a:t>Coaxial</a:t>
            </a:r>
            <a:r>
              <a:rPr lang="en-US" altLang="en-US" sz="2400">
                <a:latin typeface="Times New Roman" panose="02020603050405020304" pitchFamily="18" charset="0"/>
              </a:rPr>
              <a:t> </a:t>
            </a:r>
            <a:r>
              <a:rPr lang="en-US" altLang="en-US" sz="4000">
                <a:solidFill>
                  <a:schemeClr val="accent2"/>
                </a:solidFill>
              </a:rPr>
              <a:t>Cable</a:t>
            </a:r>
          </a:p>
        </p:txBody>
      </p:sp>
      <p:sp>
        <p:nvSpPr>
          <p:cNvPr id="276487" name="Text Box 8">
            <a:extLst>
              <a:ext uri="{FF2B5EF4-FFF2-40B4-BE49-F238E27FC236}">
                <a16:creationId xmlns:a16="http://schemas.microsoft.com/office/drawing/2014/main" id="{062ADB72-44C4-40CE-84D0-060318515D5C}"/>
              </a:ext>
            </a:extLst>
          </p:cNvPr>
          <p:cNvSpPr txBox="1">
            <a:spLocks noChangeArrowheads="1"/>
          </p:cNvSpPr>
          <p:nvPr/>
        </p:nvSpPr>
        <p:spPr bwMode="auto">
          <a:xfrm>
            <a:off x="4502150" y="1477963"/>
            <a:ext cx="4641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4000">
                <a:solidFill>
                  <a:schemeClr val="accent2"/>
                </a:solidFill>
              </a:rPr>
              <a:t>Fiber Optic Cable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Slide Number Placeholder 5">
            <a:extLst>
              <a:ext uri="{FF2B5EF4-FFF2-40B4-BE49-F238E27FC236}">
                <a16:creationId xmlns:a16="http://schemas.microsoft.com/office/drawing/2014/main" id="{FB1D8158-3C0F-4C8E-AF37-76B762688D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8765A4F0-7059-4761-8674-29F65C731074}" type="slidenum">
              <a:rPr lang="en-US" altLang="en-US" sz="1400" smtClean="0">
                <a:latin typeface="Times New Roman" panose="02020603050405020304" pitchFamily="18" charset="0"/>
              </a:rPr>
              <a:pPr>
                <a:spcBef>
                  <a:spcPct val="0"/>
                </a:spcBef>
                <a:buClrTx/>
                <a:buSzTx/>
                <a:buFontTx/>
                <a:buNone/>
              </a:pPr>
              <a:t>13</a:t>
            </a:fld>
            <a:endParaRPr lang="en-US" altLang="en-US" sz="1400">
              <a:latin typeface="Times New Roman" panose="02020603050405020304" pitchFamily="18" charset="0"/>
            </a:endParaRPr>
          </a:p>
        </p:txBody>
      </p:sp>
      <p:sp>
        <p:nvSpPr>
          <p:cNvPr id="277507" name="Rectangle 2">
            <a:extLst>
              <a:ext uri="{FF2B5EF4-FFF2-40B4-BE49-F238E27FC236}">
                <a16:creationId xmlns:a16="http://schemas.microsoft.com/office/drawing/2014/main" id="{7C48B8F5-772D-468C-BE18-D3D1301CDD05}"/>
              </a:ext>
            </a:extLst>
          </p:cNvPr>
          <p:cNvSpPr>
            <a:spLocks noGrp="1" noChangeArrowheads="1"/>
          </p:cNvSpPr>
          <p:nvPr>
            <p:ph type="title"/>
          </p:nvPr>
        </p:nvSpPr>
        <p:spPr/>
        <p:txBody>
          <a:bodyPr/>
          <a:lstStyle/>
          <a:p>
            <a:r>
              <a:rPr lang="en-US" altLang="en-US" sz="3600"/>
              <a:t>Ethernet Cable and Connector </a:t>
            </a:r>
            <a:r>
              <a:rPr lang="en-US" altLang="en-US" sz="2800"/>
              <a:t>(3)</a:t>
            </a:r>
          </a:p>
        </p:txBody>
      </p:sp>
      <p:grpSp>
        <p:nvGrpSpPr>
          <p:cNvPr id="277508" name="Group 3">
            <a:extLst>
              <a:ext uri="{FF2B5EF4-FFF2-40B4-BE49-F238E27FC236}">
                <a16:creationId xmlns:a16="http://schemas.microsoft.com/office/drawing/2014/main" id="{6E381C95-50BD-4E2D-B859-F6EE459CFEB8}"/>
              </a:ext>
            </a:extLst>
          </p:cNvPr>
          <p:cNvGrpSpPr>
            <a:grpSpLocks/>
          </p:cNvGrpSpPr>
          <p:nvPr/>
        </p:nvGrpSpPr>
        <p:grpSpPr bwMode="auto">
          <a:xfrm>
            <a:off x="4267200" y="1371600"/>
            <a:ext cx="4270375" cy="1485900"/>
            <a:chOff x="2688" y="864"/>
            <a:chExt cx="2690" cy="936"/>
          </a:xfrm>
        </p:grpSpPr>
        <p:pic>
          <p:nvPicPr>
            <p:cNvPr id="277517" name="Picture 4" descr="10Base2 50 Ohm Coaxial Cable2">
              <a:extLst>
                <a:ext uri="{FF2B5EF4-FFF2-40B4-BE49-F238E27FC236}">
                  <a16:creationId xmlns:a16="http://schemas.microsoft.com/office/drawing/2014/main" id="{6BCAEA85-D2E0-4C9C-AE74-9A0BFE60DE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8" y="864"/>
              <a:ext cx="2690" cy="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518" name="Text Box 5">
              <a:extLst>
                <a:ext uri="{FF2B5EF4-FFF2-40B4-BE49-F238E27FC236}">
                  <a16:creationId xmlns:a16="http://schemas.microsoft.com/office/drawing/2014/main" id="{582A1343-8262-4A12-A30A-0DCFE3174826}"/>
                </a:ext>
              </a:extLst>
            </p:cNvPr>
            <p:cNvSpPr txBox="1">
              <a:spLocks noChangeArrowheads="1"/>
            </p:cNvSpPr>
            <p:nvPr/>
          </p:nvSpPr>
          <p:spPr bwMode="auto">
            <a:xfrm>
              <a:off x="3630" y="1584"/>
              <a:ext cx="102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6699FF"/>
                </a:buClr>
                <a:buSzTx/>
                <a:buFontTx/>
                <a:buNone/>
              </a:pPr>
              <a:r>
                <a:rPr lang="en-US" altLang="ja-JP" sz="1000">
                  <a:latin typeface="Tahoma" panose="020B0604030504040204" pitchFamily="34" charset="0"/>
                  <a:ea typeface="MS Mincho" panose="02020609040205080304" pitchFamily="49" charset="-128"/>
                </a:rPr>
                <a:t>BNC cable connector</a:t>
              </a:r>
              <a:endParaRPr lang="en-US" altLang="en-US" sz="1800">
                <a:latin typeface="Tahoma" panose="020B0604030504040204" pitchFamily="34" charset="0"/>
              </a:endParaRPr>
            </a:p>
          </p:txBody>
        </p:sp>
        <p:sp>
          <p:nvSpPr>
            <p:cNvPr id="277519" name="Line 6">
              <a:extLst>
                <a:ext uri="{FF2B5EF4-FFF2-40B4-BE49-F238E27FC236}">
                  <a16:creationId xmlns:a16="http://schemas.microsoft.com/office/drawing/2014/main" id="{43A49BC1-AAB9-4616-99C3-4F57B02D4E77}"/>
                </a:ext>
              </a:extLst>
            </p:cNvPr>
            <p:cNvSpPr>
              <a:spLocks noChangeShapeType="1"/>
            </p:cNvSpPr>
            <p:nvPr/>
          </p:nvSpPr>
          <p:spPr bwMode="auto">
            <a:xfrm flipH="1" flipV="1">
              <a:off x="3744" y="1296"/>
              <a:ext cx="46" cy="2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pic>
        <p:nvPicPr>
          <p:cNvPr id="277509" name="Picture 7">
            <a:extLst>
              <a:ext uri="{FF2B5EF4-FFF2-40B4-BE49-F238E27FC236}">
                <a16:creationId xmlns:a16="http://schemas.microsoft.com/office/drawing/2014/main" id="{6D1E21D5-CBE5-4665-98DF-D5D02A2B7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00400"/>
            <a:ext cx="256222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510" name="Group 8">
            <a:extLst>
              <a:ext uri="{FF2B5EF4-FFF2-40B4-BE49-F238E27FC236}">
                <a16:creationId xmlns:a16="http://schemas.microsoft.com/office/drawing/2014/main" id="{693A698C-7358-4419-97BC-07F8833284E4}"/>
              </a:ext>
            </a:extLst>
          </p:cNvPr>
          <p:cNvGrpSpPr>
            <a:grpSpLocks/>
          </p:cNvGrpSpPr>
          <p:nvPr/>
        </p:nvGrpSpPr>
        <p:grpSpPr bwMode="auto">
          <a:xfrm>
            <a:off x="5029200" y="3048000"/>
            <a:ext cx="3429000" cy="1676400"/>
            <a:chOff x="3168" y="1920"/>
            <a:chExt cx="1920" cy="905"/>
          </a:xfrm>
        </p:grpSpPr>
        <p:pic>
          <p:nvPicPr>
            <p:cNvPr id="277514" name="Picture 9">
              <a:extLst>
                <a:ext uri="{FF2B5EF4-FFF2-40B4-BE49-F238E27FC236}">
                  <a16:creationId xmlns:a16="http://schemas.microsoft.com/office/drawing/2014/main" id="{8F3914B4-E95D-42B0-8FE3-E57A3F0128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8" y="1920"/>
              <a:ext cx="1912" cy="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515" name="Text Box 10">
              <a:extLst>
                <a:ext uri="{FF2B5EF4-FFF2-40B4-BE49-F238E27FC236}">
                  <a16:creationId xmlns:a16="http://schemas.microsoft.com/office/drawing/2014/main" id="{4B309078-0047-4B6A-BD13-D12183CF223C}"/>
                </a:ext>
              </a:extLst>
            </p:cNvPr>
            <p:cNvSpPr txBox="1">
              <a:spLocks noChangeArrowheads="1"/>
            </p:cNvSpPr>
            <p:nvPr/>
          </p:nvSpPr>
          <p:spPr bwMode="auto">
            <a:xfrm>
              <a:off x="3834" y="1992"/>
              <a:ext cx="125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6699FF"/>
                </a:buClr>
                <a:buSzTx/>
                <a:buFontTx/>
                <a:buNone/>
              </a:pPr>
              <a:r>
                <a:rPr lang="en-US" altLang="ja-JP" sz="1000">
                  <a:latin typeface="Tahoma" panose="020B0604030504040204" pitchFamily="34" charset="0"/>
                  <a:ea typeface="MS Mincho" panose="02020609040205080304" pitchFamily="49" charset="-128"/>
                </a:rPr>
                <a:t>Network Interface Card (NIC)</a:t>
              </a:r>
              <a:endParaRPr lang="en-US" altLang="en-US" sz="1800">
                <a:latin typeface="Tahoma" panose="020B0604030504040204" pitchFamily="34" charset="0"/>
              </a:endParaRPr>
            </a:p>
          </p:txBody>
        </p:sp>
        <p:sp>
          <p:nvSpPr>
            <p:cNvPr id="277516" name="Line 11">
              <a:extLst>
                <a:ext uri="{FF2B5EF4-FFF2-40B4-BE49-F238E27FC236}">
                  <a16:creationId xmlns:a16="http://schemas.microsoft.com/office/drawing/2014/main" id="{CA3B4293-726F-48B2-8C5A-23EBA9C248F1}"/>
                </a:ext>
              </a:extLst>
            </p:cNvPr>
            <p:cNvSpPr>
              <a:spLocks noChangeShapeType="1"/>
            </p:cNvSpPr>
            <p:nvPr/>
          </p:nvSpPr>
          <p:spPr bwMode="auto">
            <a:xfrm flipH="1">
              <a:off x="3971" y="2136"/>
              <a:ext cx="91" cy="2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pic>
        <p:nvPicPr>
          <p:cNvPr id="277511" name="Picture 12">
            <a:extLst>
              <a:ext uri="{FF2B5EF4-FFF2-40B4-BE49-F238E27FC236}">
                <a16:creationId xmlns:a16="http://schemas.microsoft.com/office/drawing/2014/main" id="{BABA1765-A4EA-4DD7-92BD-4EDD9E3914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5029200"/>
            <a:ext cx="289242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12" name="Picture 13">
            <a:extLst>
              <a:ext uri="{FF2B5EF4-FFF2-40B4-BE49-F238E27FC236}">
                <a16:creationId xmlns:a16="http://schemas.microsoft.com/office/drawing/2014/main" id="{E1F95139-A919-43F2-8E1E-2CD4AD40D0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4876800"/>
            <a:ext cx="2933700" cy="148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13" name="Picture 14" descr="10Base2 50 Ohm Coaxial Cable3">
            <a:extLst>
              <a:ext uri="{FF2B5EF4-FFF2-40B4-BE49-F238E27FC236}">
                <a16:creationId xmlns:a16="http://schemas.microsoft.com/office/drawing/2014/main" id="{639637AA-4475-4524-BCD8-FB8BFF5B88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1371600"/>
            <a:ext cx="3929063"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Slide Number Placeholder 5">
            <a:extLst>
              <a:ext uri="{FF2B5EF4-FFF2-40B4-BE49-F238E27FC236}">
                <a16:creationId xmlns:a16="http://schemas.microsoft.com/office/drawing/2014/main" id="{7086F5C9-C62F-4BD2-8A17-7636F36F00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7988B028-35DD-4068-9844-4DF8CB065085}" type="slidenum">
              <a:rPr lang="en-US" altLang="en-US" sz="1400" smtClean="0">
                <a:latin typeface="Times New Roman" panose="02020603050405020304" pitchFamily="18" charset="0"/>
              </a:rPr>
              <a:pPr>
                <a:spcBef>
                  <a:spcPct val="0"/>
                </a:spcBef>
                <a:buClrTx/>
                <a:buSzTx/>
                <a:buFontTx/>
                <a:buNone/>
              </a:pPr>
              <a:t>14</a:t>
            </a:fld>
            <a:endParaRPr lang="en-US" altLang="en-US" sz="1400">
              <a:latin typeface="Times New Roman" panose="02020603050405020304" pitchFamily="18" charset="0"/>
            </a:endParaRPr>
          </a:p>
        </p:txBody>
      </p:sp>
      <p:sp>
        <p:nvSpPr>
          <p:cNvPr id="278531" name="Rectangle 2">
            <a:extLst>
              <a:ext uri="{FF2B5EF4-FFF2-40B4-BE49-F238E27FC236}">
                <a16:creationId xmlns:a16="http://schemas.microsoft.com/office/drawing/2014/main" id="{84782E8E-D3F5-4D86-BEE1-4C08124C6D77}"/>
              </a:ext>
            </a:extLst>
          </p:cNvPr>
          <p:cNvSpPr>
            <a:spLocks noGrp="1" noChangeArrowheads="1"/>
          </p:cNvSpPr>
          <p:nvPr>
            <p:ph type="title"/>
          </p:nvPr>
        </p:nvSpPr>
        <p:spPr>
          <a:xfrm>
            <a:off x="533400" y="-15875"/>
            <a:ext cx="7772400" cy="1143000"/>
          </a:xfrm>
        </p:spPr>
        <p:txBody>
          <a:bodyPr/>
          <a:lstStyle/>
          <a:p>
            <a:r>
              <a:rPr lang="en-US" altLang="en-US" sz="3600"/>
              <a:t>Ethernet Cable and Connector </a:t>
            </a:r>
            <a:r>
              <a:rPr lang="en-US" altLang="en-US" sz="2800"/>
              <a:t>(4)</a:t>
            </a:r>
          </a:p>
        </p:txBody>
      </p:sp>
      <p:sp>
        <p:nvSpPr>
          <p:cNvPr id="278532" name="Text Box 5">
            <a:extLst>
              <a:ext uri="{FF2B5EF4-FFF2-40B4-BE49-F238E27FC236}">
                <a16:creationId xmlns:a16="http://schemas.microsoft.com/office/drawing/2014/main" id="{C42AB600-C4FF-49C4-8619-A55F55EEABD7}"/>
              </a:ext>
            </a:extLst>
          </p:cNvPr>
          <p:cNvSpPr txBox="1">
            <a:spLocks noChangeArrowheads="1"/>
          </p:cNvSpPr>
          <p:nvPr/>
        </p:nvSpPr>
        <p:spPr bwMode="auto">
          <a:xfrm>
            <a:off x="0" y="1173163"/>
            <a:ext cx="428466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4000">
                <a:solidFill>
                  <a:schemeClr val="accent2"/>
                </a:solidFill>
              </a:rPr>
              <a:t>Shielded Twisted- Pair</a:t>
            </a:r>
          </a:p>
        </p:txBody>
      </p:sp>
      <p:pic>
        <p:nvPicPr>
          <p:cNvPr id="278533" name="Picture 7">
            <a:extLst>
              <a:ext uri="{FF2B5EF4-FFF2-40B4-BE49-F238E27FC236}">
                <a16:creationId xmlns:a16="http://schemas.microsoft.com/office/drawing/2014/main" id="{52FA398A-5567-4FBA-85D2-2F68C1DA7E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113" y="2717800"/>
            <a:ext cx="4495800" cy="305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534" name="Picture 8">
            <a:extLst>
              <a:ext uri="{FF2B5EF4-FFF2-40B4-BE49-F238E27FC236}">
                <a16:creationId xmlns:a16="http://schemas.microsoft.com/office/drawing/2014/main" id="{B8297FCC-241E-41B2-969D-156FEC89E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4563" y="2765425"/>
            <a:ext cx="41529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8535" name="Text Box 9">
            <a:extLst>
              <a:ext uri="{FF2B5EF4-FFF2-40B4-BE49-F238E27FC236}">
                <a16:creationId xmlns:a16="http://schemas.microsoft.com/office/drawing/2014/main" id="{AF453567-35F3-4381-8004-017622E5E990}"/>
              </a:ext>
            </a:extLst>
          </p:cNvPr>
          <p:cNvSpPr txBox="1">
            <a:spLocks noChangeArrowheads="1"/>
          </p:cNvSpPr>
          <p:nvPr/>
        </p:nvSpPr>
        <p:spPr bwMode="auto">
          <a:xfrm>
            <a:off x="4525963" y="1139825"/>
            <a:ext cx="428466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4000">
                <a:solidFill>
                  <a:schemeClr val="accent2"/>
                </a:solidFill>
              </a:rPr>
              <a:t>Unshielded Twisted- Pair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Slide Number Placeholder 5">
            <a:extLst>
              <a:ext uri="{FF2B5EF4-FFF2-40B4-BE49-F238E27FC236}">
                <a16:creationId xmlns:a16="http://schemas.microsoft.com/office/drawing/2014/main" id="{76FF72F8-422C-4DED-8881-29E7ED3D19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A169372-5B34-4C3E-AD31-06B0A3D1EC3E}" type="slidenum">
              <a:rPr lang="en-US" altLang="en-US" sz="1400" smtClean="0">
                <a:latin typeface="Times New Roman" panose="02020603050405020304" pitchFamily="18" charset="0"/>
              </a:rPr>
              <a:pPr>
                <a:spcBef>
                  <a:spcPct val="0"/>
                </a:spcBef>
                <a:buClrTx/>
                <a:buSzTx/>
                <a:buFontTx/>
                <a:buNone/>
              </a:pPr>
              <a:t>15</a:t>
            </a:fld>
            <a:endParaRPr lang="en-US" altLang="en-US" sz="1400">
              <a:latin typeface="Times New Roman" panose="02020603050405020304" pitchFamily="18" charset="0"/>
            </a:endParaRPr>
          </a:p>
        </p:txBody>
      </p:sp>
      <p:sp>
        <p:nvSpPr>
          <p:cNvPr id="279555" name="Rectangle 2">
            <a:extLst>
              <a:ext uri="{FF2B5EF4-FFF2-40B4-BE49-F238E27FC236}">
                <a16:creationId xmlns:a16="http://schemas.microsoft.com/office/drawing/2014/main" id="{0F8B8802-8D2E-406A-BE1C-903FE11486B0}"/>
              </a:ext>
            </a:extLst>
          </p:cNvPr>
          <p:cNvSpPr>
            <a:spLocks noGrp="1" noChangeArrowheads="1"/>
          </p:cNvSpPr>
          <p:nvPr>
            <p:ph type="title"/>
          </p:nvPr>
        </p:nvSpPr>
        <p:spPr>
          <a:xfrm>
            <a:off x="533400" y="-50800"/>
            <a:ext cx="7772400" cy="1143000"/>
          </a:xfrm>
        </p:spPr>
        <p:txBody>
          <a:bodyPr/>
          <a:lstStyle/>
          <a:p>
            <a:r>
              <a:rPr lang="en-US" altLang="en-US" sz="3600"/>
              <a:t>Địa chỉ trong LAN và giao thức ARP</a:t>
            </a:r>
          </a:p>
        </p:txBody>
      </p:sp>
      <p:sp>
        <p:nvSpPr>
          <p:cNvPr id="279556" name="Rectangle 3">
            <a:extLst>
              <a:ext uri="{FF2B5EF4-FFF2-40B4-BE49-F238E27FC236}">
                <a16:creationId xmlns:a16="http://schemas.microsoft.com/office/drawing/2014/main" id="{7D5EC4B4-E1E1-44AB-8F2D-3C1D443217C8}"/>
              </a:ext>
            </a:extLst>
          </p:cNvPr>
          <p:cNvSpPr>
            <a:spLocks noGrp="1" noChangeArrowheads="1"/>
          </p:cNvSpPr>
          <p:nvPr>
            <p:ph type="body" idx="1"/>
          </p:nvPr>
        </p:nvSpPr>
        <p:spPr>
          <a:xfrm>
            <a:off x="0" y="932543"/>
            <a:ext cx="9016678" cy="4648200"/>
          </a:xfrm>
        </p:spPr>
        <p:txBody>
          <a:bodyPr/>
          <a:lstStyle/>
          <a:p>
            <a:pPr>
              <a:buFont typeface="ZapfDingbats" pitchFamily="82" charset="2"/>
              <a:buNone/>
            </a:pPr>
            <a:r>
              <a:rPr lang="en-US" altLang="en-US" sz="3200">
                <a:solidFill>
                  <a:srgbClr val="FF0000"/>
                </a:solidFill>
              </a:rPr>
              <a:t>32-bit IP address:</a:t>
            </a:r>
            <a:r>
              <a:rPr lang="en-US" altLang="en-US" sz="3200"/>
              <a:t> </a:t>
            </a:r>
          </a:p>
          <a:p>
            <a:r>
              <a:rPr lang="en-US" altLang="en-US"/>
              <a:t>địa chỉ</a:t>
            </a:r>
            <a:r>
              <a:rPr lang="en-US" altLang="en-US" i="1"/>
              <a:t> tầng mạng</a:t>
            </a:r>
            <a:endParaRPr lang="en-US" altLang="en-US"/>
          </a:p>
          <a:p>
            <a:r>
              <a:rPr lang="en-US" altLang="en-US"/>
              <a:t>được dùng khi chuyển gói tin đến mạng IP đích</a:t>
            </a:r>
            <a:endParaRPr lang="en-US" altLang="en-US" b="1"/>
          </a:p>
          <a:p>
            <a:pPr>
              <a:buFont typeface="ZapfDingbats" pitchFamily="82" charset="2"/>
              <a:buNone/>
            </a:pPr>
            <a:r>
              <a:rPr lang="en-US" altLang="en-US" sz="3200">
                <a:solidFill>
                  <a:srgbClr val="FF0000"/>
                </a:solidFill>
              </a:rPr>
              <a:t>LAN (or MAC or physical or Ethernet) address: </a:t>
            </a:r>
          </a:p>
          <a:p>
            <a:r>
              <a:rPr lang="en-US" altLang="en-US"/>
              <a:t>Được dùng khi chuyển gói tin/frame từ một mạch giao tiếp này đến mạch giao tiếp khác - có kết nối về mặt vật lý (cùng một mạng)</a:t>
            </a:r>
          </a:p>
          <a:p>
            <a:r>
              <a:rPr lang="en-US" altLang="en-US"/>
              <a:t>Địa chỉ MAC có 48 bit (cho đa số các mạng cục bộ) </a:t>
            </a:r>
            <a:br>
              <a:rPr lang="en-US" altLang="en-US"/>
            </a:br>
            <a:r>
              <a:rPr lang="en-US" altLang="en-US"/>
              <a:t>và được đốt vào ROM của bộ thích ứng mạng/card mạng</a:t>
            </a:r>
          </a:p>
          <a:p>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Slide Number Placeholder 5">
            <a:extLst>
              <a:ext uri="{FF2B5EF4-FFF2-40B4-BE49-F238E27FC236}">
                <a16:creationId xmlns:a16="http://schemas.microsoft.com/office/drawing/2014/main" id="{89F79F75-0436-448B-8787-C1B9453E58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0143253-6E2C-4655-86B6-20DF15FBE881}" type="slidenum">
              <a:rPr lang="en-US" altLang="en-US" sz="1400" smtClean="0">
                <a:latin typeface="Times New Roman" panose="02020603050405020304" pitchFamily="18" charset="0"/>
              </a:rPr>
              <a:pPr>
                <a:spcBef>
                  <a:spcPct val="0"/>
                </a:spcBef>
                <a:buClrTx/>
                <a:buSzTx/>
                <a:buFontTx/>
                <a:buNone/>
              </a:pPr>
              <a:t>16</a:t>
            </a:fld>
            <a:endParaRPr lang="en-US" altLang="en-US" sz="1400">
              <a:latin typeface="Times New Roman" panose="02020603050405020304" pitchFamily="18" charset="0"/>
            </a:endParaRPr>
          </a:p>
        </p:txBody>
      </p:sp>
      <p:pic>
        <p:nvPicPr>
          <p:cNvPr id="281603" name="Picture 3" descr="5">
            <a:extLst>
              <a:ext uri="{FF2B5EF4-FFF2-40B4-BE49-F238E27FC236}">
                <a16:creationId xmlns:a16="http://schemas.microsoft.com/office/drawing/2014/main" id="{77144FD7-D0EA-4617-8E15-CDD605E38411}"/>
              </a:ext>
            </a:extLst>
          </p:cNvPr>
          <p:cNvPicPr>
            <a:picLocks noGrp="1" noChangeAspect="1" noChangeArrowheads="1"/>
          </p:cNvPicPr>
          <p:nvPr>
            <p:ph type="body" idx="4294967295"/>
          </p:nvPr>
        </p:nvPicPr>
        <p:blipFill>
          <a:blip r:embed="rId4">
            <a:extLst>
              <a:ext uri="{28A0092B-C50C-407E-A947-70E740481C1C}">
                <a14:useLocalDpi xmlns:a14="http://schemas.microsoft.com/office/drawing/2010/main" val="0"/>
              </a:ext>
            </a:extLst>
          </a:blip>
          <a:srcRect/>
          <a:stretch>
            <a:fillRect/>
          </a:stretch>
        </p:blipFill>
        <p:spPr>
          <a:xfrm>
            <a:off x="-227013" y="2114550"/>
            <a:ext cx="5681663" cy="3965575"/>
          </a:xfrm>
        </p:spPr>
      </p:pic>
      <p:sp>
        <p:nvSpPr>
          <p:cNvPr id="281604" name="Text Box 4">
            <a:extLst>
              <a:ext uri="{FF2B5EF4-FFF2-40B4-BE49-F238E27FC236}">
                <a16:creationId xmlns:a16="http://schemas.microsoft.com/office/drawing/2014/main" id="{E1A99A8E-15E6-414A-8F64-2244EB32A9DA}"/>
              </a:ext>
            </a:extLst>
          </p:cNvPr>
          <p:cNvSpPr txBox="1">
            <a:spLocks noChangeArrowheads="1"/>
          </p:cNvSpPr>
          <p:nvPr/>
        </p:nvSpPr>
        <p:spPr bwMode="auto">
          <a:xfrm>
            <a:off x="766763" y="1338263"/>
            <a:ext cx="6681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Mỗi bộ thích ứng mạng trên LAN có một địa chỉ MAC duy nhất</a:t>
            </a:r>
          </a:p>
        </p:txBody>
      </p:sp>
      <p:graphicFrame>
        <p:nvGraphicFramePr>
          <p:cNvPr id="281605" name="Object 5">
            <a:extLst>
              <a:ext uri="{FF2B5EF4-FFF2-40B4-BE49-F238E27FC236}">
                <a16:creationId xmlns:a16="http://schemas.microsoft.com/office/drawing/2014/main" id="{B27BBFCA-973F-4017-AB77-C8D729C04399}"/>
              </a:ext>
            </a:extLst>
          </p:cNvPr>
          <p:cNvGraphicFramePr>
            <a:graphicFrameLocks noGrp="1" noChangeAspect="1"/>
          </p:cNvGraphicFramePr>
          <p:nvPr>
            <p:ph idx="1"/>
          </p:nvPr>
        </p:nvGraphicFramePr>
        <p:xfrm>
          <a:off x="5181600" y="2833688"/>
          <a:ext cx="3962400" cy="2181225"/>
        </p:xfrm>
        <a:graphic>
          <a:graphicData uri="http://schemas.openxmlformats.org/presentationml/2006/ole">
            <mc:AlternateContent xmlns:mc="http://schemas.openxmlformats.org/markup-compatibility/2006">
              <mc:Choice xmlns:v="urn:schemas-microsoft-com:vml" Requires="v">
                <p:oleObj spid="_x0000_s281621" name="Photo Editor Photo" r:id="rId5" imgW="3962953" imgH="2180952" progId="MSPhotoEd.3">
                  <p:embed/>
                </p:oleObj>
              </mc:Choice>
              <mc:Fallback>
                <p:oleObj name="Photo Editor Photo" r:id="rId5" imgW="3962953" imgH="2180952" progId="MSPhotoEd.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2833688"/>
                        <a:ext cx="3962400" cy="2181225"/>
                      </a:xfrm>
                      <a:prstGeom prst="rect">
                        <a:avLst/>
                      </a:prstGeom>
                      <a:noFill/>
                      <a:ln>
                        <a:noFill/>
                      </a:ln>
                      <a:effectLst/>
                      <a:extLst>
                        <a:ext uri="{909E8E84-426E-40DD-AFC4-6F175D3DCCD1}">
                          <a14:hiddenFill xmlns:a14="http://schemas.microsoft.com/office/drawing/2010/main">
                            <a:solidFill>
                              <a:srgbClr val="008080">
                                <a:alpha val="10196"/>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1606" name="Rectangle 7">
            <a:extLst>
              <a:ext uri="{FF2B5EF4-FFF2-40B4-BE49-F238E27FC236}">
                <a16:creationId xmlns:a16="http://schemas.microsoft.com/office/drawing/2014/main" id="{ED502231-AEB4-4729-BAF0-933E20A498F5}"/>
              </a:ext>
            </a:extLst>
          </p:cNvPr>
          <p:cNvSpPr>
            <a:spLocks noGrp="1" noChangeArrowheads="1"/>
          </p:cNvSpPr>
          <p:nvPr>
            <p:ph type="title"/>
          </p:nvPr>
        </p:nvSpPr>
        <p:spPr>
          <a:xfrm>
            <a:off x="0" y="-50800"/>
            <a:ext cx="9144000" cy="1143000"/>
          </a:xfrm>
          <a:noFill/>
        </p:spPr>
        <p:txBody>
          <a:bodyPr/>
          <a:lstStyle/>
          <a:p>
            <a:r>
              <a:rPr lang="en-US" altLang="en-US" sz="3600"/>
              <a:t>Địa chỉ trong LAN và giao thức ARP (tt)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Slide Number Placeholder 5">
            <a:extLst>
              <a:ext uri="{FF2B5EF4-FFF2-40B4-BE49-F238E27FC236}">
                <a16:creationId xmlns:a16="http://schemas.microsoft.com/office/drawing/2014/main" id="{B5B5C504-8650-44C8-8FE0-55FE27A4BB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4EFCE3E2-36D4-423C-B88A-9ED8DA2EAD74}" type="slidenum">
              <a:rPr lang="en-US" altLang="en-US" sz="1400" smtClean="0">
                <a:latin typeface="Times New Roman" panose="02020603050405020304" pitchFamily="18" charset="0"/>
              </a:rPr>
              <a:pPr>
                <a:spcBef>
                  <a:spcPct val="0"/>
                </a:spcBef>
                <a:buClrTx/>
                <a:buSzTx/>
                <a:buFontTx/>
                <a:buNone/>
              </a:pPr>
              <a:t>17</a:t>
            </a:fld>
            <a:endParaRPr lang="en-US" altLang="en-US" sz="1400">
              <a:latin typeface="Times New Roman" panose="02020603050405020304" pitchFamily="18" charset="0"/>
            </a:endParaRPr>
          </a:p>
        </p:txBody>
      </p:sp>
      <p:sp>
        <p:nvSpPr>
          <p:cNvPr id="283651" name="Rectangle 2">
            <a:extLst>
              <a:ext uri="{FF2B5EF4-FFF2-40B4-BE49-F238E27FC236}">
                <a16:creationId xmlns:a16="http://schemas.microsoft.com/office/drawing/2014/main" id="{3F4C3B98-67C1-42AD-A92A-230500A2BB89}"/>
              </a:ext>
            </a:extLst>
          </p:cNvPr>
          <p:cNvSpPr>
            <a:spLocks noGrp="1" noChangeArrowheads="1"/>
          </p:cNvSpPr>
          <p:nvPr>
            <p:ph type="title"/>
          </p:nvPr>
        </p:nvSpPr>
        <p:spPr/>
        <p:txBody>
          <a:bodyPr/>
          <a:lstStyle/>
          <a:p>
            <a:r>
              <a:rPr lang="en-US" altLang="en-US"/>
              <a:t>Địa chỉ trong LAN </a:t>
            </a:r>
            <a:r>
              <a:rPr lang="en-US" altLang="en-US" sz="2800"/>
              <a:t>(tiếp theo)</a:t>
            </a:r>
          </a:p>
        </p:txBody>
      </p:sp>
      <p:sp>
        <p:nvSpPr>
          <p:cNvPr id="283652" name="Rectangle 3">
            <a:extLst>
              <a:ext uri="{FF2B5EF4-FFF2-40B4-BE49-F238E27FC236}">
                <a16:creationId xmlns:a16="http://schemas.microsoft.com/office/drawing/2014/main" id="{12DFE083-998A-4653-8E59-B9BD95E07518}"/>
              </a:ext>
            </a:extLst>
          </p:cNvPr>
          <p:cNvSpPr>
            <a:spLocks noGrp="1" noChangeArrowheads="1"/>
          </p:cNvSpPr>
          <p:nvPr>
            <p:ph type="body" idx="1"/>
          </p:nvPr>
        </p:nvSpPr>
        <p:spPr>
          <a:xfrm>
            <a:off x="533400" y="1600200"/>
            <a:ext cx="8610600" cy="4648200"/>
          </a:xfrm>
        </p:spPr>
        <p:txBody>
          <a:bodyPr/>
          <a:lstStyle/>
          <a:p>
            <a:r>
              <a:rPr lang="en-US" altLang="en-US" sz="2400"/>
              <a:t>Sự phân phối địa chỉ MAC được quản lý bởi IEEE</a:t>
            </a:r>
          </a:p>
          <a:p>
            <a:r>
              <a:rPr lang="en-US" altLang="en-US" sz="2400"/>
              <a:t>Các nhà sản xuất mua một phần còn trống của địa chỉ MAC (để đảm bảo tính duy nhất)</a:t>
            </a:r>
          </a:p>
          <a:p>
            <a:r>
              <a:rPr lang="en-US" altLang="en-US" sz="2400"/>
              <a:t>Sự tương tự:</a:t>
            </a:r>
          </a:p>
          <a:p>
            <a:pPr>
              <a:buFont typeface="ZapfDingbats" pitchFamily="82" charset="2"/>
              <a:buNone/>
            </a:pPr>
            <a:r>
              <a:rPr lang="en-US" altLang="en-US" sz="2400"/>
              <a:t>         (a) địa chỉ MAC: tương tự số căn c</a:t>
            </a:r>
            <a:r>
              <a:rPr lang="vi-VN" altLang="en-US" sz="2400"/>
              <a:t>ư</a:t>
            </a:r>
            <a:r>
              <a:rPr lang="en-US" altLang="en-US" sz="2400"/>
              <a:t>ớc</a:t>
            </a:r>
          </a:p>
          <a:p>
            <a:pPr>
              <a:buFont typeface="ZapfDingbats" pitchFamily="82" charset="2"/>
              <a:buNone/>
            </a:pPr>
            <a:r>
              <a:rPr lang="en-US" altLang="en-US" sz="2400"/>
              <a:t>         (b) địa chỉ IP: tương tự như địa chỉ thư tín</a:t>
            </a:r>
          </a:p>
          <a:p>
            <a:r>
              <a:rPr lang="en-US" altLang="en-US" sz="2400"/>
              <a:t> địa chỉ MAC là bằng phẳng =&gt; có thể mang đi được</a:t>
            </a:r>
          </a:p>
          <a:p>
            <a:pPr lvl="1"/>
            <a:r>
              <a:rPr lang="en-US" altLang="en-US" sz="2000"/>
              <a:t>có thể di chuyển một card mạng từ LAN này sang LAN khác</a:t>
            </a:r>
          </a:p>
          <a:p>
            <a:r>
              <a:rPr lang="en-US" altLang="en-US" sz="2400"/>
              <a:t>Địa chỉ IP có tính thứ bậc và KHÔNG mang đi được</a:t>
            </a:r>
          </a:p>
          <a:p>
            <a:pPr lvl="1"/>
            <a:r>
              <a:rPr lang="en-US" altLang="en-US" sz="2000"/>
              <a:t> phụ thuộc vào mạng IP mà máy đó kết nối vào</a:t>
            </a:r>
          </a:p>
          <a:p>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Slide Number Placeholder 6">
            <a:extLst>
              <a:ext uri="{FF2B5EF4-FFF2-40B4-BE49-F238E27FC236}">
                <a16:creationId xmlns:a16="http://schemas.microsoft.com/office/drawing/2014/main" id="{ECACC925-B69F-49DC-B9F0-58E98F3591E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BBDCC4C8-25D1-41A7-AAB7-8B1B548B5DF6}" type="slidenum">
              <a:rPr lang="en-US" altLang="en-US" sz="1400" smtClean="0">
                <a:latin typeface="Times New Roman" panose="02020603050405020304" pitchFamily="18" charset="0"/>
              </a:rPr>
              <a:pPr>
                <a:spcBef>
                  <a:spcPct val="0"/>
                </a:spcBef>
                <a:buClrTx/>
                <a:buSzTx/>
                <a:buFontTx/>
                <a:buNone/>
              </a:pPr>
              <a:t>18</a:t>
            </a:fld>
            <a:endParaRPr lang="en-US" altLang="en-US" sz="1400">
              <a:latin typeface="Times New Roman" panose="02020603050405020304" pitchFamily="18" charset="0"/>
            </a:endParaRPr>
          </a:p>
        </p:txBody>
      </p:sp>
      <p:sp>
        <p:nvSpPr>
          <p:cNvPr id="285699" name="Rectangle 3">
            <a:extLst>
              <a:ext uri="{FF2B5EF4-FFF2-40B4-BE49-F238E27FC236}">
                <a16:creationId xmlns:a16="http://schemas.microsoft.com/office/drawing/2014/main" id="{18C658D2-AFD4-4971-B8B6-045B0B6FFC88}"/>
              </a:ext>
            </a:extLst>
          </p:cNvPr>
          <p:cNvSpPr>
            <a:spLocks noGrp="1" noChangeArrowheads="1"/>
          </p:cNvSpPr>
          <p:nvPr>
            <p:ph type="title"/>
          </p:nvPr>
        </p:nvSpPr>
        <p:spPr>
          <a:xfrm>
            <a:off x="461963" y="-111125"/>
            <a:ext cx="8105775" cy="1143000"/>
          </a:xfrm>
        </p:spPr>
        <p:txBody>
          <a:bodyPr/>
          <a:lstStyle/>
          <a:p>
            <a:pPr algn="ctr"/>
            <a:r>
              <a:rPr lang="en-US" altLang="en-US" sz="3200"/>
              <a:t>Ví dụ về sự phân phát gói tin</a:t>
            </a:r>
            <a:endParaRPr lang="en-US" altLang="en-US"/>
          </a:p>
        </p:txBody>
      </p:sp>
      <p:grpSp>
        <p:nvGrpSpPr>
          <p:cNvPr id="285700" name="Group 4">
            <a:extLst>
              <a:ext uri="{FF2B5EF4-FFF2-40B4-BE49-F238E27FC236}">
                <a16:creationId xmlns:a16="http://schemas.microsoft.com/office/drawing/2014/main" id="{C0364511-1C0B-48E7-B619-9FABCA96064D}"/>
              </a:ext>
            </a:extLst>
          </p:cNvPr>
          <p:cNvGrpSpPr>
            <a:grpSpLocks/>
          </p:cNvGrpSpPr>
          <p:nvPr/>
        </p:nvGrpSpPr>
        <p:grpSpPr bwMode="auto">
          <a:xfrm>
            <a:off x="4618038" y="1460500"/>
            <a:ext cx="4192587" cy="2998788"/>
            <a:chOff x="2896" y="749"/>
            <a:chExt cx="2786" cy="1987"/>
          </a:xfrm>
        </p:grpSpPr>
        <p:sp>
          <p:nvSpPr>
            <p:cNvPr id="285729" name="Freeform 5">
              <a:extLst>
                <a:ext uri="{FF2B5EF4-FFF2-40B4-BE49-F238E27FC236}">
                  <a16:creationId xmlns:a16="http://schemas.microsoft.com/office/drawing/2014/main" id="{F4CAAF35-BD48-49C1-AB0F-5B4C4B730E37}"/>
                </a:ext>
              </a:extLst>
            </p:cNvPr>
            <p:cNvSpPr>
              <a:spLocks/>
            </p:cNvSpPr>
            <p:nvPr/>
          </p:nvSpPr>
          <p:spPr bwMode="auto">
            <a:xfrm>
              <a:off x="2896" y="749"/>
              <a:ext cx="1223" cy="1291"/>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85730" name="Freeform 6">
              <a:extLst>
                <a:ext uri="{FF2B5EF4-FFF2-40B4-BE49-F238E27FC236}">
                  <a16:creationId xmlns:a16="http://schemas.microsoft.com/office/drawing/2014/main" id="{1A0E51C6-883C-461C-84AF-3B09F0E9A8F0}"/>
                </a:ext>
              </a:extLst>
            </p:cNvPr>
            <p:cNvSpPr>
              <a:spLocks/>
            </p:cNvSpPr>
            <p:nvPr/>
          </p:nvSpPr>
          <p:spPr bwMode="auto">
            <a:xfrm>
              <a:off x="4481" y="930"/>
              <a:ext cx="1201" cy="1234"/>
            </a:xfrm>
            <a:custGeom>
              <a:avLst/>
              <a:gdLst>
                <a:gd name="T0" fmla="*/ 25 w 1201"/>
                <a:gd name="T1" fmla="*/ 709 h 1234"/>
                <a:gd name="T2" fmla="*/ 526 w 1201"/>
                <a:gd name="T3" fmla="*/ 780 h 1234"/>
                <a:gd name="T4" fmla="*/ 613 w 1201"/>
                <a:gd name="T5" fmla="*/ 1134 h 1234"/>
                <a:gd name="T6" fmla="*/ 946 w 1201"/>
                <a:gd name="T7" fmla="*/ 1230 h 1234"/>
                <a:gd name="T8" fmla="*/ 1171 w 1201"/>
                <a:gd name="T9" fmla="*/ 1107 h 1234"/>
                <a:gd name="T10" fmla="*/ 1126 w 1201"/>
                <a:gd name="T11" fmla="*/ 894 h 1234"/>
                <a:gd name="T12" fmla="*/ 1114 w 1201"/>
                <a:gd name="T13" fmla="*/ 693 h 1234"/>
                <a:gd name="T14" fmla="*/ 1099 w 1201"/>
                <a:gd name="T15" fmla="*/ 423 h 1234"/>
                <a:gd name="T16" fmla="*/ 1141 w 1201"/>
                <a:gd name="T17" fmla="*/ 216 h 1234"/>
                <a:gd name="T18" fmla="*/ 1102 w 1201"/>
                <a:gd name="T19" fmla="*/ 33 h 1234"/>
                <a:gd name="T20" fmla="*/ 646 w 1201"/>
                <a:gd name="T21" fmla="*/ 81 h 1234"/>
                <a:gd name="T22" fmla="*/ 535 w 1201"/>
                <a:gd name="T23" fmla="*/ 519 h 1234"/>
                <a:gd name="T24" fmla="*/ 44 w 1201"/>
                <a:gd name="T25" fmla="*/ 548 h 1234"/>
                <a:gd name="T26" fmla="*/ 25 w 1201"/>
                <a:gd name="T27" fmla="*/ 709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85731" name="Freeform 7">
              <a:extLst>
                <a:ext uri="{FF2B5EF4-FFF2-40B4-BE49-F238E27FC236}">
                  <a16:creationId xmlns:a16="http://schemas.microsoft.com/office/drawing/2014/main" id="{1F116353-FE62-456B-93B9-55AA431E8BF8}"/>
                </a:ext>
              </a:extLst>
            </p:cNvPr>
            <p:cNvSpPr>
              <a:spLocks/>
            </p:cNvSpPr>
            <p:nvPr/>
          </p:nvSpPr>
          <p:spPr bwMode="auto">
            <a:xfrm>
              <a:off x="3657" y="1797"/>
              <a:ext cx="1295" cy="939"/>
            </a:xfrm>
            <a:custGeom>
              <a:avLst/>
              <a:gdLst>
                <a:gd name="T0" fmla="*/ 600 w 1295"/>
                <a:gd name="T1" fmla="*/ 30 h 939"/>
                <a:gd name="T2" fmla="*/ 525 w 1295"/>
                <a:gd name="T3" fmla="*/ 393 h 939"/>
                <a:gd name="T4" fmla="*/ 81 w 1295"/>
                <a:gd name="T5" fmla="*/ 471 h 939"/>
                <a:gd name="T6" fmla="*/ 39 w 1295"/>
                <a:gd name="T7" fmla="*/ 855 h 939"/>
                <a:gd name="T8" fmla="*/ 207 w 1295"/>
                <a:gd name="T9" fmla="*/ 927 h 939"/>
                <a:gd name="T10" fmla="*/ 429 w 1295"/>
                <a:gd name="T11" fmla="*/ 927 h 939"/>
                <a:gd name="T12" fmla="*/ 705 w 1295"/>
                <a:gd name="T13" fmla="*/ 891 h 939"/>
                <a:gd name="T14" fmla="*/ 1227 w 1295"/>
                <a:gd name="T15" fmla="*/ 849 h 939"/>
                <a:gd name="T16" fmla="*/ 1113 w 1295"/>
                <a:gd name="T17" fmla="*/ 459 h 939"/>
                <a:gd name="T18" fmla="*/ 777 w 1295"/>
                <a:gd name="T19" fmla="*/ 363 h 939"/>
                <a:gd name="T20" fmla="*/ 762 w 1295"/>
                <a:gd name="T21" fmla="*/ 42 h 939"/>
                <a:gd name="T22" fmla="*/ 600 w 1295"/>
                <a:gd name="T23" fmla="*/ 30 h 9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5"/>
                <a:gd name="T37" fmla="*/ 0 h 939"/>
                <a:gd name="T38" fmla="*/ 1295 w 1295"/>
                <a:gd name="T39" fmla="*/ 939 h 9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5" h="939">
                  <a:moveTo>
                    <a:pt x="600" y="30"/>
                  </a:moveTo>
                  <a:cubicBezTo>
                    <a:pt x="486" y="60"/>
                    <a:pt x="610" y="247"/>
                    <a:pt x="525" y="393"/>
                  </a:cubicBezTo>
                  <a:cubicBezTo>
                    <a:pt x="439" y="467"/>
                    <a:pt x="162" y="394"/>
                    <a:pt x="81" y="471"/>
                  </a:cubicBezTo>
                  <a:cubicBezTo>
                    <a:pt x="0" y="548"/>
                    <a:pt x="18" y="779"/>
                    <a:pt x="39" y="855"/>
                  </a:cubicBezTo>
                  <a:cubicBezTo>
                    <a:pt x="60" y="931"/>
                    <a:pt x="142" y="915"/>
                    <a:pt x="207" y="927"/>
                  </a:cubicBezTo>
                  <a:cubicBezTo>
                    <a:pt x="272" y="939"/>
                    <a:pt x="346" y="933"/>
                    <a:pt x="429" y="927"/>
                  </a:cubicBezTo>
                  <a:cubicBezTo>
                    <a:pt x="512" y="921"/>
                    <a:pt x="572" y="904"/>
                    <a:pt x="705" y="891"/>
                  </a:cubicBezTo>
                  <a:cubicBezTo>
                    <a:pt x="838" y="878"/>
                    <a:pt x="1159" y="921"/>
                    <a:pt x="1227" y="849"/>
                  </a:cubicBezTo>
                  <a:cubicBezTo>
                    <a:pt x="1295" y="777"/>
                    <a:pt x="1188" y="540"/>
                    <a:pt x="1113" y="459"/>
                  </a:cubicBezTo>
                  <a:cubicBezTo>
                    <a:pt x="1038" y="378"/>
                    <a:pt x="835" y="432"/>
                    <a:pt x="777" y="363"/>
                  </a:cubicBezTo>
                  <a:cubicBezTo>
                    <a:pt x="719" y="294"/>
                    <a:pt x="791" y="97"/>
                    <a:pt x="762" y="42"/>
                  </a:cubicBezTo>
                  <a:cubicBezTo>
                    <a:pt x="708" y="15"/>
                    <a:pt x="714" y="0"/>
                    <a:pt x="600" y="30"/>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aphicFrame>
          <p:nvGraphicFramePr>
            <p:cNvPr id="285732" name="Object 8">
              <a:extLst>
                <a:ext uri="{FF2B5EF4-FFF2-40B4-BE49-F238E27FC236}">
                  <a16:creationId xmlns:a16="http://schemas.microsoft.com/office/drawing/2014/main" id="{70A94729-4370-4ADC-9498-D5358651C03C}"/>
                </a:ext>
              </a:extLst>
            </p:cNvPr>
            <p:cNvGraphicFramePr>
              <a:graphicFrameLocks noChangeAspect="1"/>
            </p:cNvGraphicFramePr>
            <p:nvPr/>
          </p:nvGraphicFramePr>
          <p:xfrm>
            <a:off x="2945" y="815"/>
            <a:ext cx="368" cy="292"/>
          </p:xfrm>
          <a:graphic>
            <a:graphicData uri="http://schemas.openxmlformats.org/presentationml/2006/ole">
              <mc:AlternateContent xmlns:mc="http://schemas.openxmlformats.org/markup-compatibility/2006">
                <mc:Choice xmlns:v="urn:schemas-microsoft-com:vml" Requires="v">
                  <p:oleObj spid="_x0000_s285887" name="Clip" r:id="rId4" imgW="1307263" imgH="1084139" progId="MS_ClipArt_Gallery.2">
                    <p:embed/>
                  </p:oleObj>
                </mc:Choice>
                <mc:Fallback>
                  <p:oleObj name="Clip" r:id="rId4" imgW="1307263" imgH="1084139" progId="MS_ClipArt_Gallery.2">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5" y="81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733" name="Line 9">
              <a:extLst>
                <a:ext uri="{FF2B5EF4-FFF2-40B4-BE49-F238E27FC236}">
                  <a16:creationId xmlns:a16="http://schemas.microsoft.com/office/drawing/2014/main" id="{C42F2FBB-5E3C-48C1-A8EF-2919A60FFD34}"/>
                </a:ext>
              </a:extLst>
            </p:cNvPr>
            <p:cNvSpPr>
              <a:spLocks noChangeShapeType="1"/>
            </p:cNvSpPr>
            <p:nvPr/>
          </p:nvSpPr>
          <p:spPr bwMode="auto">
            <a:xfrm>
              <a:off x="3298" y="1050"/>
              <a:ext cx="17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34" name="Line 10">
              <a:extLst>
                <a:ext uri="{FF2B5EF4-FFF2-40B4-BE49-F238E27FC236}">
                  <a16:creationId xmlns:a16="http://schemas.microsoft.com/office/drawing/2014/main" id="{11A41B4E-3BFF-454C-8BFF-970F4FB189D5}"/>
                </a:ext>
              </a:extLst>
            </p:cNvPr>
            <p:cNvSpPr>
              <a:spLocks noChangeShapeType="1"/>
            </p:cNvSpPr>
            <p:nvPr/>
          </p:nvSpPr>
          <p:spPr bwMode="auto">
            <a:xfrm flipH="1">
              <a:off x="3481" y="1041"/>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35" name="Line 11">
              <a:extLst>
                <a:ext uri="{FF2B5EF4-FFF2-40B4-BE49-F238E27FC236}">
                  <a16:creationId xmlns:a16="http://schemas.microsoft.com/office/drawing/2014/main" id="{F257F708-C4F5-4176-A63D-4CCD0A4C422C}"/>
                </a:ext>
              </a:extLst>
            </p:cNvPr>
            <p:cNvSpPr>
              <a:spLocks noChangeShapeType="1"/>
            </p:cNvSpPr>
            <p:nvPr/>
          </p:nvSpPr>
          <p:spPr bwMode="auto">
            <a:xfrm flipV="1">
              <a:off x="3298" y="1456"/>
              <a:ext cx="175"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36" name="Line 12">
              <a:extLst>
                <a:ext uri="{FF2B5EF4-FFF2-40B4-BE49-F238E27FC236}">
                  <a16:creationId xmlns:a16="http://schemas.microsoft.com/office/drawing/2014/main" id="{FF268011-7272-46DD-9D5A-91F3496068DF}"/>
                </a:ext>
              </a:extLst>
            </p:cNvPr>
            <p:cNvSpPr>
              <a:spLocks noChangeShapeType="1"/>
            </p:cNvSpPr>
            <p:nvPr/>
          </p:nvSpPr>
          <p:spPr bwMode="auto">
            <a:xfrm>
              <a:off x="3304" y="1851"/>
              <a:ext cx="172"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285737" name="Object 13">
              <a:extLst>
                <a:ext uri="{FF2B5EF4-FFF2-40B4-BE49-F238E27FC236}">
                  <a16:creationId xmlns:a16="http://schemas.microsoft.com/office/drawing/2014/main" id="{EEA8F632-93A9-4664-9FBC-C70B649D4A73}"/>
                </a:ext>
              </a:extLst>
            </p:cNvPr>
            <p:cNvGraphicFramePr>
              <a:graphicFrameLocks noChangeAspect="1"/>
            </p:cNvGraphicFramePr>
            <p:nvPr/>
          </p:nvGraphicFramePr>
          <p:xfrm>
            <a:off x="2945" y="1235"/>
            <a:ext cx="368" cy="292"/>
          </p:xfrm>
          <a:graphic>
            <a:graphicData uri="http://schemas.openxmlformats.org/presentationml/2006/ole">
              <mc:AlternateContent xmlns:mc="http://schemas.openxmlformats.org/markup-compatibility/2006">
                <mc:Choice xmlns:v="urn:schemas-microsoft-com:vml" Requires="v">
                  <p:oleObj spid="_x0000_s285888" name="Clip" r:id="rId6" imgW="1307263" imgH="1084139" progId="MS_ClipArt_Gallery.2">
                    <p:embed/>
                  </p:oleObj>
                </mc:Choice>
                <mc:Fallback>
                  <p:oleObj name="Clip" r:id="rId6" imgW="1307263" imgH="1084139" progId="MS_ClipArt_Gallery.2">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5" y="12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5738" name="Object 14">
              <a:extLst>
                <a:ext uri="{FF2B5EF4-FFF2-40B4-BE49-F238E27FC236}">
                  <a16:creationId xmlns:a16="http://schemas.microsoft.com/office/drawing/2014/main" id="{3D30D4A5-ECEE-4E70-90C3-844FF20536E2}"/>
                </a:ext>
              </a:extLst>
            </p:cNvPr>
            <p:cNvGraphicFramePr>
              <a:graphicFrameLocks noChangeAspect="1"/>
            </p:cNvGraphicFramePr>
            <p:nvPr/>
          </p:nvGraphicFramePr>
          <p:xfrm>
            <a:off x="2945" y="1619"/>
            <a:ext cx="368" cy="292"/>
          </p:xfrm>
          <a:graphic>
            <a:graphicData uri="http://schemas.openxmlformats.org/presentationml/2006/ole">
              <mc:AlternateContent xmlns:mc="http://schemas.openxmlformats.org/markup-compatibility/2006">
                <mc:Choice xmlns:v="urn:schemas-microsoft-com:vml" Requires="v">
                  <p:oleObj spid="_x0000_s285889" name="Clip" r:id="rId7" imgW="1307263" imgH="1084139" progId="MS_ClipArt_Gallery.2">
                    <p:embed/>
                  </p:oleObj>
                </mc:Choice>
                <mc:Fallback>
                  <p:oleObj name="Clip" r:id="rId7" imgW="1307263" imgH="1084139" progId="MS_ClipArt_Gallery.2">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5" y="1619"/>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739" name="Line 15">
              <a:extLst>
                <a:ext uri="{FF2B5EF4-FFF2-40B4-BE49-F238E27FC236}">
                  <a16:creationId xmlns:a16="http://schemas.microsoft.com/office/drawing/2014/main" id="{1D9AF048-3768-4F74-A7D9-C87B2AFD2A6E}"/>
                </a:ext>
              </a:extLst>
            </p:cNvPr>
            <p:cNvSpPr>
              <a:spLocks noChangeShapeType="1"/>
            </p:cNvSpPr>
            <p:nvPr/>
          </p:nvSpPr>
          <p:spPr bwMode="auto">
            <a:xfrm>
              <a:off x="3481" y="1581"/>
              <a:ext cx="652"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85740" name="Group 16">
              <a:extLst>
                <a:ext uri="{FF2B5EF4-FFF2-40B4-BE49-F238E27FC236}">
                  <a16:creationId xmlns:a16="http://schemas.microsoft.com/office/drawing/2014/main" id="{A9E25E0E-E5F0-47CF-B352-12E166BD47B3}"/>
                </a:ext>
              </a:extLst>
            </p:cNvPr>
            <p:cNvGrpSpPr>
              <a:grpSpLocks/>
            </p:cNvGrpSpPr>
            <p:nvPr/>
          </p:nvGrpSpPr>
          <p:grpSpPr bwMode="auto">
            <a:xfrm>
              <a:off x="4075" y="1559"/>
              <a:ext cx="448" cy="240"/>
              <a:chOff x="3600" y="219"/>
              <a:chExt cx="360" cy="175"/>
            </a:xfrm>
          </p:grpSpPr>
          <p:sp>
            <p:nvSpPr>
              <p:cNvPr id="285776" name="Oval 17">
                <a:extLst>
                  <a:ext uri="{FF2B5EF4-FFF2-40B4-BE49-F238E27FC236}">
                    <a16:creationId xmlns:a16="http://schemas.microsoft.com/office/drawing/2014/main" id="{47567502-B38D-4BEB-8AEC-61E83F4F25A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77" name="Line 18">
                <a:extLst>
                  <a:ext uri="{FF2B5EF4-FFF2-40B4-BE49-F238E27FC236}">
                    <a16:creationId xmlns:a16="http://schemas.microsoft.com/office/drawing/2014/main" id="{4B84A896-2566-4BF7-BAC2-FFB5F7CBA18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78" name="Line 19">
                <a:extLst>
                  <a:ext uri="{FF2B5EF4-FFF2-40B4-BE49-F238E27FC236}">
                    <a16:creationId xmlns:a16="http://schemas.microsoft.com/office/drawing/2014/main" id="{BCE91BD5-4D42-42BD-A4CB-73B5538C3DC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79" name="Rectangle 20">
                <a:extLst>
                  <a:ext uri="{FF2B5EF4-FFF2-40B4-BE49-F238E27FC236}">
                    <a16:creationId xmlns:a16="http://schemas.microsoft.com/office/drawing/2014/main" id="{F377ED91-8A15-49B4-9273-BC9B8CB7B52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80" name="Oval 21">
                <a:extLst>
                  <a:ext uri="{FF2B5EF4-FFF2-40B4-BE49-F238E27FC236}">
                    <a16:creationId xmlns:a16="http://schemas.microsoft.com/office/drawing/2014/main" id="{9B63CFC9-5415-46D1-B3EA-3D3D7320D76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285781" name="Group 22">
                <a:extLst>
                  <a:ext uri="{FF2B5EF4-FFF2-40B4-BE49-F238E27FC236}">
                    <a16:creationId xmlns:a16="http://schemas.microsoft.com/office/drawing/2014/main" id="{46766795-55E5-4007-B6C1-8D9528A46325}"/>
                  </a:ext>
                </a:extLst>
              </p:cNvPr>
              <p:cNvGrpSpPr>
                <a:grpSpLocks/>
              </p:cNvGrpSpPr>
              <p:nvPr/>
            </p:nvGrpSpPr>
            <p:grpSpPr bwMode="auto">
              <a:xfrm>
                <a:off x="3686" y="244"/>
                <a:ext cx="177" cy="66"/>
                <a:chOff x="2848" y="848"/>
                <a:chExt cx="140" cy="98"/>
              </a:xfrm>
            </p:grpSpPr>
            <p:sp>
              <p:nvSpPr>
                <p:cNvPr id="285786" name="Line 23">
                  <a:extLst>
                    <a:ext uri="{FF2B5EF4-FFF2-40B4-BE49-F238E27FC236}">
                      <a16:creationId xmlns:a16="http://schemas.microsoft.com/office/drawing/2014/main" id="{718FF2EB-6B9D-4430-982C-660BA802B5E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87" name="Line 24">
                  <a:extLst>
                    <a:ext uri="{FF2B5EF4-FFF2-40B4-BE49-F238E27FC236}">
                      <a16:creationId xmlns:a16="http://schemas.microsoft.com/office/drawing/2014/main" id="{D9C5EB30-BFC7-4995-9887-35D0162E607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88" name="Line 25">
                  <a:extLst>
                    <a:ext uri="{FF2B5EF4-FFF2-40B4-BE49-F238E27FC236}">
                      <a16:creationId xmlns:a16="http://schemas.microsoft.com/office/drawing/2014/main" id="{AE6FA45C-EAD8-444E-8A19-5C0F61209AC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5782" name="Group 26">
                <a:extLst>
                  <a:ext uri="{FF2B5EF4-FFF2-40B4-BE49-F238E27FC236}">
                    <a16:creationId xmlns:a16="http://schemas.microsoft.com/office/drawing/2014/main" id="{73253C34-FD2D-46F7-BE0B-AC3DAD8FC99A}"/>
                  </a:ext>
                </a:extLst>
              </p:cNvPr>
              <p:cNvGrpSpPr>
                <a:grpSpLocks/>
              </p:cNvGrpSpPr>
              <p:nvPr/>
            </p:nvGrpSpPr>
            <p:grpSpPr bwMode="auto">
              <a:xfrm flipV="1">
                <a:off x="3686" y="243"/>
                <a:ext cx="177" cy="66"/>
                <a:chOff x="2848" y="848"/>
                <a:chExt cx="140" cy="98"/>
              </a:xfrm>
            </p:grpSpPr>
            <p:sp>
              <p:nvSpPr>
                <p:cNvPr id="285783" name="Line 27">
                  <a:extLst>
                    <a:ext uri="{FF2B5EF4-FFF2-40B4-BE49-F238E27FC236}">
                      <a16:creationId xmlns:a16="http://schemas.microsoft.com/office/drawing/2014/main" id="{D27AAF3E-EBD4-4536-B155-4E25BABADEF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84" name="Line 28">
                  <a:extLst>
                    <a:ext uri="{FF2B5EF4-FFF2-40B4-BE49-F238E27FC236}">
                      <a16:creationId xmlns:a16="http://schemas.microsoft.com/office/drawing/2014/main" id="{89DE1813-9B2E-4CAE-B185-F7940EDEEE5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85" name="Line 29">
                  <a:extLst>
                    <a:ext uri="{FF2B5EF4-FFF2-40B4-BE49-F238E27FC236}">
                      <a16:creationId xmlns:a16="http://schemas.microsoft.com/office/drawing/2014/main" id="{AC4C3921-4B89-44FB-A803-6DA83B6BF76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85741" name="Text Box 30">
              <a:extLst>
                <a:ext uri="{FF2B5EF4-FFF2-40B4-BE49-F238E27FC236}">
                  <a16:creationId xmlns:a16="http://schemas.microsoft.com/office/drawing/2014/main" id="{D477EF63-C51B-41EA-A81B-F30EF112A68E}"/>
                </a:ext>
              </a:extLst>
            </p:cNvPr>
            <p:cNvSpPr txBox="1">
              <a:spLocks noChangeArrowheads="1"/>
            </p:cNvSpPr>
            <p:nvPr/>
          </p:nvSpPr>
          <p:spPr bwMode="auto">
            <a:xfrm>
              <a:off x="3270" y="845"/>
              <a:ext cx="68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223.1.1.1</a:t>
              </a:r>
              <a:endParaRPr lang="en-US" altLang="en-US" sz="1800"/>
            </a:p>
          </p:txBody>
        </p:sp>
        <p:sp>
          <p:nvSpPr>
            <p:cNvPr id="285742" name="Rectangle 31">
              <a:extLst>
                <a:ext uri="{FF2B5EF4-FFF2-40B4-BE49-F238E27FC236}">
                  <a16:creationId xmlns:a16="http://schemas.microsoft.com/office/drawing/2014/main" id="{774E0645-402E-4A45-B9B4-6E3212AF23B5}"/>
                </a:ext>
              </a:extLst>
            </p:cNvPr>
            <p:cNvSpPr>
              <a:spLocks noChangeArrowheads="1"/>
            </p:cNvSpPr>
            <p:nvPr/>
          </p:nvSpPr>
          <p:spPr bwMode="auto">
            <a:xfrm>
              <a:off x="3327" y="1299"/>
              <a:ext cx="195" cy="11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43" name="Text Box 32">
              <a:extLst>
                <a:ext uri="{FF2B5EF4-FFF2-40B4-BE49-F238E27FC236}">
                  <a16:creationId xmlns:a16="http://schemas.microsoft.com/office/drawing/2014/main" id="{0AB529EA-48B8-4D87-B636-48327BFC5FD4}"/>
                </a:ext>
              </a:extLst>
            </p:cNvPr>
            <p:cNvSpPr txBox="1">
              <a:spLocks noChangeArrowheads="1"/>
            </p:cNvSpPr>
            <p:nvPr/>
          </p:nvSpPr>
          <p:spPr bwMode="auto">
            <a:xfrm>
              <a:off x="3281" y="1241"/>
              <a:ext cx="68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223.1.1.2</a:t>
              </a:r>
              <a:endParaRPr lang="en-US" altLang="en-US" sz="1800"/>
            </a:p>
          </p:txBody>
        </p:sp>
        <p:sp>
          <p:nvSpPr>
            <p:cNvPr id="285744" name="Text Box 33">
              <a:extLst>
                <a:ext uri="{FF2B5EF4-FFF2-40B4-BE49-F238E27FC236}">
                  <a16:creationId xmlns:a16="http://schemas.microsoft.com/office/drawing/2014/main" id="{7C379AF7-A8D5-4B27-A9A0-8283A4EFD0F3}"/>
                </a:ext>
              </a:extLst>
            </p:cNvPr>
            <p:cNvSpPr txBox="1">
              <a:spLocks noChangeArrowheads="1"/>
            </p:cNvSpPr>
            <p:nvPr/>
          </p:nvSpPr>
          <p:spPr bwMode="auto">
            <a:xfrm>
              <a:off x="3200" y="1840"/>
              <a:ext cx="685"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223.1.1.3</a:t>
              </a:r>
              <a:endParaRPr lang="en-US" altLang="en-US" sz="1800"/>
            </a:p>
          </p:txBody>
        </p:sp>
        <p:sp>
          <p:nvSpPr>
            <p:cNvPr id="285745" name="Text Box 34">
              <a:extLst>
                <a:ext uri="{FF2B5EF4-FFF2-40B4-BE49-F238E27FC236}">
                  <a16:creationId xmlns:a16="http://schemas.microsoft.com/office/drawing/2014/main" id="{0976E7F3-867F-47E0-890E-919F178566D3}"/>
                </a:ext>
              </a:extLst>
            </p:cNvPr>
            <p:cNvSpPr txBox="1">
              <a:spLocks noChangeArrowheads="1"/>
            </p:cNvSpPr>
            <p:nvPr/>
          </p:nvSpPr>
          <p:spPr bwMode="auto">
            <a:xfrm>
              <a:off x="3698" y="1418"/>
              <a:ext cx="685"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223.1.1.4</a:t>
              </a:r>
              <a:endParaRPr lang="en-US" altLang="en-US" sz="1800"/>
            </a:p>
          </p:txBody>
        </p:sp>
        <p:sp>
          <p:nvSpPr>
            <p:cNvPr id="285746" name="Line 35">
              <a:extLst>
                <a:ext uri="{FF2B5EF4-FFF2-40B4-BE49-F238E27FC236}">
                  <a16:creationId xmlns:a16="http://schemas.microsoft.com/office/drawing/2014/main" id="{816B869C-A34D-4B0F-8834-41602A299A2A}"/>
                </a:ext>
              </a:extLst>
            </p:cNvPr>
            <p:cNvSpPr>
              <a:spLocks noChangeShapeType="1"/>
            </p:cNvSpPr>
            <p:nvPr/>
          </p:nvSpPr>
          <p:spPr bwMode="auto">
            <a:xfrm>
              <a:off x="4456" y="1587"/>
              <a:ext cx="64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47" name="Text Box 36">
              <a:extLst>
                <a:ext uri="{FF2B5EF4-FFF2-40B4-BE49-F238E27FC236}">
                  <a16:creationId xmlns:a16="http://schemas.microsoft.com/office/drawing/2014/main" id="{1AD13A85-560A-4CA5-A625-E1EDC8DA87EA}"/>
                </a:ext>
              </a:extLst>
            </p:cNvPr>
            <p:cNvSpPr txBox="1">
              <a:spLocks noChangeArrowheads="1"/>
            </p:cNvSpPr>
            <p:nvPr/>
          </p:nvSpPr>
          <p:spPr bwMode="auto">
            <a:xfrm>
              <a:off x="4376" y="1412"/>
              <a:ext cx="68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223.1.2.9</a:t>
              </a:r>
              <a:endParaRPr lang="en-US" altLang="en-US" sz="1800"/>
            </a:p>
          </p:txBody>
        </p:sp>
        <p:sp>
          <p:nvSpPr>
            <p:cNvPr id="285748" name="Line 37">
              <a:extLst>
                <a:ext uri="{FF2B5EF4-FFF2-40B4-BE49-F238E27FC236}">
                  <a16:creationId xmlns:a16="http://schemas.microsoft.com/office/drawing/2014/main" id="{A265A1EA-8930-42BE-9820-630C708BF570}"/>
                </a:ext>
              </a:extLst>
            </p:cNvPr>
            <p:cNvSpPr>
              <a:spLocks noChangeShapeType="1"/>
            </p:cNvSpPr>
            <p:nvPr/>
          </p:nvSpPr>
          <p:spPr bwMode="auto">
            <a:xfrm flipH="1">
              <a:off x="5101" y="1149"/>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285749" name="Object 38">
              <a:extLst>
                <a:ext uri="{FF2B5EF4-FFF2-40B4-BE49-F238E27FC236}">
                  <a16:creationId xmlns:a16="http://schemas.microsoft.com/office/drawing/2014/main" id="{CB5DD43E-A269-4B2E-AF2F-8CF94E5E3AB2}"/>
                </a:ext>
              </a:extLst>
            </p:cNvPr>
            <p:cNvGraphicFramePr>
              <a:graphicFrameLocks noChangeAspect="1"/>
            </p:cNvGraphicFramePr>
            <p:nvPr/>
          </p:nvGraphicFramePr>
          <p:xfrm>
            <a:off x="5213" y="965"/>
            <a:ext cx="368" cy="292"/>
          </p:xfrm>
          <a:graphic>
            <a:graphicData uri="http://schemas.openxmlformats.org/presentationml/2006/ole">
              <mc:AlternateContent xmlns:mc="http://schemas.openxmlformats.org/markup-compatibility/2006">
                <mc:Choice xmlns:v="urn:schemas-microsoft-com:vml" Requires="v">
                  <p:oleObj spid="_x0000_s285890" name="Clip" r:id="rId8" imgW="1307263" imgH="1084139" progId="MS_ClipArt_Gallery.2">
                    <p:embed/>
                  </p:oleObj>
                </mc:Choice>
                <mc:Fallback>
                  <p:oleObj name="Clip" r:id="rId8" imgW="1307263" imgH="1084139" progId="MS_ClipArt_Gallery.2">
                    <p:embed/>
                    <p:pic>
                      <p:nvPicPr>
                        <p:cNvPr id="0"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3" y="96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750" name="Line 39">
              <a:extLst>
                <a:ext uri="{FF2B5EF4-FFF2-40B4-BE49-F238E27FC236}">
                  <a16:creationId xmlns:a16="http://schemas.microsoft.com/office/drawing/2014/main" id="{BC217331-8333-46B7-8F4C-38CEB25A09B8}"/>
                </a:ext>
              </a:extLst>
            </p:cNvPr>
            <p:cNvSpPr>
              <a:spLocks noChangeShapeType="1"/>
            </p:cNvSpPr>
            <p:nvPr/>
          </p:nvSpPr>
          <p:spPr bwMode="auto">
            <a:xfrm>
              <a:off x="5101" y="1152"/>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285751" name="Object 40">
              <a:extLst>
                <a:ext uri="{FF2B5EF4-FFF2-40B4-BE49-F238E27FC236}">
                  <a16:creationId xmlns:a16="http://schemas.microsoft.com/office/drawing/2014/main" id="{255F1186-FC97-4A46-9BED-AA5D4E7AF589}"/>
                </a:ext>
              </a:extLst>
            </p:cNvPr>
            <p:cNvGraphicFramePr>
              <a:graphicFrameLocks noChangeAspect="1"/>
            </p:cNvGraphicFramePr>
            <p:nvPr/>
          </p:nvGraphicFramePr>
          <p:xfrm>
            <a:off x="5216" y="1835"/>
            <a:ext cx="368" cy="292"/>
          </p:xfrm>
          <a:graphic>
            <a:graphicData uri="http://schemas.openxmlformats.org/presentationml/2006/ole">
              <mc:AlternateContent xmlns:mc="http://schemas.openxmlformats.org/markup-compatibility/2006">
                <mc:Choice xmlns:v="urn:schemas-microsoft-com:vml" Requires="v">
                  <p:oleObj spid="_x0000_s285891" name="Clip" r:id="rId9" imgW="1307263" imgH="1084139" progId="MS_ClipArt_Gallery.2">
                    <p:embed/>
                  </p:oleObj>
                </mc:Choice>
                <mc:Fallback>
                  <p:oleObj name="Clip" r:id="rId9" imgW="1307263" imgH="1084139" progId="MS_ClipArt_Gallery.2">
                    <p:embed/>
                    <p:pic>
                      <p:nvPicPr>
                        <p:cNvPr id="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6" y="18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752" name="Line 41">
              <a:extLst>
                <a:ext uri="{FF2B5EF4-FFF2-40B4-BE49-F238E27FC236}">
                  <a16:creationId xmlns:a16="http://schemas.microsoft.com/office/drawing/2014/main" id="{0BFD4F96-F7EF-40D3-8565-F5C03893BB31}"/>
                </a:ext>
              </a:extLst>
            </p:cNvPr>
            <p:cNvSpPr>
              <a:spLocks noChangeShapeType="1"/>
            </p:cNvSpPr>
            <p:nvPr/>
          </p:nvSpPr>
          <p:spPr bwMode="auto">
            <a:xfrm>
              <a:off x="5101" y="1953"/>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53" name="Rectangle 42">
              <a:extLst>
                <a:ext uri="{FF2B5EF4-FFF2-40B4-BE49-F238E27FC236}">
                  <a16:creationId xmlns:a16="http://schemas.microsoft.com/office/drawing/2014/main" id="{4810174F-F7C7-4C91-B33E-A6D51EE8534C}"/>
                </a:ext>
              </a:extLst>
            </p:cNvPr>
            <p:cNvSpPr>
              <a:spLocks noChangeArrowheads="1"/>
            </p:cNvSpPr>
            <p:nvPr/>
          </p:nvSpPr>
          <p:spPr bwMode="auto">
            <a:xfrm>
              <a:off x="5067" y="1794"/>
              <a:ext cx="108" cy="11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54" name="Text Box 43">
              <a:extLst>
                <a:ext uri="{FF2B5EF4-FFF2-40B4-BE49-F238E27FC236}">
                  <a16:creationId xmlns:a16="http://schemas.microsoft.com/office/drawing/2014/main" id="{BDCBB2D1-1B38-4808-9989-64986406A65F}"/>
                </a:ext>
              </a:extLst>
            </p:cNvPr>
            <p:cNvSpPr txBox="1">
              <a:spLocks noChangeArrowheads="1"/>
            </p:cNvSpPr>
            <p:nvPr/>
          </p:nvSpPr>
          <p:spPr bwMode="auto">
            <a:xfrm>
              <a:off x="4681" y="1739"/>
              <a:ext cx="68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223.1.2.2</a:t>
              </a:r>
              <a:endParaRPr lang="en-US" altLang="en-US" sz="1800"/>
            </a:p>
          </p:txBody>
        </p:sp>
        <p:sp>
          <p:nvSpPr>
            <p:cNvPr id="285755" name="Rectangle 44">
              <a:extLst>
                <a:ext uri="{FF2B5EF4-FFF2-40B4-BE49-F238E27FC236}">
                  <a16:creationId xmlns:a16="http://schemas.microsoft.com/office/drawing/2014/main" id="{379D974E-24FC-4D61-85AE-1B79FD01C5FE}"/>
                </a:ext>
              </a:extLst>
            </p:cNvPr>
            <p:cNvSpPr>
              <a:spLocks noChangeArrowheads="1"/>
            </p:cNvSpPr>
            <p:nvPr/>
          </p:nvSpPr>
          <p:spPr bwMode="auto">
            <a:xfrm>
              <a:off x="5076" y="1182"/>
              <a:ext cx="156" cy="11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56" name="Text Box 45">
              <a:extLst>
                <a:ext uri="{FF2B5EF4-FFF2-40B4-BE49-F238E27FC236}">
                  <a16:creationId xmlns:a16="http://schemas.microsoft.com/office/drawing/2014/main" id="{B04D03A9-9646-4E90-A21C-985418F65811}"/>
                </a:ext>
              </a:extLst>
            </p:cNvPr>
            <p:cNvSpPr txBox="1">
              <a:spLocks noChangeArrowheads="1"/>
            </p:cNvSpPr>
            <p:nvPr/>
          </p:nvSpPr>
          <p:spPr bwMode="auto">
            <a:xfrm>
              <a:off x="4586" y="1121"/>
              <a:ext cx="68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223.1.2.1</a:t>
              </a:r>
              <a:endParaRPr lang="en-US" altLang="en-US" sz="1800"/>
            </a:p>
          </p:txBody>
        </p:sp>
        <p:sp>
          <p:nvSpPr>
            <p:cNvPr id="285757" name="Line 46">
              <a:extLst>
                <a:ext uri="{FF2B5EF4-FFF2-40B4-BE49-F238E27FC236}">
                  <a16:creationId xmlns:a16="http://schemas.microsoft.com/office/drawing/2014/main" id="{C79DF52B-46C4-4704-9536-5A357E827E4B}"/>
                </a:ext>
              </a:extLst>
            </p:cNvPr>
            <p:cNvSpPr>
              <a:spLocks noChangeShapeType="1"/>
            </p:cNvSpPr>
            <p:nvPr/>
          </p:nvSpPr>
          <p:spPr bwMode="auto">
            <a:xfrm flipH="1">
              <a:off x="4306" y="1800"/>
              <a:ext cx="0" cy="45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58" name="Line 47">
              <a:extLst>
                <a:ext uri="{FF2B5EF4-FFF2-40B4-BE49-F238E27FC236}">
                  <a16:creationId xmlns:a16="http://schemas.microsoft.com/office/drawing/2014/main" id="{76A20CD6-41D7-421C-B371-61CC329AEFD2}"/>
                </a:ext>
              </a:extLst>
            </p:cNvPr>
            <p:cNvSpPr>
              <a:spLocks noChangeShapeType="1"/>
            </p:cNvSpPr>
            <p:nvPr/>
          </p:nvSpPr>
          <p:spPr bwMode="auto">
            <a:xfrm flipH="1">
              <a:off x="3892" y="2253"/>
              <a:ext cx="7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59" name="Line 48">
              <a:extLst>
                <a:ext uri="{FF2B5EF4-FFF2-40B4-BE49-F238E27FC236}">
                  <a16:creationId xmlns:a16="http://schemas.microsoft.com/office/drawing/2014/main" id="{D6F2A928-79D0-4D78-B17E-05D6AF2861D3}"/>
                </a:ext>
              </a:extLst>
            </p:cNvPr>
            <p:cNvSpPr>
              <a:spLocks noChangeShapeType="1"/>
            </p:cNvSpPr>
            <p:nvPr/>
          </p:nvSpPr>
          <p:spPr bwMode="auto">
            <a:xfrm flipH="1" flipV="1">
              <a:off x="3890" y="2248"/>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60" name="Line 49">
              <a:extLst>
                <a:ext uri="{FF2B5EF4-FFF2-40B4-BE49-F238E27FC236}">
                  <a16:creationId xmlns:a16="http://schemas.microsoft.com/office/drawing/2014/main" id="{C495DAD6-68BE-4072-A0AB-2757DE8CD771}"/>
                </a:ext>
              </a:extLst>
            </p:cNvPr>
            <p:cNvSpPr>
              <a:spLocks noChangeShapeType="1"/>
            </p:cNvSpPr>
            <p:nvPr/>
          </p:nvSpPr>
          <p:spPr bwMode="auto">
            <a:xfrm flipH="1" flipV="1">
              <a:off x="4631" y="2251"/>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285761" name="Object 50">
              <a:extLst>
                <a:ext uri="{FF2B5EF4-FFF2-40B4-BE49-F238E27FC236}">
                  <a16:creationId xmlns:a16="http://schemas.microsoft.com/office/drawing/2014/main" id="{350C549D-707C-46BA-ACB2-F22CBCCDEBA9}"/>
                </a:ext>
              </a:extLst>
            </p:cNvPr>
            <p:cNvGraphicFramePr>
              <a:graphicFrameLocks noChangeAspect="1"/>
            </p:cNvGraphicFramePr>
            <p:nvPr/>
          </p:nvGraphicFramePr>
          <p:xfrm>
            <a:off x="4496" y="2351"/>
            <a:ext cx="368" cy="292"/>
          </p:xfrm>
          <a:graphic>
            <a:graphicData uri="http://schemas.openxmlformats.org/presentationml/2006/ole">
              <mc:AlternateContent xmlns:mc="http://schemas.openxmlformats.org/markup-compatibility/2006">
                <mc:Choice xmlns:v="urn:schemas-microsoft-com:vml" Requires="v">
                  <p:oleObj spid="_x0000_s285892" name="Clip" r:id="rId10" imgW="1307263" imgH="1084139" progId="MS_ClipArt_Gallery.2">
                    <p:embed/>
                  </p:oleObj>
                </mc:Choice>
                <mc:Fallback>
                  <p:oleObj name="Clip" r:id="rId10" imgW="1307263" imgH="1084139" progId="MS_ClipArt_Gallery.2">
                    <p:embed/>
                    <p:pic>
                      <p:nvPicPr>
                        <p:cNvPr id="0" name="Object 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6" y="2351"/>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5762" name="Object 51">
              <a:extLst>
                <a:ext uri="{FF2B5EF4-FFF2-40B4-BE49-F238E27FC236}">
                  <a16:creationId xmlns:a16="http://schemas.microsoft.com/office/drawing/2014/main" id="{C7FABB51-970C-48AA-A519-F2414EB7E0C5}"/>
                </a:ext>
              </a:extLst>
            </p:cNvPr>
            <p:cNvGraphicFramePr>
              <a:graphicFrameLocks noChangeAspect="1"/>
            </p:cNvGraphicFramePr>
            <p:nvPr/>
          </p:nvGraphicFramePr>
          <p:xfrm>
            <a:off x="3704" y="2360"/>
            <a:ext cx="368" cy="292"/>
          </p:xfrm>
          <a:graphic>
            <a:graphicData uri="http://schemas.openxmlformats.org/presentationml/2006/ole">
              <mc:AlternateContent xmlns:mc="http://schemas.openxmlformats.org/markup-compatibility/2006">
                <mc:Choice xmlns:v="urn:schemas-microsoft-com:vml" Requires="v">
                  <p:oleObj spid="_x0000_s285893" name="Clip" r:id="rId11" imgW="1307263" imgH="1084139" progId="MS_ClipArt_Gallery.2">
                    <p:embed/>
                  </p:oleObj>
                </mc:Choice>
                <mc:Fallback>
                  <p:oleObj name="Clip" r:id="rId11" imgW="1307263" imgH="1084139" progId="MS_ClipArt_Gallery.2">
                    <p:embed/>
                    <p:pic>
                      <p:nvPicPr>
                        <p:cNvPr id="0" name="Object 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4" y="2360"/>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763" name="Text Box 52">
              <a:extLst>
                <a:ext uri="{FF2B5EF4-FFF2-40B4-BE49-F238E27FC236}">
                  <a16:creationId xmlns:a16="http://schemas.microsoft.com/office/drawing/2014/main" id="{584FE930-A6FA-406E-900B-426D9C9CA11F}"/>
                </a:ext>
              </a:extLst>
            </p:cNvPr>
            <p:cNvSpPr txBox="1">
              <a:spLocks noChangeArrowheads="1"/>
            </p:cNvSpPr>
            <p:nvPr/>
          </p:nvSpPr>
          <p:spPr bwMode="auto">
            <a:xfrm>
              <a:off x="4634" y="2156"/>
              <a:ext cx="68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a:t>
              </a:r>
              <a:endParaRPr lang="en-US" altLang="en-US" sz="1800"/>
            </a:p>
          </p:txBody>
        </p:sp>
        <p:sp>
          <p:nvSpPr>
            <p:cNvPr id="285764" name="Text Box 53">
              <a:extLst>
                <a:ext uri="{FF2B5EF4-FFF2-40B4-BE49-F238E27FC236}">
                  <a16:creationId xmlns:a16="http://schemas.microsoft.com/office/drawing/2014/main" id="{D018D52C-46DE-49F0-85A9-F8FA8DF8FE30}"/>
                </a:ext>
              </a:extLst>
            </p:cNvPr>
            <p:cNvSpPr txBox="1">
              <a:spLocks noChangeArrowheads="1"/>
            </p:cNvSpPr>
            <p:nvPr/>
          </p:nvSpPr>
          <p:spPr bwMode="auto">
            <a:xfrm>
              <a:off x="3264" y="2180"/>
              <a:ext cx="68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223.1.3.1</a:t>
              </a:r>
              <a:endParaRPr lang="en-US" altLang="en-US" sz="1800"/>
            </a:p>
          </p:txBody>
        </p:sp>
        <p:sp>
          <p:nvSpPr>
            <p:cNvPr id="285765" name="Rectangle 54">
              <a:extLst>
                <a:ext uri="{FF2B5EF4-FFF2-40B4-BE49-F238E27FC236}">
                  <a16:creationId xmlns:a16="http://schemas.microsoft.com/office/drawing/2014/main" id="{7E5E1DA3-AC4D-4C41-911B-A786A8C846BB}"/>
                </a:ext>
              </a:extLst>
            </p:cNvPr>
            <p:cNvSpPr>
              <a:spLocks noChangeArrowheads="1"/>
            </p:cNvSpPr>
            <p:nvPr/>
          </p:nvSpPr>
          <p:spPr bwMode="auto">
            <a:xfrm>
              <a:off x="4266" y="1884"/>
              <a:ext cx="81" cy="11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66" name="Text Box 55">
              <a:extLst>
                <a:ext uri="{FF2B5EF4-FFF2-40B4-BE49-F238E27FC236}">
                  <a16:creationId xmlns:a16="http://schemas.microsoft.com/office/drawing/2014/main" id="{E3DF6E29-0878-4BC7-9E4A-93E043C7FF92}"/>
                </a:ext>
              </a:extLst>
            </p:cNvPr>
            <p:cNvSpPr txBox="1">
              <a:spLocks noChangeArrowheads="1"/>
            </p:cNvSpPr>
            <p:nvPr/>
          </p:nvSpPr>
          <p:spPr bwMode="auto">
            <a:xfrm>
              <a:off x="3926" y="1835"/>
              <a:ext cx="760"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223.1.3.27</a:t>
              </a:r>
              <a:endParaRPr lang="en-US" altLang="en-US" sz="1800"/>
            </a:p>
          </p:txBody>
        </p:sp>
        <p:grpSp>
          <p:nvGrpSpPr>
            <p:cNvPr id="285767" name="Group 56">
              <a:extLst>
                <a:ext uri="{FF2B5EF4-FFF2-40B4-BE49-F238E27FC236}">
                  <a16:creationId xmlns:a16="http://schemas.microsoft.com/office/drawing/2014/main" id="{11B7A613-5DDB-4DC4-B51B-C9DAAB6D45AB}"/>
                </a:ext>
              </a:extLst>
            </p:cNvPr>
            <p:cNvGrpSpPr>
              <a:grpSpLocks/>
            </p:cNvGrpSpPr>
            <p:nvPr/>
          </p:nvGrpSpPr>
          <p:grpSpPr bwMode="auto">
            <a:xfrm>
              <a:off x="3008" y="791"/>
              <a:ext cx="246" cy="263"/>
              <a:chOff x="2822" y="1181"/>
              <a:chExt cx="246" cy="263"/>
            </a:xfrm>
          </p:grpSpPr>
          <p:sp>
            <p:nvSpPr>
              <p:cNvPr id="285774" name="Rectangle 57">
                <a:extLst>
                  <a:ext uri="{FF2B5EF4-FFF2-40B4-BE49-F238E27FC236}">
                    <a16:creationId xmlns:a16="http://schemas.microsoft.com/office/drawing/2014/main" id="{BC760EB8-87B4-44D6-8744-8FF45659B5BD}"/>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75" name="Text Box 58">
                <a:extLst>
                  <a:ext uri="{FF2B5EF4-FFF2-40B4-BE49-F238E27FC236}">
                    <a16:creationId xmlns:a16="http://schemas.microsoft.com/office/drawing/2014/main" id="{BD68145E-699E-4D1A-A94E-14DE46BBED02}"/>
                  </a:ext>
                </a:extLst>
              </p:cNvPr>
              <p:cNvSpPr txBox="1">
                <a:spLocks noChangeArrowheads="1"/>
              </p:cNvSpPr>
              <p:nvPr/>
            </p:nvSpPr>
            <p:spPr bwMode="auto">
              <a:xfrm>
                <a:off x="2822" y="1181"/>
                <a:ext cx="24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A</a:t>
                </a:r>
                <a:endParaRPr lang="en-US" altLang="en-US" sz="1800">
                  <a:solidFill>
                    <a:srgbClr val="FF0000"/>
                  </a:solidFill>
                </a:endParaRPr>
              </a:p>
            </p:txBody>
          </p:sp>
        </p:grpSp>
        <p:grpSp>
          <p:nvGrpSpPr>
            <p:cNvPr id="285768" name="Group 59">
              <a:extLst>
                <a:ext uri="{FF2B5EF4-FFF2-40B4-BE49-F238E27FC236}">
                  <a16:creationId xmlns:a16="http://schemas.microsoft.com/office/drawing/2014/main" id="{257F2653-5D77-48B5-9214-5EBDFE43734E}"/>
                </a:ext>
              </a:extLst>
            </p:cNvPr>
            <p:cNvGrpSpPr>
              <a:grpSpLocks/>
            </p:cNvGrpSpPr>
            <p:nvPr/>
          </p:nvGrpSpPr>
          <p:grpSpPr bwMode="auto">
            <a:xfrm>
              <a:off x="3001" y="1571"/>
              <a:ext cx="229" cy="262"/>
              <a:chOff x="2821" y="1181"/>
              <a:chExt cx="229" cy="262"/>
            </a:xfrm>
          </p:grpSpPr>
          <p:sp>
            <p:nvSpPr>
              <p:cNvPr id="285772" name="Rectangle 60">
                <a:extLst>
                  <a:ext uri="{FF2B5EF4-FFF2-40B4-BE49-F238E27FC236}">
                    <a16:creationId xmlns:a16="http://schemas.microsoft.com/office/drawing/2014/main" id="{810EA99F-D766-4CC6-8BFE-6D55C0F02A69}"/>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73" name="Text Box 61">
                <a:extLst>
                  <a:ext uri="{FF2B5EF4-FFF2-40B4-BE49-F238E27FC236}">
                    <a16:creationId xmlns:a16="http://schemas.microsoft.com/office/drawing/2014/main" id="{913E311E-CF48-4CE4-811B-618C8E8BEED8}"/>
                  </a:ext>
                </a:extLst>
              </p:cNvPr>
              <p:cNvSpPr txBox="1">
                <a:spLocks noChangeArrowheads="1"/>
              </p:cNvSpPr>
              <p:nvPr/>
            </p:nvSpPr>
            <p:spPr bwMode="auto">
              <a:xfrm>
                <a:off x="2821" y="1181"/>
                <a:ext cx="22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B</a:t>
                </a:r>
                <a:endParaRPr lang="en-US" altLang="en-US" sz="1800">
                  <a:solidFill>
                    <a:srgbClr val="FF0000"/>
                  </a:solidFill>
                </a:endParaRPr>
              </a:p>
            </p:txBody>
          </p:sp>
        </p:grpSp>
        <p:grpSp>
          <p:nvGrpSpPr>
            <p:cNvPr id="285769" name="Group 62">
              <a:extLst>
                <a:ext uri="{FF2B5EF4-FFF2-40B4-BE49-F238E27FC236}">
                  <a16:creationId xmlns:a16="http://schemas.microsoft.com/office/drawing/2014/main" id="{7C23122F-2659-4C8E-9DA9-D801D3F889F5}"/>
                </a:ext>
              </a:extLst>
            </p:cNvPr>
            <p:cNvGrpSpPr>
              <a:grpSpLocks/>
            </p:cNvGrpSpPr>
            <p:nvPr/>
          </p:nvGrpSpPr>
          <p:grpSpPr bwMode="auto">
            <a:xfrm>
              <a:off x="5276" y="1798"/>
              <a:ext cx="228" cy="263"/>
              <a:chOff x="2822" y="1180"/>
              <a:chExt cx="228" cy="263"/>
            </a:xfrm>
          </p:grpSpPr>
          <p:sp>
            <p:nvSpPr>
              <p:cNvPr id="285770" name="Rectangle 63">
                <a:extLst>
                  <a:ext uri="{FF2B5EF4-FFF2-40B4-BE49-F238E27FC236}">
                    <a16:creationId xmlns:a16="http://schemas.microsoft.com/office/drawing/2014/main" id="{D532EEE3-83D8-4966-BB49-8982C47EC085}"/>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71" name="Text Box 64">
                <a:extLst>
                  <a:ext uri="{FF2B5EF4-FFF2-40B4-BE49-F238E27FC236}">
                    <a16:creationId xmlns:a16="http://schemas.microsoft.com/office/drawing/2014/main" id="{BC30ACAE-63B0-4E97-ABF7-A982BFBA936D}"/>
                  </a:ext>
                </a:extLst>
              </p:cNvPr>
              <p:cNvSpPr txBox="1">
                <a:spLocks noChangeArrowheads="1"/>
              </p:cNvSpPr>
              <p:nvPr/>
            </p:nvSpPr>
            <p:spPr bwMode="auto">
              <a:xfrm>
                <a:off x="2822" y="1180"/>
                <a:ext cx="22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E</a:t>
                </a:r>
                <a:endParaRPr lang="en-US" altLang="en-US" sz="1800">
                  <a:solidFill>
                    <a:srgbClr val="FF0000"/>
                  </a:solidFill>
                </a:endParaRPr>
              </a:p>
            </p:txBody>
          </p:sp>
        </p:grpSp>
      </p:grpSp>
      <p:sp>
        <p:nvSpPr>
          <p:cNvPr id="285701" name="Rectangle 65">
            <a:extLst>
              <a:ext uri="{FF2B5EF4-FFF2-40B4-BE49-F238E27FC236}">
                <a16:creationId xmlns:a16="http://schemas.microsoft.com/office/drawing/2014/main" id="{401CF36E-E508-4B1E-A6D0-F40DE5F079DC}"/>
              </a:ext>
            </a:extLst>
          </p:cNvPr>
          <p:cNvSpPr>
            <a:spLocks noChangeArrowheads="1"/>
          </p:cNvSpPr>
          <p:nvPr/>
        </p:nvSpPr>
        <p:spPr bwMode="auto">
          <a:xfrm>
            <a:off x="0" y="939800"/>
            <a:ext cx="4333875"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t>Trạm A gởi gói dữ liệu cho B với địa chỉ IP đã được biết:</a:t>
            </a:r>
          </a:p>
          <a:p>
            <a:pPr>
              <a:buFont typeface="ZapfDingbats" pitchFamily="82" charset="2"/>
              <a:buChar char="r"/>
            </a:pPr>
            <a:r>
              <a:rPr lang="en-US" altLang="en-US" sz="2000"/>
              <a:t>dò tìm địa chỉ IP của B trong bảng định tuyến và biết rằng B nằm trên cùng một mạng với A</a:t>
            </a:r>
          </a:p>
          <a:p>
            <a:pPr>
              <a:buFont typeface="ZapfDingbats" pitchFamily="82" charset="2"/>
              <a:buChar char="r"/>
            </a:pPr>
            <a:r>
              <a:rPr lang="en-US" altLang="en-US" sz="2000">
                <a:solidFill>
                  <a:srgbClr val="FF0000"/>
                </a:solidFill>
              </a:rPr>
              <a:t>tầng LKDL máy A đóng gói gam dữ liệu vào khung (frame) và gởi cho B -&gt; B’s MAC?</a:t>
            </a:r>
          </a:p>
        </p:txBody>
      </p:sp>
      <p:grpSp>
        <p:nvGrpSpPr>
          <p:cNvPr id="285702" name="Group 92">
            <a:extLst>
              <a:ext uri="{FF2B5EF4-FFF2-40B4-BE49-F238E27FC236}">
                <a16:creationId xmlns:a16="http://schemas.microsoft.com/office/drawing/2014/main" id="{ABDC11AF-87AB-4C98-8BBF-1FA4F8230AAD}"/>
              </a:ext>
            </a:extLst>
          </p:cNvPr>
          <p:cNvGrpSpPr>
            <a:grpSpLocks/>
          </p:cNvGrpSpPr>
          <p:nvPr/>
        </p:nvGrpSpPr>
        <p:grpSpPr bwMode="auto">
          <a:xfrm>
            <a:off x="412750" y="4214813"/>
            <a:ext cx="6086475" cy="2503487"/>
            <a:chOff x="260" y="2655"/>
            <a:chExt cx="3834" cy="1577"/>
          </a:xfrm>
        </p:grpSpPr>
        <p:sp>
          <p:nvSpPr>
            <p:cNvPr id="285703" name="Rectangle 2">
              <a:extLst>
                <a:ext uri="{FF2B5EF4-FFF2-40B4-BE49-F238E27FC236}">
                  <a16:creationId xmlns:a16="http://schemas.microsoft.com/office/drawing/2014/main" id="{40726A8B-6DF0-4FEC-976F-0B309935B56B}"/>
                </a:ext>
              </a:extLst>
            </p:cNvPr>
            <p:cNvSpPr>
              <a:spLocks noChangeArrowheads="1"/>
            </p:cNvSpPr>
            <p:nvPr/>
          </p:nvSpPr>
          <p:spPr bwMode="auto">
            <a:xfrm>
              <a:off x="1951" y="3293"/>
              <a:ext cx="2143" cy="422"/>
            </a:xfrm>
            <a:prstGeom prst="rect">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04" name="Text Box 66">
              <a:extLst>
                <a:ext uri="{FF2B5EF4-FFF2-40B4-BE49-F238E27FC236}">
                  <a16:creationId xmlns:a16="http://schemas.microsoft.com/office/drawing/2014/main" id="{BB568CEE-BC7A-4B8F-9397-AD7FCEE7AFE4}"/>
                </a:ext>
              </a:extLst>
            </p:cNvPr>
            <p:cNvSpPr txBox="1">
              <a:spLocks noChangeArrowheads="1"/>
            </p:cNvSpPr>
            <p:nvPr/>
          </p:nvSpPr>
          <p:spPr bwMode="auto">
            <a:xfrm>
              <a:off x="410" y="3304"/>
              <a:ext cx="66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B’s MAC</a:t>
              </a:r>
            </a:p>
            <a:p>
              <a:pPr>
                <a:spcBef>
                  <a:spcPct val="0"/>
                </a:spcBef>
                <a:buClrTx/>
                <a:buSzTx/>
                <a:buFontTx/>
                <a:buNone/>
              </a:pPr>
              <a:r>
                <a:rPr lang="en-US" altLang="en-US" sz="1800"/>
                <a:t>addr</a:t>
              </a:r>
            </a:p>
          </p:txBody>
        </p:sp>
        <p:sp>
          <p:nvSpPr>
            <p:cNvPr id="285705" name="Text Box 67">
              <a:extLst>
                <a:ext uri="{FF2B5EF4-FFF2-40B4-BE49-F238E27FC236}">
                  <a16:creationId xmlns:a16="http://schemas.microsoft.com/office/drawing/2014/main" id="{3FF76E36-83DB-4294-84ED-CEB588BD365B}"/>
                </a:ext>
              </a:extLst>
            </p:cNvPr>
            <p:cNvSpPr txBox="1">
              <a:spLocks noChangeArrowheads="1"/>
            </p:cNvSpPr>
            <p:nvPr/>
          </p:nvSpPr>
          <p:spPr bwMode="auto">
            <a:xfrm>
              <a:off x="1066" y="3304"/>
              <a:ext cx="67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A’s MAC</a:t>
              </a:r>
            </a:p>
            <a:p>
              <a:pPr>
                <a:spcBef>
                  <a:spcPct val="0"/>
                </a:spcBef>
                <a:buClrTx/>
                <a:buSzTx/>
                <a:buFontTx/>
                <a:buNone/>
              </a:pPr>
              <a:r>
                <a:rPr lang="en-US" altLang="en-US" sz="1800"/>
                <a:t>addr</a:t>
              </a:r>
            </a:p>
          </p:txBody>
        </p:sp>
        <p:sp>
          <p:nvSpPr>
            <p:cNvPr id="285706" name="Text Box 68">
              <a:extLst>
                <a:ext uri="{FF2B5EF4-FFF2-40B4-BE49-F238E27FC236}">
                  <a16:creationId xmlns:a16="http://schemas.microsoft.com/office/drawing/2014/main" id="{B157CA62-03EF-4185-8BB2-5081BBC31AA5}"/>
                </a:ext>
              </a:extLst>
            </p:cNvPr>
            <p:cNvSpPr txBox="1">
              <a:spLocks noChangeArrowheads="1"/>
            </p:cNvSpPr>
            <p:nvPr/>
          </p:nvSpPr>
          <p:spPr bwMode="auto">
            <a:xfrm>
              <a:off x="2024" y="3293"/>
              <a:ext cx="51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A’s IP</a:t>
              </a:r>
            </a:p>
            <a:p>
              <a:pPr>
                <a:spcBef>
                  <a:spcPct val="0"/>
                </a:spcBef>
                <a:buClrTx/>
                <a:buSzTx/>
                <a:buFontTx/>
                <a:buNone/>
              </a:pPr>
              <a:r>
                <a:rPr lang="en-US" altLang="en-US" sz="1800"/>
                <a:t>addr</a:t>
              </a:r>
            </a:p>
          </p:txBody>
        </p:sp>
        <p:sp>
          <p:nvSpPr>
            <p:cNvPr id="285707" name="Text Box 69">
              <a:extLst>
                <a:ext uri="{FF2B5EF4-FFF2-40B4-BE49-F238E27FC236}">
                  <a16:creationId xmlns:a16="http://schemas.microsoft.com/office/drawing/2014/main" id="{64C13632-1A03-4A63-BCE3-BBC541201BE0}"/>
                </a:ext>
              </a:extLst>
            </p:cNvPr>
            <p:cNvSpPr txBox="1">
              <a:spLocks noChangeArrowheads="1"/>
            </p:cNvSpPr>
            <p:nvPr/>
          </p:nvSpPr>
          <p:spPr bwMode="auto">
            <a:xfrm>
              <a:off x="2633" y="3297"/>
              <a:ext cx="50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B’s IP</a:t>
              </a:r>
            </a:p>
            <a:p>
              <a:pPr>
                <a:spcBef>
                  <a:spcPct val="0"/>
                </a:spcBef>
                <a:buClrTx/>
                <a:buSzTx/>
                <a:buFontTx/>
                <a:buNone/>
              </a:pPr>
              <a:r>
                <a:rPr lang="en-US" altLang="en-US" sz="1800"/>
                <a:t>addr</a:t>
              </a:r>
            </a:p>
          </p:txBody>
        </p:sp>
        <p:sp>
          <p:nvSpPr>
            <p:cNvPr id="285708" name="Text Box 70">
              <a:extLst>
                <a:ext uri="{FF2B5EF4-FFF2-40B4-BE49-F238E27FC236}">
                  <a16:creationId xmlns:a16="http://schemas.microsoft.com/office/drawing/2014/main" id="{4032C667-AB61-4939-8EC1-4555A0795FB5}"/>
                </a:ext>
              </a:extLst>
            </p:cNvPr>
            <p:cNvSpPr txBox="1">
              <a:spLocks noChangeArrowheads="1"/>
            </p:cNvSpPr>
            <p:nvPr/>
          </p:nvSpPr>
          <p:spPr bwMode="auto">
            <a:xfrm>
              <a:off x="3262" y="3380"/>
              <a:ext cx="81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IP payload</a:t>
              </a:r>
            </a:p>
          </p:txBody>
        </p:sp>
        <p:sp>
          <p:nvSpPr>
            <p:cNvPr id="285709" name="Rectangle 71">
              <a:extLst>
                <a:ext uri="{FF2B5EF4-FFF2-40B4-BE49-F238E27FC236}">
                  <a16:creationId xmlns:a16="http://schemas.microsoft.com/office/drawing/2014/main" id="{72F645BB-2791-4EF5-80A5-EBB7BDEA2CFE}"/>
                </a:ext>
              </a:extLst>
            </p:cNvPr>
            <p:cNvSpPr>
              <a:spLocks noChangeArrowheads="1"/>
            </p:cNvSpPr>
            <p:nvPr/>
          </p:nvSpPr>
          <p:spPr bwMode="auto">
            <a:xfrm>
              <a:off x="276" y="3292"/>
              <a:ext cx="3818" cy="422"/>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10" name="Line 72">
              <a:extLst>
                <a:ext uri="{FF2B5EF4-FFF2-40B4-BE49-F238E27FC236}">
                  <a16:creationId xmlns:a16="http://schemas.microsoft.com/office/drawing/2014/main" id="{B19A72F9-0502-415F-9F7E-B9C00801F9F9}"/>
                </a:ext>
              </a:extLst>
            </p:cNvPr>
            <p:cNvSpPr>
              <a:spLocks noChangeShapeType="1"/>
            </p:cNvSpPr>
            <p:nvPr/>
          </p:nvSpPr>
          <p:spPr bwMode="auto">
            <a:xfrm>
              <a:off x="1094" y="3299"/>
              <a:ext cx="0" cy="4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11" name="Line 73">
              <a:extLst>
                <a:ext uri="{FF2B5EF4-FFF2-40B4-BE49-F238E27FC236}">
                  <a16:creationId xmlns:a16="http://schemas.microsoft.com/office/drawing/2014/main" id="{3190BD17-6D9E-4CBA-BB18-72F8B142938D}"/>
                </a:ext>
              </a:extLst>
            </p:cNvPr>
            <p:cNvSpPr>
              <a:spLocks noChangeShapeType="1"/>
            </p:cNvSpPr>
            <p:nvPr/>
          </p:nvSpPr>
          <p:spPr bwMode="auto">
            <a:xfrm>
              <a:off x="1784" y="3296"/>
              <a:ext cx="0" cy="4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12" name="Line 74">
              <a:extLst>
                <a:ext uri="{FF2B5EF4-FFF2-40B4-BE49-F238E27FC236}">
                  <a16:creationId xmlns:a16="http://schemas.microsoft.com/office/drawing/2014/main" id="{ADFF23EE-1FB4-40EF-A792-420016D068AA}"/>
                </a:ext>
              </a:extLst>
            </p:cNvPr>
            <p:cNvSpPr>
              <a:spLocks noChangeShapeType="1"/>
            </p:cNvSpPr>
            <p:nvPr/>
          </p:nvSpPr>
          <p:spPr bwMode="auto">
            <a:xfrm>
              <a:off x="1953" y="3300"/>
              <a:ext cx="0" cy="4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5713" name="Rectangle 75">
              <a:extLst>
                <a:ext uri="{FF2B5EF4-FFF2-40B4-BE49-F238E27FC236}">
                  <a16:creationId xmlns:a16="http://schemas.microsoft.com/office/drawing/2014/main" id="{7FEBF5AB-0DC1-4224-A9CB-998AEDE8E35F}"/>
                </a:ext>
              </a:extLst>
            </p:cNvPr>
            <p:cNvSpPr>
              <a:spLocks noChangeArrowheads="1"/>
            </p:cNvSpPr>
            <p:nvPr/>
          </p:nvSpPr>
          <p:spPr bwMode="auto">
            <a:xfrm>
              <a:off x="363" y="3260"/>
              <a:ext cx="47" cy="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14" name="Rectangle 76">
              <a:extLst>
                <a:ext uri="{FF2B5EF4-FFF2-40B4-BE49-F238E27FC236}">
                  <a16:creationId xmlns:a16="http://schemas.microsoft.com/office/drawing/2014/main" id="{D7717DF0-96B1-4EE8-AFD8-6C033621DDF9}"/>
                </a:ext>
              </a:extLst>
            </p:cNvPr>
            <p:cNvSpPr>
              <a:spLocks noChangeArrowheads="1"/>
            </p:cNvSpPr>
            <p:nvPr/>
          </p:nvSpPr>
          <p:spPr bwMode="auto">
            <a:xfrm>
              <a:off x="347" y="3660"/>
              <a:ext cx="47" cy="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15" name="Rectangle 77">
              <a:extLst>
                <a:ext uri="{FF2B5EF4-FFF2-40B4-BE49-F238E27FC236}">
                  <a16:creationId xmlns:a16="http://schemas.microsoft.com/office/drawing/2014/main" id="{2041AC9D-3499-4896-A2D0-11ACE9CB71B8}"/>
                </a:ext>
              </a:extLst>
            </p:cNvPr>
            <p:cNvSpPr>
              <a:spLocks noChangeArrowheads="1"/>
            </p:cNvSpPr>
            <p:nvPr/>
          </p:nvSpPr>
          <p:spPr bwMode="auto">
            <a:xfrm>
              <a:off x="1841" y="3262"/>
              <a:ext cx="47" cy="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16" name="Rectangle 78">
              <a:extLst>
                <a:ext uri="{FF2B5EF4-FFF2-40B4-BE49-F238E27FC236}">
                  <a16:creationId xmlns:a16="http://schemas.microsoft.com/office/drawing/2014/main" id="{D9068958-FF45-4551-98F8-C021FB349F58}"/>
                </a:ext>
              </a:extLst>
            </p:cNvPr>
            <p:cNvSpPr>
              <a:spLocks noChangeArrowheads="1"/>
            </p:cNvSpPr>
            <p:nvPr/>
          </p:nvSpPr>
          <p:spPr bwMode="auto">
            <a:xfrm>
              <a:off x="1852" y="3669"/>
              <a:ext cx="47" cy="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85717" name="Text Box 79">
              <a:extLst>
                <a:ext uri="{FF2B5EF4-FFF2-40B4-BE49-F238E27FC236}">
                  <a16:creationId xmlns:a16="http://schemas.microsoft.com/office/drawing/2014/main" id="{42A16DD2-48C4-4B16-BD87-63BD68AFA501}"/>
                </a:ext>
              </a:extLst>
            </p:cNvPr>
            <p:cNvSpPr txBox="1">
              <a:spLocks noChangeArrowheads="1"/>
            </p:cNvSpPr>
            <p:nvPr/>
          </p:nvSpPr>
          <p:spPr bwMode="auto">
            <a:xfrm>
              <a:off x="2586" y="3793"/>
              <a:ext cx="7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datagram</a:t>
              </a:r>
            </a:p>
          </p:txBody>
        </p:sp>
        <p:sp>
          <p:nvSpPr>
            <p:cNvPr id="285718" name="Text Box 80">
              <a:extLst>
                <a:ext uri="{FF2B5EF4-FFF2-40B4-BE49-F238E27FC236}">
                  <a16:creationId xmlns:a16="http://schemas.microsoft.com/office/drawing/2014/main" id="{6F0B3ECC-2464-45D3-B4B9-49C5487C4738}"/>
                </a:ext>
              </a:extLst>
            </p:cNvPr>
            <p:cNvSpPr txBox="1">
              <a:spLocks noChangeArrowheads="1"/>
            </p:cNvSpPr>
            <p:nvPr/>
          </p:nvSpPr>
          <p:spPr bwMode="auto">
            <a:xfrm>
              <a:off x="1660" y="4001"/>
              <a:ext cx="52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frame</a:t>
              </a:r>
            </a:p>
          </p:txBody>
        </p:sp>
        <p:sp>
          <p:nvSpPr>
            <p:cNvPr id="285719" name="Line 81">
              <a:extLst>
                <a:ext uri="{FF2B5EF4-FFF2-40B4-BE49-F238E27FC236}">
                  <a16:creationId xmlns:a16="http://schemas.microsoft.com/office/drawing/2014/main" id="{EC8407B4-1EA4-4F24-B5D3-9D9D584C7409}"/>
                </a:ext>
              </a:extLst>
            </p:cNvPr>
            <p:cNvSpPr>
              <a:spLocks noChangeShapeType="1"/>
            </p:cNvSpPr>
            <p:nvPr/>
          </p:nvSpPr>
          <p:spPr bwMode="auto">
            <a:xfrm>
              <a:off x="3316" y="3913"/>
              <a:ext cx="75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5720" name="Line 82">
              <a:extLst>
                <a:ext uri="{FF2B5EF4-FFF2-40B4-BE49-F238E27FC236}">
                  <a16:creationId xmlns:a16="http://schemas.microsoft.com/office/drawing/2014/main" id="{4E991C90-5E87-4581-84EF-76963706EA9C}"/>
                </a:ext>
              </a:extLst>
            </p:cNvPr>
            <p:cNvSpPr>
              <a:spLocks noChangeShapeType="1"/>
            </p:cNvSpPr>
            <p:nvPr/>
          </p:nvSpPr>
          <p:spPr bwMode="auto">
            <a:xfrm flipH="1">
              <a:off x="1978" y="3919"/>
              <a:ext cx="6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5721" name="Line 83">
              <a:extLst>
                <a:ext uri="{FF2B5EF4-FFF2-40B4-BE49-F238E27FC236}">
                  <a16:creationId xmlns:a16="http://schemas.microsoft.com/office/drawing/2014/main" id="{3D9A343C-8ECF-4418-B155-EFC679AD38D3}"/>
                </a:ext>
              </a:extLst>
            </p:cNvPr>
            <p:cNvSpPr>
              <a:spLocks noChangeShapeType="1"/>
            </p:cNvSpPr>
            <p:nvPr/>
          </p:nvSpPr>
          <p:spPr bwMode="auto">
            <a:xfrm flipH="1">
              <a:off x="260" y="4101"/>
              <a:ext cx="140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5722" name="Line 84">
              <a:extLst>
                <a:ext uri="{FF2B5EF4-FFF2-40B4-BE49-F238E27FC236}">
                  <a16:creationId xmlns:a16="http://schemas.microsoft.com/office/drawing/2014/main" id="{373A7E9F-5A3D-4E1A-893D-79C0BEB47021}"/>
                </a:ext>
              </a:extLst>
            </p:cNvPr>
            <p:cNvSpPr>
              <a:spLocks noChangeShapeType="1"/>
            </p:cNvSpPr>
            <p:nvPr/>
          </p:nvSpPr>
          <p:spPr bwMode="auto">
            <a:xfrm>
              <a:off x="2159" y="4115"/>
              <a:ext cx="190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5723" name="Text Box 85">
              <a:extLst>
                <a:ext uri="{FF2B5EF4-FFF2-40B4-BE49-F238E27FC236}">
                  <a16:creationId xmlns:a16="http://schemas.microsoft.com/office/drawing/2014/main" id="{AB64597D-DC65-4DBB-A526-22E1B308C819}"/>
                </a:ext>
              </a:extLst>
            </p:cNvPr>
            <p:cNvSpPr txBox="1">
              <a:spLocks noChangeArrowheads="1"/>
            </p:cNvSpPr>
            <p:nvPr/>
          </p:nvSpPr>
          <p:spPr bwMode="auto">
            <a:xfrm>
              <a:off x="688" y="2655"/>
              <a:ext cx="105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frame: địa chỉ</a:t>
              </a:r>
            </a:p>
            <a:p>
              <a:pPr>
                <a:spcBef>
                  <a:spcPct val="0"/>
                </a:spcBef>
                <a:buClrTx/>
                <a:buSzTx/>
                <a:buFontTx/>
                <a:buNone/>
              </a:pPr>
              <a:r>
                <a:rPr lang="en-US" altLang="en-US" sz="1800"/>
                <a:t> đích, nguồn</a:t>
              </a:r>
            </a:p>
          </p:txBody>
        </p:sp>
        <p:sp>
          <p:nvSpPr>
            <p:cNvPr id="285724" name="Text Box 86">
              <a:extLst>
                <a:ext uri="{FF2B5EF4-FFF2-40B4-BE49-F238E27FC236}">
                  <a16:creationId xmlns:a16="http://schemas.microsoft.com/office/drawing/2014/main" id="{59C57620-A2DC-4E93-935C-CCD6F101E32B}"/>
                </a:ext>
              </a:extLst>
            </p:cNvPr>
            <p:cNvSpPr txBox="1">
              <a:spLocks noChangeArrowheads="1"/>
            </p:cNvSpPr>
            <p:nvPr/>
          </p:nvSpPr>
          <p:spPr bwMode="auto">
            <a:xfrm>
              <a:off x="2152" y="2683"/>
              <a:ext cx="127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datagram: địa chỉ</a:t>
              </a:r>
            </a:p>
            <a:p>
              <a:pPr>
                <a:spcBef>
                  <a:spcPct val="0"/>
                </a:spcBef>
                <a:buClrTx/>
                <a:buSzTx/>
                <a:buFontTx/>
                <a:buNone/>
              </a:pPr>
              <a:r>
                <a:rPr lang="en-US" altLang="en-US" sz="1800"/>
                <a:t> nguồn, đích</a:t>
              </a:r>
            </a:p>
          </p:txBody>
        </p:sp>
        <p:sp>
          <p:nvSpPr>
            <p:cNvPr id="285725" name="Line 87">
              <a:extLst>
                <a:ext uri="{FF2B5EF4-FFF2-40B4-BE49-F238E27FC236}">
                  <a16:creationId xmlns:a16="http://schemas.microsoft.com/office/drawing/2014/main" id="{8384CC62-9F70-42DA-BCF9-72482969C45A}"/>
                </a:ext>
              </a:extLst>
            </p:cNvPr>
            <p:cNvSpPr>
              <a:spLocks noChangeShapeType="1"/>
            </p:cNvSpPr>
            <p:nvPr/>
          </p:nvSpPr>
          <p:spPr bwMode="auto">
            <a:xfrm flipH="1">
              <a:off x="745" y="3055"/>
              <a:ext cx="310" cy="2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5726" name="Line 88">
              <a:extLst>
                <a:ext uri="{FF2B5EF4-FFF2-40B4-BE49-F238E27FC236}">
                  <a16:creationId xmlns:a16="http://schemas.microsoft.com/office/drawing/2014/main" id="{3676C0C7-D17D-4B65-ABFC-D9A897C5901C}"/>
                </a:ext>
              </a:extLst>
            </p:cNvPr>
            <p:cNvSpPr>
              <a:spLocks noChangeShapeType="1"/>
            </p:cNvSpPr>
            <p:nvPr/>
          </p:nvSpPr>
          <p:spPr bwMode="auto">
            <a:xfrm>
              <a:off x="1158" y="3052"/>
              <a:ext cx="277" cy="2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5727" name="Line 89">
              <a:extLst>
                <a:ext uri="{FF2B5EF4-FFF2-40B4-BE49-F238E27FC236}">
                  <a16:creationId xmlns:a16="http://schemas.microsoft.com/office/drawing/2014/main" id="{2DA06248-B9AD-42C9-A8CE-7492067C4F8D}"/>
                </a:ext>
              </a:extLst>
            </p:cNvPr>
            <p:cNvSpPr>
              <a:spLocks noChangeShapeType="1"/>
            </p:cNvSpPr>
            <p:nvPr/>
          </p:nvSpPr>
          <p:spPr bwMode="auto">
            <a:xfrm flipH="1">
              <a:off x="2219" y="3058"/>
              <a:ext cx="310" cy="2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5728" name="Line 90">
              <a:extLst>
                <a:ext uri="{FF2B5EF4-FFF2-40B4-BE49-F238E27FC236}">
                  <a16:creationId xmlns:a16="http://schemas.microsoft.com/office/drawing/2014/main" id="{324DCD19-A244-4CD0-B7C0-46DFE37FE06A}"/>
                </a:ext>
              </a:extLst>
            </p:cNvPr>
            <p:cNvSpPr>
              <a:spLocks noChangeShapeType="1"/>
            </p:cNvSpPr>
            <p:nvPr/>
          </p:nvSpPr>
          <p:spPr bwMode="auto">
            <a:xfrm>
              <a:off x="2632" y="3055"/>
              <a:ext cx="277" cy="2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Slide Number Placeholder 5">
            <a:extLst>
              <a:ext uri="{FF2B5EF4-FFF2-40B4-BE49-F238E27FC236}">
                <a16:creationId xmlns:a16="http://schemas.microsoft.com/office/drawing/2014/main" id="{946D98FA-948E-42B3-8B1E-0EBFD75185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D5D3F6A2-B9CC-4856-BA41-0C1A5EFEFEE0}" type="slidenum">
              <a:rPr lang="en-US" altLang="en-US" sz="1400" smtClean="0">
                <a:latin typeface="Times New Roman" panose="02020603050405020304" pitchFamily="18" charset="0"/>
              </a:rPr>
              <a:pPr>
                <a:spcBef>
                  <a:spcPct val="0"/>
                </a:spcBef>
                <a:buClrTx/>
                <a:buSzTx/>
                <a:buFontTx/>
                <a:buNone/>
              </a:pPr>
              <a:t>19</a:t>
            </a:fld>
            <a:endParaRPr lang="en-US" altLang="en-US" sz="1400">
              <a:latin typeface="Times New Roman" panose="02020603050405020304" pitchFamily="18" charset="0"/>
            </a:endParaRPr>
          </a:p>
        </p:txBody>
      </p:sp>
      <p:pic>
        <p:nvPicPr>
          <p:cNvPr id="287747" name="Picture 2" descr="5">
            <a:extLst>
              <a:ext uri="{FF2B5EF4-FFF2-40B4-BE49-F238E27FC236}">
                <a16:creationId xmlns:a16="http://schemas.microsoft.com/office/drawing/2014/main" id="{03CE0F83-E6C7-45DB-9041-C7F8F05AC2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3179763"/>
            <a:ext cx="5156200"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748" name="Rectangle 3">
            <a:extLst>
              <a:ext uri="{FF2B5EF4-FFF2-40B4-BE49-F238E27FC236}">
                <a16:creationId xmlns:a16="http://schemas.microsoft.com/office/drawing/2014/main" id="{32768E3F-BF59-4A0D-9225-21E95BA85166}"/>
              </a:ext>
            </a:extLst>
          </p:cNvPr>
          <p:cNvSpPr>
            <a:spLocks noGrp="1" noChangeArrowheads="1"/>
          </p:cNvSpPr>
          <p:nvPr>
            <p:ph type="title"/>
          </p:nvPr>
        </p:nvSpPr>
        <p:spPr>
          <a:xfrm>
            <a:off x="501650" y="241300"/>
            <a:ext cx="8191500" cy="901700"/>
          </a:xfrm>
        </p:spPr>
        <p:txBody>
          <a:bodyPr/>
          <a:lstStyle/>
          <a:p>
            <a:r>
              <a:rPr lang="en-US" altLang="en-US" sz="3600"/>
              <a:t>ARP: Giao thức phân giải địa chỉ</a:t>
            </a:r>
            <a:endParaRPr lang="en-US" altLang="en-US"/>
          </a:p>
        </p:txBody>
      </p:sp>
      <p:sp>
        <p:nvSpPr>
          <p:cNvPr id="287749" name="Rectangle 4">
            <a:extLst>
              <a:ext uri="{FF2B5EF4-FFF2-40B4-BE49-F238E27FC236}">
                <a16:creationId xmlns:a16="http://schemas.microsoft.com/office/drawing/2014/main" id="{B8D9CDBB-EF82-45B4-B3B6-E30B90F45499}"/>
              </a:ext>
            </a:extLst>
          </p:cNvPr>
          <p:cNvSpPr>
            <a:spLocks noGrp="1" noChangeArrowheads="1"/>
          </p:cNvSpPr>
          <p:nvPr>
            <p:ph type="body" idx="1"/>
          </p:nvPr>
        </p:nvSpPr>
        <p:spPr>
          <a:xfrm>
            <a:off x="4319588" y="1436688"/>
            <a:ext cx="5016500" cy="4648200"/>
          </a:xfrm>
        </p:spPr>
        <p:txBody>
          <a:bodyPr/>
          <a:lstStyle/>
          <a:p>
            <a:r>
              <a:rPr lang="en-US" altLang="en-US"/>
              <a:t>Mỗi nút IP (Host, Router) trên LAN đều có bảng </a:t>
            </a:r>
            <a:r>
              <a:rPr lang="en-US" altLang="en-US">
                <a:solidFill>
                  <a:srgbClr val="FF0000"/>
                </a:solidFill>
              </a:rPr>
              <a:t>ARP</a:t>
            </a:r>
            <a:endParaRPr lang="en-US" altLang="en-US"/>
          </a:p>
          <a:p>
            <a:r>
              <a:rPr lang="en-US" altLang="en-US"/>
              <a:t>Bảng ARP: ánh xạ giữa địa chỉ IP và MAC cho một số nút trên LAN</a:t>
            </a:r>
          </a:p>
          <a:p>
            <a:pPr>
              <a:buFont typeface="ZapfDingbats" pitchFamily="82" charset="2"/>
              <a:buNone/>
            </a:pPr>
            <a:r>
              <a:rPr lang="en-US" altLang="en-US" sz="2000"/>
              <a:t>    </a:t>
            </a:r>
            <a:r>
              <a:rPr lang="en-US" altLang="en-US" sz="2000" b="1">
                <a:solidFill>
                  <a:srgbClr val="FF0000"/>
                </a:solidFill>
              </a:rPr>
              <a:t>&lt; IP address; MAC address; TTL&gt;</a:t>
            </a:r>
          </a:p>
          <a:p>
            <a:pPr lvl="1"/>
            <a:r>
              <a:rPr lang="en-US" altLang="en-US" sz="1800"/>
              <a:t> </a:t>
            </a:r>
            <a:r>
              <a:rPr lang="en-US" altLang="en-US"/>
              <a:t>TTL (Time To Live): thời gian “sống” của mỗi bản ghi trong bảng ARP (thường là 20 phút)</a:t>
            </a:r>
            <a:endParaRPr lang="en-US" altLang="en-US" sz="2800"/>
          </a:p>
        </p:txBody>
      </p:sp>
      <p:grpSp>
        <p:nvGrpSpPr>
          <p:cNvPr id="287750" name="Group 5">
            <a:extLst>
              <a:ext uri="{FF2B5EF4-FFF2-40B4-BE49-F238E27FC236}">
                <a16:creationId xmlns:a16="http://schemas.microsoft.com/office/drawing/2014/main" id="{C4F664A6-E60F-43AF-882E-C91A61E959DD}"/>
              </a:ext>
            </a:extLst>
          </p:cNvPr>
          <p:cNvGrpSpPr>
            <a:grpSpLocks/>
          </p:cNvGrpSpPr>
          <p:nvPr/>
        </p:nvGrpSpPr>
        <p:grpSpPr bwMode="auto">
          <a:xfrm>
            <a:off x="30615" y="1411288"/>
            <a:ext cx="4425398" cy="1277937"/>
            <a:chOff x="297" y="3336"/>
            <a:chExt cx="2935" cy="805"/>
          </a:xfrm>
        </p:grpSpPr>
        <p:sp>
          <p:nvSpPr>
            <p:cNvPr id="287751" name="Text Box 6">
              <a:extLst>
                <a:ext uri="{FF2B5EF4-FFF2-40B4-BE49-F238E27FC236}">
                  <a16:creationId xmlns:a16="http://schemas.microsoft.com/office/drawing/2014/main" id="{9561D4AB-D730-4EC3-A8D9-E87835F8EE82}"/>
                </a:ext>
              </a:extLst>
            </p:cNvPr>
            <p:cNvSpPr txBox="1">
              <a:spLocks noChangeArrowheads="1"/>
            </p:cNvSpPr>
            <p:nvPr/>
          </p:nvSpPr>
          <p:spPr bwMode="auto">
            <a:xfrm>
              <a:off x="297" y="3350"/>
              <a:ext cx="2935"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Câu hỏi: làm thế nào để xác</a:t>
              </a:r>
            </a:p>
            <a:p>
              <a:pPr>
                <a:spcBef>
                  <a:spcPct val="0"/>
                </a:spcBef>
                <a:buClrTx/>
                <a:buSzTx/>
                <a:buFontTx/>
                <a:buNone/>
              </a:pPr>
              <a:r>
                <a:rPr lang="en-US" altLang="en-US" sz="2400"/>
                <a:t> định địa chỉ MAC của host B</a:t>
              </a:r>
            </a:p>
            <a:p>
              <a:pPr>
                <a:spcBef>
                  <a:spcPct val="0"/>
                </a:spcBef>
                <a:buClrTx/>
                <a:buSzTx/>
                <a:buFontTx/>
                <a:buNone/>
              </a:pPr>
              <a:r>
                <a:rPr lang="en-US" altLang="en-US" sz="2400"/>
                <a:t> khi đã biết địa chỉ IP của nó?</a:t>
              </a:r>
              <a:endParaRPr lang="en-US" altLang="en-US" sz="2400">
                <a:latin typeface="Times New Roman" panose="02020603050405020304" pitchFamily="18" charset="0"/>
              </a:endParaRPr>
            </a:p>
          </p:txBody>
        </p:sp>
        <p:sp>
          <p:nvSpPr>
            <p:cNvPr id="287752" name="Rectangle 7">
              <a:extLst>
                <a:ext uri="{FF2B5EF4-FFF2-40B4-BE49-F238E27FC236}">
                  <a16:creationId xmlns:a16="http://schemas.microsoft.com/office/drawing/2014/main" id="{CADFC6EC-4F3F-48DC-B26E-580EFBCD9EFD}"/>
                </a:ext>
              </a:extLst>
            </p:cNvPr>
            <p:cNvSpPr>
              <a:spLocks noChangeArrowheads="1"/>
            </p:cNvSpPr>
            <p:nvPr/>
          </p:nvSpPr>
          <p:spPr bwMode="auto">
            <a:xfrm>
              <a:off x="297" y="3336"/>
              <a:ext cx="2874" cy="80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Slide Number Placeholder 6">
            <a:extLst>
              <a:ext uri="{FF2B5EF4-FFF2-40B4-BE49-F238E27FC236}">
                <a16:creationId xmlns:a16="http://schemas.microsoft.com/office/drawing/2014/main" id="{371F578D-2A0A-4780-B363-5100EB9D922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F9991B93-607C-41FE-B322-DB47D9B7FEA1}" type="slidenum">
              <a:rPr lang="en-US" altLang="en-US" sz="1400" smtClean="0">
                <a:latin typeface="Times New Roman" panose="02020603050405020304" pitchFamily="18" charset="0"/>
              </a:rPr>
              <a:pPr>
                <a:spcBef>
                  <a:spcPct val="0"/>
                </a:spcBef>
                <a:buClrTx/>
                <a:buSzTx/>
                <a:buFontTx/>
                <a:buNone/>
              </a:pPr>
              <a:t>20</a:t>
            </a:fld>
            <a:endParaRPr lang="en-US" altLang="en-US" sz="1400">
              <a:latin typeface="Times New Roman" panose="02020603050405020304" pitchFamily="18" charset="0"/>
            </a:endParaRPr>
          </a:p>
        </p:txBody>
      </p:sp>
      <p:sp>
        <p:nvSpPr>
          <p:cNvPr id="288771" name="Rectangle 2">
            <a:extLst>
              <a:ext uri="{FF2B5EF4-FFF2-40B4-BE49-F238E27FC236}">
                <a16:creationId xmlns:a16="http://schemas.microsoft.com/office/drawing/2014/main" id="{06EB8DD4-D895-4F4F-8EE1-B65D3F9DD2CB}"/>
              </a:ext>
            </a:extLst>
          </p:cNvPr>
          <p:cNvSpPr>
            <a:spLocks noGrp="1" noChangeArrowheads="1"/>
          </p:cNvSpPr>
          <p:nvPr>
            <p:ph type="title"/>
          </p:nvPr>
        </p:nvSpPr>
        <p:spPr>
          <a:xfrm>
            <a:off x="533400" y="-260350"/>
            <a:ext cx="7772400" cy="1143000"/>
          </a:xfrm>
        </p:spPr>
        <p:txBody>
          <a:bodyPr/>
          <a:lstStyle/>
          <a:p>
            <a:pPr algn="ctr"/>
            <a:r>
              <a:rPr lang="en-US" altLang="en-US"/>
              <a:t>Giao thức ARP</a:t>
            </a:r>
          </a:p>
        </p:txBody>
      </p:sp>
      <p:sp>
        <p:nvSpPr>
          <p:cNvPr id="288772" name="Rectangle 3">
            <a:extLst>
              <a:ext uri="{FF2B5EF4-FFF2-40B4-BE49-F238E27FC236}">
                <a16:creationId xmlns:a16="http://schemas.microsoft.com/office/drawing/2014/main" id="{BAD2A577-5BFE-4FF2-84A3-53F587C94241}"/>
              </a:ext>
            </a:extLst>
          </p:cNvPr>
          <p:cNvSpPr>
            <a:spLocks noGrp="1" noChangeArrowheads="1"/>
          </p:cNvSpPr>
          <p:nvPr>
            <p:ph type="body" sz="half" idx="1"/>
          </p:nvPr>
        </p:nvSpPr>
        <p:spPr>
          <a:xfrm>
            <a:off x="0" y="738188"/>
            <a:ext cx="4619625" cy="6119812"/>
          </a:xfrm>
        </p:spPr>
        <p:txBody>
          <a:bodyPr/>
          <a:lstStyle/>
          <a:p>
            <a:r>
              <a:rPr lang="en-US" altLang="en-US" sz="2400"/>
              <a:t>A muốn gửi gam dữ liệu/datagram cho B, và nó đã biết địa chỉ IP của B.</a:t>
            </a:r>
          </a:p>
          <a:p>
            <a:r>
              <a:rPr lang="en-US" altLang="en-US" sz="2400"/>
              <a:t>Giả sử trên bảng ARP của A chưa có B’s MAC address.</a:t>
            </a:r>
          </a:p>
          <a:p>
            <a:r>
              <a:rPr lang="en-US" altLang="en-US" sz="2400"/>
              <a:t>A </a:t>
            </a:r>
            <a:r>
              <a:rPr lang="en-US" altLang="en-US" sz="2400">
                <a:solidFill>
                  <a:srgbClr val="FF0000"/>
                </a:solidFill>
              </a:rPr>
              <a:t>broadcasts</a:t>
            </a:r>
            <a:r>
              <a:rPr lang="en-US" altLang="en-US" sz="2400"/>
              <a:t> gói truy vấn ARP, chứa địa chỉ IP của B</a:t>
            </a:r>
          </a:p>
          <a:p>
            <a:pPr lvl="1"/>
            <a:r>
              <a:rPr lang="en-US" altLang="en-US"/>
              <a:t>mọi máy trên LAN đều nhận được truy vấn này</a:t>
            </a:r>
            <a:endParaRPr lang="en-US" altLang="en-US" sz="2000"/>
          </a:p>
          <a:p>
            <a:r>
              <a:rPr lang="en-US" altLang="en-US" sz="2400"/>
              <a:t>B nhận gói truy vấn ARP, trả lời cho A địa chỉ MAC của nó</a:t>
            </a:r>
          </a:p>
          <a:p>
            <a:pPr lvl="1"/>
            <a:r>
              <a:rPr lang="en-US" altLang="en-US"/>
              <a:t>frame được gởi trực tiếp tới A – unicast (nhờ A’s MAC address)</a:t>
            </a:r>
            <a:endParaRPr lang="en-US" altLang="en-US" sz="2000"/>
          </a:p>
        </p:txBody>
      </p:sp>
      <p:sp>
        <p:nvSpPr>
          <p:cNvPr id="288773" name="Rectangle 4">
            <a:extLst>
              <a:ext uri="{FF2B5EF4-FFF2-40B4-BE49-F238E27FC236}">
                <a16:creationId xmlns:a16="http://schemas.microsoft.com/office/drawing/2014/main" id="{8FAF415B-E6DE-4C70-93D0-F310E444C9B6}"/>
              </a:ext>
            </a:extLst>
          </p:cNvPr>
          <p:cNvSpPr>
            <a:spLocks noGrp="1" noChangeArrowheads="1"/>
          </p:cNvSpPr>
          <p:nvPr>
            <p:ph type="body" sz="half" idx="2"/>
          </p:nvPr>
        </p:nvSpPr>
        <p:spPr>
          <a:xfrm>
            <a:off x="4668838" y="755650"/>
            <a:ext cx="4475162" cy="5873750"/>
          </a:xfrm>
        </p:spPr>
        <p:txBody>
          <a:bodyPr/>
          <a:lstStyle/>
          <a:p>
            <a:r>
              <a:rPr lang="en-US" altLang="en-US" sz="2400"/>
              <a:t>A lưu giữ cặp IP-to-MAC address vào bảng ARP của nó cho đến khi thông tin này trở nên hết hiệu lực (times out) </a:t>
            </a:r>
            <a:endParaRPr lang="en-US" altLang="en-US"/>
          </a:p>
          <a:p>
            <a:r>
              <a:rPr lang="en-US" altLang="en-US"/>
              <a:t>ARP là giao thức “cắm là chạy”:</a:t>
            </a:r>
          </a:p>
          <a:p>
            <a:pPr lvl="1"/>
            <a:r>
              <a:rPr lang="en-US" altLang="en-US"/>
              <a:t>Các nút tự mình tạo bảng ARP mà không cần đến sự can thiệp của nhà quản trị mạng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Slide Number Placeholder 5">
            <a:extLst>
              <a:ext uri="{FF2B5EF4-FFF2-40B4-BE49-F238E27FC236}">
                <a16:creationId xmlns:a16="http://schemas.microsoft.com/office/drawing/2014/main" id="{2E683AEC-9692-4932-917E-4C7CC2736F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624D4638-C076-4865-AE1D-814C49CFA778}" type="slidenum">
              <a:rPr lang="en-US" altLang="en-US" sz="1400" smtClean="0">
                <a:latin typeface="Times New Roman" panose="02020603050405020304" pitchFamily="18" charset="0"/>
              </a:rPr>
              <a:pPr>
                <a:spcBef>
                  <a:spcPct val="0"/>
                </a:spcBef>
                <a:buClrTx/>
                <a:buSzTx/>
                <a:buFontTx/>
                <a:buNone/>
              </a:pPr>
              <a:t>21</a:t>
            </a:fld>
            <a:endParaRPr lang="en-US" altLang="en-US" sz="1400">
              <a:latin typeface="Times New Roman" panose="02020603050405020304" pitchFamily="18" charset="0"/>
            </a:endParaRPr>
          </a:p>
        </p:txBody>
      </p:sp>
      <p:pic>
        <p:nvPicPr>
          <p:cNvPr id="289795" name="Picture 2" descr="5">
            <a:extLst>
              <a:ext uri="{FF2B5EF4-FFF2-40B4-BE49-F238E27FC236}">
                <a16:creationId xmlns:a16="http://schemas.microsoft.com/office/drawing/2014/main" id="{F1AF478E-6A77-49D4-8C98-C73C4B8841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38" y="2155825"/>
            <a:ext cx="8208962" cy="319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796" name="Rectangle 3">
            <a:extLst>
              <a:ext uri="{FF2B5EF4-FFF2-40B4-BE49-F238E27FC236}">
                <a16:creationId xmlns:a16="http://schemas.microsoft.com/office/drawing/2014/main" id="{02038C58-9834-47BF-B01D-FF8D701A95ED}"/>
              </a:ext>
            </a:extLst>
          </p:cNvPr>
          <p:cNvSpPr>
            <a:spLocks noGrp="1" noChangeArrowheads="1"/>
          </p:cNvSpPr>
          <p:nvPr>
            <p:ph type="title"/>
          </p:nvPr>
        </p:nvSpPr>
        <p:spPr>
          <a:xfrm>
            <a:off x="533400" y="0"/>
            <a:ext cx="8610600" cy="1143000"/>
          </a:xfrm>
        </p:spPr>
        <p:txBody>
          <a:bodyPr/>
          <a:lstStyle/>
          <a:p>
            <a:r>
              <a:rPr lang="en-US" altLang="en-US" sz="3600"/>
              <a:t>Truyền dữ liệu đến một nút ở LAN khác</a:t>
            </a:r>
          </a:p>
        </p:txBody>
      </p:sp>
      <p:sp>
        <p:nvSpPr>
          <p:cNvPr id="289797" name="Rectangle 4">
            <a:extLst>
              <a:ext uri="{FF2B5EF4-FFF2-40B4-BE49-F238E27FC236}">
                <a16:creationId xmlns:a16="http://schemas.microsoft.com/office/drawing/2014/main" id="{F5DC5F0F-1935-4DF1-AB07-402420377219}"/>
              </a:ext>
            </a:extLst>
          </p:cNvPr>
          <p:cNvSpPr>
            <a:spLocks noGrp="1" noChangeArrowheads="1"/>
          </p:cNvSpPr>
          <p:nvPr>
            <p:ph type="body" idx="1"/>
          </p:nvPr>
        </p:nvSpPr>
        <p:spPr>
          <a:xfrm>
            <a:off x="533400" y="1143000"/>
            <a:ext cx="7772400" cy="4648200"/>
          </a:xfrm>
        </p:spPr>
        <p:txBody>
          <a:bodyPr/>
          <a:lstStyle/>
          <a:p>
            <a:pPr>
              <a:buFont typeface="ZapfDingbats" pitchFamily="82" charset="2"/>
              <a:buNone/>
            </a:pPr>
            <a:r>
              <a:rPr lang="en-US" altLang="en-US" sz="2400"/>
              <a:t>Tình huống: </a:t>
            </a:r>
            <a:r>
              <a:rPr lang="en-US" altLang="en-US" sz="2400">
                <a:solidFill>
                  <a:srgbClr val="FF0000"/>
                </a:solidFill>
              </a:rPr>
              <a:t>A gởi gam dữ liệu cho B qua router R</a:t>
            </a:r>
            <a:endParaRPr lang="en-US" altLang="en-US" sz="2400"/>
          </a:p>
          <a:p>
            <a:pPr>
              <a:buFont typeface="ZapfDingbats" pitchFamily="82" charset="2"/>
              <a:buNone/>
            </a:pPr>
            <a:r>
              <a:rPr lang="en-US" altLang="en-US" sz="2400"/>
              <a:t>                     với giả thiết A biết địa chỉ IP của B</a:t>
            </a:r>
          </a:p>
          <a:p>
            <a:endParaRPr lang="en-US" altLang="en-US"/>
          </a:p>
          <a:p>
            <a:endParaRPr lang="en-US" altLang="en-US"/>
          </a:p>
          <a:p>
            <a:endParaRPr lang="en-US" altLang="en-US"/>
          </a:p>
          <a:p>
            <a:endParaRPr lang="en-US" altLang="en-US"/>
          </a:p>
          <a:p>
            <a:endParaRPr lang="en-US" altLang="en-US"/>
          </a:p>
          <a:p>
            <a:endParaRPr lang="en-US" altLang="en-US"/>
          </a:p>
          <a:p>
            <a:endParaRPr lang="en-US" altLang="en-US" sz="2400"/>
          </a:p>
          <a:p>
            <a:pPr>
              <a:buFont typeface="ZapfDingbats" pitchFamily="82" charset="2"/>
              <a:buNone/>
            </a:pPr>
            <a:endParaRPr lang="en-US" altLang="en-US"/>
          </a:p>
          <a:p>
            <a:endParaRPr lang="en-US" altLang="en-US"/>
          </a:p>
          <a:p>
            <a:endParaRPr lang="en-US" altLang="en-US"/>
          </a:p>
          <a:p>
            <a:endParaRPr lang="en-US" altLang="en-US"/>
          </a:p>
          <a:p>
            <a:endParaRPr lang="en-US" altLang="en-US"/>
          </a:p>
        </p:txBody>
      </p:sp>
      <p:sp>
        <p:nvSpPr>
          <p:cNvPr id="289798" name="Text Box 5">
            <a:extLst>
              <a:ext uri="{FF2B5EF4-FFF2-40B4-BE49-F238E27FC236}">
                <a16:creationId xmlns:a16="http://schemas.microsoft.com/office/drawing/2014/main" id="{C3B9666A-A3CE-4B44-90D7-1D7DDDA2E00B}"/>
              </a:ext>
            </a:extLst>
          </p:cNvPr>
          <p:cNvSpPr txBox="1">
            <a:spLocks noChangeArrowheads="1"/>
          </p:cNvSpPr>
          <p:nvPr/>
        </p:nvSpPr>
        <p:spPr bwMode="auto">
          <a:xfrm>
            <a:off x="896938" y="330835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solidFill>
                  <a:srgbClr val="FF0000"/>
                </a:solidFill>
              </a:rPr>
              <a:t>A</a:t>
            </a:r>
            <a:endParaRPr lang="en-US" altLang="en-US" sz="1800"/>
          </a:p>
        </p:txBody>
      </p:sp>
      <p:sp>
        <p:nvSpPr>
          <p:cNvPr id="289799" name="Text Box 6">
            <a:extLst>
              <a:ext uri="{FF2B5EF4-FFF2-40B4-BE49-F238E27FC236}">
                <a16:creationId xmlns:a16="http://schemas.microsoft.com/office/drawing/2014/main" id="{51CFA308-7FD6-4951-A96F-2AC583BFAB40}"/>
              </a:ext>
            </a:extLst>
          </p:cNvPr>
          <p:cNvSpPr txBox="1">
            <a:spLocks noChangeArrowheads="1"/>
          </p:cNvSpPr>
          <p:nvPr/>
        </p:nvSpPr>
        <p:spPr bwMode="auto">
          <a:xfrm>
            <a:off x="4084638" y="4602163"/>
            <a:ext cx="376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solidFill>
                  <a:srgbClr val="FF0000"/>
                </a:solidFill>
              </a:rPr>
              <a:t>R</a:t>
            </a:r>
            <a:endParaRPr lang="en-US" altLang="en-US" sz="1800"/>
          </a:p>
        </p:txBody>
      </p:sp>
      <p:sp>
        <p:nvSpPr>
          <p:cNvPr id="289800" name="Text Box 7">
            <a:extLst>
              <a:ext uri="{FF2B5EF4-FFF2-40B4-BE49-F238E27FC236}">
                <a16:creationId xmlns:a16="http://schemas.microsoft.com/office/drawing/2014/main" id="{25306C34-BA98-485F-A546-C1D5ADC0FECB}"/>
              </a:ext>
            </a:extLst>
          </p:cNvPr>
          <p:cNvSpPr txBox="1">
            <a:spLocks noChangeArrowheads="1"/>
          </p:cNvSpPr>
          <p:nvPr/>
        </p:nvSpPr>
        <p:spPr bwMode="auto">
          <a:xfrm>
            <a:off x="7942263" y="4891088"/>
            <a:ext cx="376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solidFill>
                  <a:srgbClr val="FF0000"/>
                </a:solidFill>
              </a:rPr>
              <a:t>B</a:t>
            </a:r>
            <a:endParaRPr lang="en-US" altLang="en-US"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Slide Number Placeholder 5">
            <a:extLst>
              <a:ext uri="{FF2B5EF4-FFF2-40B4-BE49-F238E27FC236}">
                <a16:creationId xmlns:a16="http://schemas.microsoft.com/office/drawing/2014/main" id="{01A3E9D8-1C1E-4D9E-ABBE-4A6A90C192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3CB8349A-B3ED-4126-84F1-D5CA00359517}" type="slidenum">
              <a:rPr lang="en-US" altLang="en-US" sz="1400" smtClean="0">
                <a:latin typeface="Times New Roman" panose="02020603050405020304" pitchFamily="18" charset="0"/>
              </a:rPr>
              <a:pPr>
                <a:spcBef>
                  <a:spcPct val="0"/>
                </a:spcBef>
                <a:buClrTx/>
                <a:buSzTx/>
                <a:buFontTx/>
                <a:buNone/>
              </a:pPr>
              <a:t>22</a:t>
            </a:fld>
            <a:endParaRPr lang="en-US" altLang="en-US" sz="1400">
              <a:latin typeface="Times New Roman" panose="02020603050405020304" pitchFamily="18" charset="0"/>
            </a:endParaRPr>
          </a:p>
        </p:txBody>
      </p:sp>
      <p:pic>
        <p:nvPicPr>
          <p:cNvPr id="291843" name="Picture 2" descr="5">
            <a:extLst>
              <a:ext uri="{FF2B5EF4-FFF2-40B4-BE49-F238E27FC236}">
                <a16:creationId xmlns:a16="http://schemas.microsoft.com/office/drawing/2014/main" id="{DAD9D4EE-2B76-49E7-AB41-2233BCAD4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438" y="3970338"/>
            <a:ext cx="6964362"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844" name="Rectangle 3">
            <a:extLst>
              <a:ext uri="{FF2B5EF4-FFF2-40B4-BE49-F238E27FC236}">
                <a16:creationId xmlns:a16="http://schemas.microsoft.com/office/drawing/2014/main" id="{72961FFE-6049-4562-AA71-89188E4A34D4}"/>
              </a:ext>
            </a:extLst>
          </p:cNvPr>
          <p:cNvSpPr>
            <a:spLocks noGrp="1" noChangeArrowheads="1"/>
          </p:cNvSpPr>
          <p:nvPr>
            <p:ph type="body" idx="1"/>
          </p:nvPr>
        </p:nvSpPr>
        <p:spPr>
          <a:xfrm>
            <a:off x="0" y="280988"/>
            <a:ext cx="9144000" cy="3476625"/>
          </a:xfrm>
        </p:spPr>
        <p:txBody>
          <a:bodyPr/>
          <a:lstStyle/>
          <a:p>
            <a:r>
              <a:rPr lang="en-US" altLang="en-US" sz="2000"/>
              <a:t>A tạo gam dữ liệu với địa chỉ nguồn là A’s IP address, đích là B’s IP address </a:t>
            </a:r>
          </a:p>
          <a:p>
            <a:r>
              <a:rPr lang="en-US" altLang="en-US" sz="2000"/>
              <a:t>A dùng ARP để lấy R’s MAC address của IP add. </a:t>
            </a:r>
            <a:r>
              <a:rPr lang="en-US" altLang="en-US" sz="1800"/>
              <a:t>111.111.111.110</a:t>
            </a:r>
            <a:endParaRPr lang="en-US" altLang="en-US" sz="2000"/>
          </a:p>
          <a:p>
            <a:r>
              <a:rPr lang="en-US" altLang="en-US" sz="2000"/>
              <a:t>A tạo frame dữ liệu với địa chỉ (MAC) đích là  R’s MAC address</a:t>
            </a:r>
          </a:p>
          <a:p>
            <a:r>
              <a:rPr lang="en-US" altLang="en-US" sz="2000"/>
              <a:t>Tầng LKDL của A gởi frame đi</a:t>
            </a:r>
          </a:p>
          <a:p>
            <a:r>
              <a:rPr lang="en-US" altLang="en-US" sz="2000"/>
              <a:t>Tầng LKDL của router R nhận frame </a:t>
            </a:r>
          </a:p>
          <a:p>
            <a:r>
              <a:rPr lang="en-US" altLang="en-US" sz="2000"/>
              <a:t>R trích IP datagram từ Ethernet frame, và biết gói IP đó hướng tới B</a:t>
            </a:r>
          </a:p>
          <a:p>
            <a:r>
              <a:rPr lang="en-US" altLang="en-US" sz="2000"/>
              <a:t>R dùng ARP để lấy địa chỉ MAC của B</a:t>
            </a:r>
          </a:p>
          <a:p>
            <a:r>
              <a:rPr lang="en-US" altLang="en-US" sz="2000"/>
              <a:t>R tạo khung trong đó chứa gam dữ liệu với địa chỉ nguồn là A’s IP, đích là B’s IP và gửi đến B</a:t>
            </a:r>
            <a:endParaRPr lang="en-US" altLang="en-US"/>
          </a:p>
        </p:txBody>
      </p:sp>
      <p:sp>
        <p:nvSpPr>
          <p:cNvPr id="291845" name="Text Box 4">
            <a:extLst>
              <a:ext uri="{FF2B5EF4-FFF2-40B4-BE49-F238E27FC236}">
                <a16:creationId xmlns:a16="http://schemas.microsoft.com/office/drawing/2014/main" id="{3A1D7546-3ACF-4828-8E36-00E4ED05793C}"/>
              </a:ext>
            </a:extLst>
          </p:cNvPr>
          <p:cNvSpPr txBox="1">
            <a:spLocks noChangeArrowheads="1"/>
          </p:cNvSpPr>
          <p:nvPr/>
        </p:nvSpPr>
        <p:spPr bwMode="auto">
          <a:xfrm>
            <a:off x="1222375" y="4281488"/>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solidFill>
                  <a:srgbClr val="FF0000"/>
                </a:solidFill>
              </a:rPr>
              <a:t>A</a:t>
            </a:r>
            <a:endParaRPr lang="en-US" altLang="en-US" sz="1800"/>
          </a:p>
        </p:txBody>
      </p:sp>
      <p:sp>
        <p:nvSpPr>
          <p:cNvPr id="291846" name="Text Box 5">
            <a:extLst>
              <a:ext uri="{FF2B5EF4-FFF2-40B4-BE49-F238E27FC236}">
                <a16:creationId xmlns:a16="http://schemas.microsoft.com/office/drawing/2014/main" id="{A686072B-0C1B-45EC-8188-E6DEB5C97E06}"/>
              </a:ext>
            </a:extLst>
          </p:cNvPr>
          <p:cNvSpPr txBox="1">
            <a:spLocks noChangeArrowheads="1"/>
          </p:cNvSpPr>
          <p:nvPr/>
        </p:nvSpPr>
        <p:spPr bwMode="auto">
          <a:xfrm>
            <a:off x="3968750" y="5386388"/>
            <a:ext cx="376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solidFill>
                  <a:srgbClr val="FF0000"/>
                </a:solidFill>
              </a:rPr>
              <a:t>R</a:t>
            </a:r>
            <a:endParaRPr lang="en-US" altLang="en-US" sz="1800"/>
          </a:p>
        </p:txBody>
      </p:sp>
      <p:sp>
        <p:nvSpPr>
          <p:cNvPr id="291847" name="Text Box 6">
            <a:extLst>
              <a:ext uri="{FF2B5EF4-FFF2-40B4-BE49-F238E27FC236}">
                <a16:creationId xmlns:a16="http://schemas.microsoft.com/office/drawing/2014/main" id="{346E5D74-191D-4672-A946-AEA7EAF62953}"/>
              </a:ext>
            </a:extLst>
          </p:cNvPr>
          <p:cNvSpPr txBox="1">
            <a:spLocks noChangeArrowheads="1"/>
          </p:cNvSpPr>
          <p:nvPr/>
        </p:nvSpPr>
        <p:spPr bwMode="auto">
          <a:xfrm>
            <a:off x="7240588" y="5634038"/>
            <a:ext cx="376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solidFill>
                  <a:srgbClr val="FF0000"/>
                </a:solidFill>
              </a:rPr>
              <a:t>B</a:t>
            </a:r>
            <a:endParaRPr lang="en-US" alt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Slide Number Placeholder 5">
            <a:extLst>
              <a:ext uri="{FF2B5EF4-FFF2-40B4-BE49-F238E27FC236}">
                <a16:creationId xmlns:a16="http://schemas.microsoft.com/office/drawing/2014/main" id="{938DC941-B074-4882-B0FC-66391B2707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3F12177E-55A5-4F52-9326-5371159BB135}" type="slidenum">
              <a:rPr lang="en-US" altLang="en-US" sz="1400" smtClean="0">
                <a:latin typeface="Times New Roman" panose="02020603050405020304" pitchFamily="18" charset="0"/>
              </a:rPr>
              <a:pPr>
                <a:spcBef>
                  <a:spcPct val="0"/>
                </a:spcBef>
                <a:buClrTx/>
                <a:buSzTx/>
                <a:buFontTx/>
                <a:buNone/>
              </a:pPr>
              <a:t>23</a:t>
            </a:fld>
            <a:endParaRPr lang="en-US" altLang="en-US" sz="1400">
              <a:latin typeface="Times New Roman" panose="02020603050405020304" pitchFamily="18" charset="0"/>
            </a:endParaRPr>
          </a:p>
        </p:txBody>
      </p:sp>
      <p:sp>
        <p:nvSpPr>
          <p:cNvPr id="292867" name="Rectangle 2">
            <a:extLst>
              <a:ext uri="{FF2B5EF4-FFF2-40B4-BE49-F238E27FC236}">
                <a16:creationId xmlns:a16="http://schemas.microsoft.com/office/drawing/2014/main" id="{5018A297-7AD0-4CA4-BA5D-059BBC6CC0DB}"/>
              </a:ext>
            </a:extLst>
          </p:cNvPr>
          <p:cNvSpPr>
            <a:spLocks noGrp="1" noChangeArrowheads="1"/>
          </p:cNvSpPr>
          <p:nvPr>
            <p:ph type="title"/>
          </p:nvPr>
        </p:nvSpPr>
        <p:spPr>
          <a:xfrm>
            <a:off x="685800" y="228600"/>
            <a:ext cx="7772400" cy="838200"/>
          </a:xfrm>
        </p:spPr>
        <p:txBody>
          <a:bodyPr/>
          <a:lstStyle/>
          <a:p>
            <a:r>
              <a:rPr lang="en-US" altLang="en-US"/>
              <a:t>Ethernet</a:t>
            </a:r>
          </a:p>
        </p:txBody>
      </p:sp>
      <p:sp>
        <p:nvSpPr>
          <p:cNvPr id="292868" name="Rectangle 3">
            <a:extLst>
              <a:ext uri="{FF2B5EF4-FFF2-40B4-BE49-F238E27FC236}">
                <a16:creationId xmlns:a16="http://schemas.microsoft.com/office/drawing/2014/main" id="{62F79A9E-F587-407A-98E8-F00F1CE2163A}"/>
              </a:ext>
            </a:extLst>
          </p:cNvPr>
          <p:cNvSpPr>
            <a:spLocks noGrp="1" noChangeArrowheads="1"/>
          </p:cNvSpPr>
          <p:nvPr>
            <p:ph type="body" idx="1"/>
          </p:nvPr>
        </p:nvSpPr>
        <p:spPr>
          <a:xfrm>
            <a:off x="0" y="1276350"/>
            <a:ext cx="8951913" cy="2236788"/>
          </a:xfrm>
        </p:spPr>
        <p:txBody>
          <a:bodyPr/>
          <a:lstStyle/>
          <a:p>
            <a:pPr>
              <a:lnSpc>
                <a:spcPct val="80000"/>
              </a:lnSpc>
              <a:buFont typeface="ZapfDingbats" pitchFamily="82" charset="2"/>
              <a:buNone/>
            </a:pPr>
            <a:r>
              <a:rPr lang="en-US" altLang="en-US" sz="2400"/>
              <a:t>Công nghệ “thống trị” trong mạng cục bộ (LAN): </a:t>
            </a:r>
          </a:p>
          <a:p>
            <a:pPr>
              <a:lnSpc>
                <a:spcPct val="80000"/>
              </a:lnSpc>
            </a:pPr>
            <a:r>
              <a:rPr lang="en-US" altLang="en-US" sz="2400"/>
              <a:t>Công nghệ LAN được sử dụng rộng rãi đầu tiên</a:t>
            </a:r>
          </a:p>
          <a:p>
            <a:pPr>
              <a:lnSpc>
                <a:spcPct val="80000"/>
              </a:lnSpc>
            </a:pPr>
            <a:r>
              <a:rPr lang="en-US" altLang="en-US" sz="2400"/>
              <a:t>Đơn giản hơn, rẻ hơn so với các công nghệ LAN dùng thẻ bài (token) và ATM (Asynchronous Transfer Mode)</a:t>
            </a:r>
          </a:p>
          <a:p>
            <a:pPr>
              <a:lnSpc>
                <a:spcPct val="80000"/>
              </a:lnSpc>
            </a:pPr>
            <a:r>
              <a:rPr lang="en-US" altLang="en-US" sz="2400"/>
              <a:t>Luôn theo kịp trong cuộc đua tốc độ: 10, 100, 1000, 10000 Mbps </a:t>
            </a:r>
            <a:endParaRPr lang="en-US" altLang="en-US"/>
          </a:p>
          <a:p>
            <a:pPr>
              <a:lnSpc>
                <a:spcPct val="80000"/>
              </a:lnSpc>
            </a:pPr>
            <a:endParaRPr lang="en-US" altLang="en-US"/>
          </a:p>
        </p:txBody>
      </p:sp>
      <p:pic>
        <p:nvPicPr>
          <p:cNvPr id="292869" name="Picture 4" descr="551 metcalfe-enet">
            <a:extLst>
              <a:ext uri="{FF2B5EF4-FFF2-40B4-BE49-F238E27FC236}">
                <a16:creationId xmlns:a16="http://schemas.microsoft.com/office/drawing/2014/main" id="{9B3320CC-35A3-44B2-8E70-0519AD5A93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263" y="3670300"/>
            <a:ext cx="5192712" cy="277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870" name="Text Box 5">
            <a:extLst>
              <a:ext uri="{FF2B5EF4-FFF2-40B4-BE49-F238E27FC236}">
                <a16:creationId xmlns:a16="http://schemas.microsoft.com/office/drawing/2014/main" id="{B1CAD411-8805-403E-AC28-B71FDC8DC575}"/>
              </a:ext>
            </a:extLst>
          </p:cNvPr>
          <p:cNvSpPr txBox="1">
            <a:spLocks noChangeArrowheads="1"/>
          </p:cNvSpPr>
          <p:nvPr/>
        </p:nvSpPr>
        <p:spPr bwMode="auto">
          <a:xfrm>
            <a:off x="6218238" y="4487863"/>
            <a:ext cx="2619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Metcalfe’s Ethernet</a:t>
            </a:r>
          </a:p>
          <a:p>
            <a:pPr>
              <a:spcBef>
                <a:spcPct val="0"/>
              </a:spcBef>
              <a:buClrTx/>
              <a:buSzTx/>
              <a:buFontTx/>
              <a:buNone/>
            </a:pPr>
            <a:r>
              <a:rPr lang="en-US" altLang="en-US" sz="1800"/>
              <a:t>sketch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Slide Number Placeholder 5">
            <a:extLst>
              <a:ext uri="{FF2B5EF4-FFF2-40B4-BE49-F238E27FC236}">
                <a16:creationId xmlns:a16="http://schemas.microsoft.com/office/drawing/2014/main" id="{10ECCC55-16F4-4B9A-B2D8-51E886B934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981B9573-BDBF-4FE6-B4DD-81030A8C2D24}" type="slidenum">
              <a:rPr lang="en-US" altLang="en-US" sz="1400" smtClean="0">
                <a:latin typeface="Times New Roman" panose="02020603050405020304" pitchFamily="18" charset="0"/>
              </a:rPr>
              <a:pPr>
                <a:spcBef>
                  <a:spcPct val="0"/>
                </a:spcBef>
                <a:buClrTx/>
                <a:buSzTx/>
                <a:buFontTx/>
                <a:buNone/>
              </a:pPr>
              <a:t>24</a:t>
            </a:fld>
            <a:endParaRPr lang="en-US" altLang="en-US" sz="1400">
              <a:latin typeface="Times New Roman" panose="02020603050405020304" pitchFamily="18" charset="0"/>
            </a:endParaRPr>
          </a:p>
        </p:txBody>
      </p:sp>
      <p:sp>
        <p:nvSpPr>
          <p:cNvPr id="294915" name="Rectangle 2">
            <a:extLst>
              <a:ext uri="{FF2B5EF4-FFF2-40B4-BE49-F238E27FC236}">
                <a16:creationId xmlns:a16="http://schemas.microsoft.com/office/drawing/2014/main" id="{072A4B12-4F9F-4CAD-9443-60891A129B8D}"/>
              </a:ext>
            </a:extLst>
          </p:cNvPr>
          <p:cNvSpPr>
            <a:spLocks noGrp="1" noChangeArrowheads="1"/>
          </p:cNvSpPr>
          <p:nvPr>
            <p:ph type="title"/>
          </p:nvPr>
        </p:nvSpPr>
        <p:spPr>
          <a:xfrm>
            <a:off x="228600" y="228600"/>
            <a:ext cx="8229600" cy="990600"/>
          </a:xfrm>
        </p:spPr>
        <p:txBody>
          <a:bodyPr/>
          <a:lstStyle/>
          <a:p>
            <a:r>
              <a:rPr lang="en-US" altLang="en-US" sz="3600"/>
              <a:t>Lý do cho sự thành công của Ethernet</a:t>
            </a:r>
          </a:p>
        </p:txBody>
      </p:sp>
      <p:sp>
        <p:nvSpPr>
          <p:cNvPr id="294916" name="Rectangle 3">
            <a:extLst>
              <a:ext uri="{FF2B5EF4-FFF2-40B4-BE49-F238E27FC236}">
                <a16:creationId xmlns:a16="http://schemas.microsoft.com/office/drawing/2014/main" id="{996FBEA3-1495-4F55-B4CA-704C7F5A9D2A}"/>
              </a:ext>
            </a:extLst>
          </p:cNvPr>
          <p:cNvSpPr>
            <a:spLocks noGrp="1" noChangeArrowheads="1"/>
          </p:cNvSpPr>
          <p:nvPr>
            <p:ph type="body" idx="1"/>
          </p:nvPr>
        </p:nvSpPr>
        <p:spPr>
          <a:xfrm>
            <a:off x="320675" y="1600200"/>
            <a:ext cx="8285163" cy="4840288"/>
          </a:xfrm>
        </p:spPr>
        <p:txBody>
          <a:bodyPr/>
          <a:lstStyle/>
          <a:p>
            <a:r>
              <a:rPr lang="en-US" altLang="en-US"/>
              <a:t>Sự thành công của Ethernet là do các nhân tố chính sau:</a:t>
            </a:r>
          </a:p>
          <a:p>
            <a:pPr lvl="1"/>
            <a:r>
              <a:rPr lang="en-US" altLang="en-US"/>
              <a:t>Sự đơn giản và dễ dàng trong việc duy trì</a:t>
            </a:r>
          </a:p>
          <a:p>
            <a:pPr lvl="1"/>
            <a:r>
              <a:rPr lang="en-US" altLang="en-US"/>
              <a:t>Khả năng kết hợp các công nghệ mới</a:t>
            </a:r>
          </a:p>
          <a:p>
            <a:pPr lvl="1"/>
            <a:r>
              <a:rPr lang="en-US" altLang="en-US"/>
              <a:t>Độ tin cậy cao </a:t>
            </a:r>
          </a:p>
          <a:p>
            <a:pPr lvl="1"/>
            <a:r>
              <a:rPr lang="en-US" altLang="en-US"/>
              <a:t>Chi phí cho sự lắp đặt và nâng cấp là thấp</a:t>
            </a:r>
          </a:p>
          <a:p>
            <a:pPr lvl="1"/>
            <a:r>
              <a:rPr lang="en-US" altLang="en-US"/>
              <a:t>Dải thông của mạng có thể được tăng lên mà không cần phải thay đổi công nghệ nền tảng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Slide Number Placeholder 5">
            <a:extLst>
              <a:ext uri="{FF2B5EF4-FFF2-40B4-BE49-F238E27FC236}">
                <a16:creationId xmlns:a16="http://schemas.microsoft.com/office/drawing/2014/main" id="{1EF3D42F-DA39-4057-8886-69AA065B95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F26EE317-85C4-448A-AC4A-1DC8A5358FB6}" type="slidenum">
              <a:rPr lang="en-US" altLang="en-US" sz="1400" smtClean="0">
                <a:latin typeface="Times New Roman" panose="02020603050405020304" pitchFamily="18" charset="0"/>
              </a:rPr>
              <a:pPr>
                <a:spcBef>
                  <a:spcPct val="0"/>
                </a:spcBef>
                <a:buClrTx/>
                <a:buSzTx/>
                <a:buFontTx/>
                <a:buNone/>
              </a:pPr>
              <a:t>25</a:t>
            </a:fld>
            <a:endParaRPr lang="en-US" altLang="en-US" sz="1400">
              <a:latin typeface="Times New Roman" panose="02020603050405020304" pitchFamily="18" charset="0"/>
            </a:endParaRPr>
          </a:p>
        </p:txBody>
      </p:sp>
      <p:sp>
        <p:nvSpPr>
          <p:cNvPr id="296963" name="Rectangle 2">
            <a:extLst>
              <a:ext uri="{FF2B5EF4-FFF2-40B4-BE49-F238E27FC236}">
                <a16:creationId xmlns:a16="http://schemas.microsoft.com/office/drawing/2014/main" id="{7B849DE7-DB5D-42C8-838E-4AF2767BEECF}"/>
              </a:ext>
            </a:extLst>
          </p:cNvPr>
          <p:cNvSpPr>
            <a:spLocks noGrp="1" noChangeArrowheads="1"/>
          </p:cNvSpPr>
          <p:nvPr>
            <p:ph type="title"/>
          </p:nvPr>
        </p:nvSpPr>
        <p:spPr>
          <a:xfrm>
            <a:off x="533400" y="-242888"/>
            <a:ext cx="7772400" cy="1143001"/>
          </a:xfrm>
        </p:spPr>
        <p:txBody>
          <a:bodyPr/>
          <a:lstStyle/>
          <a:p>
            <a:r>
              <a:rPr lang="en-US" altLang="en-US"/>
              <a:t>Khuôn dạng khung Ethernet</a:t>
            </a:r>
          </a:p>
        </p:txBody>
      </p:sp>
      <p:graphicFrame>
        <p:nvGraphicFramePr>
          <p:cNvPr id="296964" name="Object 3">
            <a:extLst>
              <a:ext uri="{FF2B5EF4-FFF2-40B4-BE49-F238E27FC236}">
                <a16:creationId xmlns:a16="http://schemas.microsoft.com/office/drawing/2014/main" id="{72FBCF63-E567-4419-98E0-8991330B77DB}"/>
              </a:ext>
            </a:extLst>
          </p:cNvPr>
          <p:cNvGraphicFramePr>
            <a:graphicFrameLocks noGrp="1" noChangeAspect="1"/>
          </p:cNvGraphicFramePr>
          <p:nvPr>
            <p:ph idx="1"/>
          </p:nvPr>
        </p:nvGraphicFramePr>
        <p:xfrm>
          <a:off x="350838" y="660400"/>
          <a:ext cx="8123237" cy="3841750"/>
        </p:xfrm>
        <a:graphic>
          <a:graphicData uri="http://schemas.openxmlformats.org/presentationml/2006/ole">
            <mc:AlternateContent xmlns:mc="http://schemas.openxmlformats.org/markup-compatibility/2006">
              <mc:Choice xmlns:v="urn:schemas-microsoft-com:vml" Requires="v">
                <p:oleObj spid="_x0000_s296980" name="Image" r:id="rId4" imgW="7034921" imgH="3365079" progId="Photoshop.Image.6">
                  <p:embed/>
                </p:oleObj>
              </mc:Choice>
              <mc:Fallback>
                <p:oleObj name="Image" r:id="rId4" imgW="7034921" imgH="3365079" progId="Photoshop.Image.6">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838" y="660400"/>
                        <a:ext cx="8123237" cy="384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6965" name="Rectangle 4">
            <a:extLst>
              <a:ext uri="{FF2B5EF4-FFF2-40B4-BE49-F238E27FC236}">
                <a16:creationId xmlns:a16="http://schemas.microsoft.com/office/drawing/2014/main" id="{2A745E9A-679C-43F1-BD13-9C760F5ECF36}"/>
              </a:ext>
            </a:extLst>
          </p:cNvPr>
          <p:cNvSpPr>
            <a:spLocks noChangeArrowheads="1"/>
          </p:cNvSpPr>
          <p:nvPr/>
        </p:nvSpPr>
        <p:spPr bwMode="auto">
          <a:xfrm>
            <a:off x="609600" y="4724400"/>
            <a:ext cx="80772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Char char="r"/>
            </a:pPr>
            <a:r>
              <a:rPr lang="en-US" altLang="en-US" sz="2000" b="1"/>
              <a:t>Tại tầng liên kết dữ liệu, </a:t>
            </a:r>
            <a:r>
              <a:rPr lang="en-US" altLang="en-US" sz="2000" b="1">
                <a:solidFill>
                  <a:srgbClr val="FF3300"/>
                </a:solidFill>
              </a:rPr>
              <a:t>cấu trúc khung</a:t>
            </a:r>
            <a:r>
              <a:rPr lang="en-US" altLang="en-US" sz="2000" b="1"/>
              <a:t> là gần như </a:t>
            </a:r>
            <a:r>
              <a:rPr lang="en-US" altLang="en-US" sz="2000" b="1">
                <a:solidFill>
                  <a:srgbClr val="FF3300"/>
                </a:solidFill>
              </a:rPr>
              <a:t>giống nhau cho tất cả mọi tốc độ</a:t>
            </a:r>
            <a:r>
              <a:rPr lang="en-US" altLang="en-US" sz="2000" b="1"/>
              <a:t> của Ethernet từ 10 Mbps đến 10,000 Mbps. </a:t>
            </a:r>
          </a:p>
          <a:p>
            <a:pPr>
              <a:buFont typeface="ZapfDingbats" pitchFamily="82" charset="2"/>
              <a:buChar char="r"/>
            </a:pPr>
            <a:r>
              <a:rPr lang="en-US" altLang="en-US" sz="2000" b="1"/>
              <a:t>Ethernet qui định một khung (frame) không ít hơn 64 octets (bytes) và không nhiều hơn 1518 octets.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Slide Number Placeholder 5">
            <a:extLst>
              <a:ext uri="{FF2B5EF4-FFF2-40B4-BE49-F238E27FC236}">
                <a16:creationId xmlns:a16="http://schemas.microsoft.com/office/drawing/2014/main" id="{52E99C27-3437-4A4A-9F9C-F32E03CB6D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2B4ED9B7-735A-4227-8E26-77AE869C1F97}" type="slidenum">
              <a:rPr lang="en-US" altLang="en-US" sz="1400" smtClean="0">
                <a:latin typeface="Times New Roman" panose="02020603050405020304" pitchFamily="18" charset="0"/>
              </a:rPr>
              <a:pPr>
                <a:spcBef>
                  <a:spcPct val="0"/>
                </a:spcBef>
                <a:buClrTx/>
                <a:buSzTx/>
                <a:buFontTx/>
                <a:buNone/>
              </a:pPr>
              <a:t>26</a:t>
            </a:fld>
            <a:endParaRPr lang="en-US" altLang="en-US" sz="1400">
              <a:latin typeface="Times New Roman" panose="02020603050405020304" pitchFamily="18" charset="0"/>
            </a:endParaRPr>
          </a:p>
        </p:txBody>
      </p:sp>
      <p:sp>
        <p:nvSpPr>
          <p:cNvPr id="299011" name="Rectangle 2">
            <a:extLst>
              <a:ext uri="{FF2B5EF4-FFF2-40B4-BE49-F238E27FC236}">
                <a16:creationId xmlns:a16="http://schemas.microsoft.com/office/drawing/2014/main" id="{094BE9BC-E7FC-4165-8509-6233BF458A3C}"/>
              </a:ext>
            </a:extLst>
          </p:cNvPr>
          <p:cNvSpPr>
            <a:spLocks noGrp="1" noChangeArrowheads="1"/>
          </p:cNvSpPr>
          <p:nvPr>
            <p:ph type="title"/>
          </p:nvPr>
        </p:nvSpPr>
        <p:spPr>
          <a:xfrm>
            <a:off x="533400" y="-155575"/>
            <a:ext cx="7772400" cy="1143000"/>
          </a:xfrm>
        </p:spPr>
        <p:txBody>
          <a:bodyPr/>
          <a:lstStyle/>
          <a:p>
            <a:pPr algn="ctr"/>
            <a:r>
              <a:rPr lang="en-US" altLang="en-US"/>
              <a:t>IEEE 802.3 Ethernet</a:t>
            </a:r>
          </a:p>
        </p:txBody>
      </p:sp>
      <p:pic>
        <p:nvPicPr>
          <p:cNvPr id="299012" name="Picture 5">
            <a:extLst>
              <a:ext uri="{FF2B5EF4-FFF2-40B4-BE49-F238E27FC236}">
                <a16:creationId xmlns:a16="http://schemas.microsoft.com/office/drawing/2014/main" id="{F1F8CB15-367B-4C09-A38B-93BA4E0C40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738" y="892175"/>
            <a:ext cx="8340725" cy="556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Slide Number Placeholder 5">
            <a:extLst>
              <a:ext uri="{FF2B5EF4-FFF2-40B4-BE49-F238E27FC236}">
                <a16:creationId xmlns:a16="http://schemas.microsoft.com/office/drawing/2014/main" id="{359E84BB-6AF9-4315-99C5-118BFBD316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DB02E104-9472-4422-AF96-42BE02F74EB0}" type="slidenum">
              <a:rPr lang="en-US" altLang="en-US" sz="1400" smtClean="0">
                <a:latin typeface="Times New Roman" panose="02020603050405020304" pitchFamily="18" charset="0"/>
              </a:rPr>
              <a:pPr>
                <a:spcBef>
                  <a:spcPct val="0"/>
                </a:spcBef>
                <a:buClrTx/>
                <a:buSzTx/>
                <a:buFontTx/>
                <a:buNone/>
              </a:pPr>
              <a:t>27</a:t>
            </a:fld>
            <a:endParaRPr lang="en-US" altLang="en-US" sz="1400">
              <a:latin typeface="Times New Roman" panose="02020603050405020304" pitchFamily="18" charset="0"/>
            </a:endParaRPr>
          </a:p>
        </p:txBody>
      </p:sp>
      <p:sp>
        <p:nvSpPr>
          <p:cNvPr id="301059" name="Rectangle 2">
            <a:extLst>
              <a:ext uri="{FF2B5EF4-FFF2-40B4-BE49-F238E27FC236}">
                <a16:creationId xmlns:a16="http://schemas.microsoft.com/office/drawing/2014/main" id="{779D64E8-55AE-41E4-802D-21ECCBDD35B0}"/>
              </a:ext>
            </a:extLst>
          </p:cNvPr>
          <p:cNvSpPr>
            <a:spLocks noGrp="1" noChangeArrowheads="1"/>
          </p:cNvSpPr>
          <p:nvPr>
            <p:ph type="title"/>
          </p:nvPr>
        </p:nvSpPr>
        <p:spPr>
          <a:xfrm>
            <a:off x="685800" y="346075"/>
            <a:ext cx="7772400" cy="609600"/>
          </a:xfrm>
        </p:spPr>
        <p:txBody>
          <a:bodyPr/>
          <a:lstStyle/>
          <a:p>
            <a:r>
              <a:rPr lang="en-US" altLang="en-US"/>
              <a:t>Cấu trúc khung Ethernet</a:t>
            </a:r>
          </a:p>
        </p:txBody>
      </p:sp>
      <p:sp>
        <p:nvSpPr>
          <p:cNvPr id="301060" name="Rectangle 3">
            <a:extLst>
              <a:ext uri="{FF2B5EF4-FFF2-40B4-BE49-F238E27FC236}">
                <a16:creationId xmlns:a16="http://schemas.microsoft.com/office/drawing/2014/main" id="{A6A6E1E8-440C-410D-9EDA-BF05887737FD}"/>
              </a:ext>
            </a:extLst>
          </p:cNvPr>
          <p:cNvSpPr>
            <a:spLocks noGrp="1" noChangeArrowheads="1"/>
          </p:cNvSpPr>
          <p:nvPr>
            <p:ph type="body" idx="1"/>
          </p:nvPr>
        </p:nvSpPr>
        <p:spPr>
          <a:xfrm>
            <a:off x="652463" y="1325563"/>
            <a:ext cx="7772400" cy="4343400"/>
          </a:xfrm>
        </p:spPr>
        <p:txBody>
          <a:bodyPr/>
          <a:lstStyle/>
          <a:p>
            <a:pPr>
              <a:lnSpc>
                <a:spcPct val="80000"/>
              </a:lnSpc>
              <a:buFont typeface="ZapfDingbats" pitchFamily="82" charset="2"/>
              <a:buNone/>
            </a:pPr>
            <a:r>
              <a:rPr lang="en-US" altLang="en-US" sz="2400"/>
              <a:t>Bộ thích ứng mạng bên gởi bao bọc các gam dữ liệu IP (hoặc gói dữ liệu giao thức tầng mạng khác) trong </a:t>
            </a:r>
            <a:r>
              <a:rPr lang="en-US" altLang="en-US" sz="2400">
                <a:solidFill>
                  <a:srgbClr val="FF0000"/>
                </a:solidFill>
              </a:rPr>
              <a:t>khung Ethernet</a:t>
            </a:r>
            <a:endParaRPr lang="en-US" altLang="en-US" sz="2400" b="1"/>
          </a:p>
          <a:p>
            <a:pPr>
              <a:lnSpc>
                <a:spcPct val="80000"/>
              </a:lnSpc>
            </a:pPr>
            <a:endParaRPr lang="en-US" altLang="en-US" sz="2400" b="1"/>
          </a:p>
          <a:p>
            <a:pPr>
              <a:lnSpc>
                <a:spcPct val="80000"/>
              </a:lnSpc>
              <a:buFont typeface="ZapfDingbats" pitchFamily="82" charset="2"/>
              <a:buNone/>
            </a:pPr>
            <a:endParaRPr lang="en-US" altLang="en-US" sz="2400">
              <a:solidFill>
                <a:srgbClr val="FF0000"/>
              </a:solidFill>
            </a:endParaRPr>
          </a:p>
          <a:p>
            <a:pPr>
              <a:lnSpc>
                <a:spcPct val="80000"/>
              </a:lnSpc>
              <a:buFont typeface="ZapfDingbats" pitchFamily="82" charset="2"/>
              <a:buNone/>
            </a:pPr>
            <a:br>
              <a:rPr lang="en-US" altLang="en-US" sz="2400">
                <a:solidFill>
                  <a:srgbClr val="FF0000"/>
                </a:solidFill>
              </a:rPr>
            </a:br>
            <a:br>
              <a:rPr lang="en-US" altLang="en-US" sz="2400">
                <a:solidFill>
                  <a:srgbClr val="FF0000"/>
                </a:solidFill>
              </a:rPr>
            </a:br>
            <a:br>
              <a:rPr lang="en-US" altLang="en-US" sz="2400">
                <a:solidFill>
                  <a:srgbClr val="FF0000"/>
                </a:solidFill>
              </a:rPr>
            </a:br>
            <a:r>
              <a:rPr lang="en-US" altLang="en-US" sz="2400">
                <a:solidFill>
                  <a:srgbClr val="FF0000"/>
                </a:solidFill>
              </a:rPr>
              <a:t>Preamble (phần mở đầu):</a:t>
            </a:r>
            <a:r>
              <a:rPr lang="en-US" altLang="en-US" sz="2400"/>
              <a:t> </a:t>
            </a:r>
          </a:p>
          <a:p>
            <a:pPr>
              <a:lnSpc>
                <a:spcPct val="80000"/>
              </a:lnSpc>
            </a:pPr>
            <a:r>
              <a:rPr lang="en-US" altLang="en-US" sz="2400"/>
              <a:t>7 bytes với mẫu bit 10101010 được theo sau bởi một byte với mẫu bit 10101011</a:t>
            </a:r>
          </a:p>
          <a:p>
            <a:pPr>
              <a:lnSpc>
                <a:spcPct val="80000"/>
              </a:lnSpc>
            </a:pPr>
            <a:r>
              <a:rPr lang="en-US" altLang="en-US" sz="2400"/>
              <a:t> được sử dụng để đồng bộ nhịp đồng hồ giữa bên gởi và bên nhận</a:t>
            </a:r>
          </a:p>
        </p:txBody>
      </p:sp>
      <p:pic>
        <p:nvPicPr>
          <p:cNvPr id="301061" name="Picture 4" descr="552 Ethernet frame">
            <a:extLst>
              <a:ext uri="{FF2B5EF4-FFF2-40B4-BE49-F238E27FC236}">
                <a16:creationId xmlns:a16="http://schemas.microsoft.com/office/drawing/2014/main" id="{77EAA0C0-90A1-43A8-8207-72A668DDBB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25" y="2732088"/>
            <a:ext cx="5487988"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Slide Number Placeholder 5">
            <a:extLst>
              <a:ext uri="{FF2B5EF4-FFF2-40B4-BE49-F238E27FC236}">
                <a16:creationId xmlns:a16="http://schemas.microsoft.com/office/drawing/2014/main" id="{D0DF2AD0-4AD1-4386-B9C6-498A1673862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1F3EE11-0AE6-4D68-91AC-C2EED145A239}" type="slidenum">
              <a:rPr lang="en-US" altLang="en-US" sz="1400" smtClean="0">
                <a:latin typeface="Times New Roman" panose="02020603050405020304" pitchFamily="18" charset="0"/>
              </a:rPr>
              <a:pPr>
                <a:spcBef>
                  <a:spcPct val="0"/>
                </a:spcBef>
                <a:buClrTx/>
                <a:buSzTx/>
                <a:buFontTx/>
                <a:buNone/>
              </a:pPr>
              <a:t>28</a:t>
            </a:fld>
            <a:endParaRPr lang="en-US" altLang="en-US" sz="1400">
              <a:latin typeface="Times New Roman" panose="02020603050405020304" pitchFamily="18" charset="0"/>
            </a:endParaRPr>
          </a:p>
        </p:txBody>
      </p:sp>
      <p:sp>
        <p:nvSpPr>
          <p:cNvPr id="303107" name="Rectangle 3">
            <a:extLst>
              <a:ext uri="{FF2B5EF4-FFF2-40B4-BE49-F238E27FC236}">
                <a16:creationId xmlns:a16="http://schemas.microsoft.com/office/drawing/2014/main" id="{A2DF06A8-F8FB-4C93-894F-D8A51DE94331}"/>
              </a:ext>
            </a:extLst>
          </p:cNvPr>
          <p:cNvSpPr>
            <a:spLocks noGrp="1" noChangeArrowheads="1"/>
          </p:cNvSpPr>
          <p:nvPr>
            <p:ph type="body" idx="1"/>
          </p:nvPr>
        </p:nvSpPr>
        <p:spPr>
          <a:xfrm>
            <a:off x="0" y="1206500"/>
            <a:ext cx="9144000" cy="4648200"/>
          </a:xfrm>
        </p:spPr>
        <p:txBody>
          <a:bodyPr/>
          <a:lstStyle/>
          <a:p>
            <a:r>
              <a:rPr lang="en-US" altLang="en-US" sz="2400">
                <a:solidFill>
                  <a:srgbClr val="FF0000"/>
                </a:solidFill>
              </a:rPr>
              <a:t>Addresses (địa chỉ):</a:t>
            </a:r>
            <a:r>
              <a:rPr lang="en-US" altLang="en-US" sz="2400"/>
              <a:t> 6 bytes</a:t>
            </a:r>
          </a:p>
          <a:p>
            <a:pPr lvl="1"/>
            <a:r>
              <a:rPr lang="en-US" altLang="en-US" sz="2000"/>
              <a:t>nếu bộ thích ứng mạng nhận được một frame có địa chỉ đích trùng với địa chỉ vật lý của nó, hoặc địa chỉ đích là địa chỉ quảng bá (vd: gói ARP request), nó sẽ đưa dữ liệu lên cho giao thức (được chỉ) tại tầng mạng</a:t>
            </a:r>
          </a:p>
          <a:p>
            <a:pPr lvl="1"/>
            <a:r>
              <a:rPr lang="en-US" altLang="en-US" sz="2000"/>
              <a:t>nếu không thì nó sẽ loại bỏ khung đó</a:t>
            </a:r>
          </a:p>
          <a:p>
            <a:r>
              <a:rPr lang="en-US" altLang="en-US" sz="2400">
                <a:solidFill>
                  <a:srgbClr val="FF0000"/>
                </a:solidFill>
              </a:rPr>
              <a:t>Type (loại):</a:t>
            </a:r>
            <a:r>
              <a:rPr lang="en-US" altLang="en-US" sz="2400"/>
              <a:t> chỉ giao thức ở tầng trên (network layer), phần lớn là IP nhưng những giao thức khác cũng có thể được hỗ trợ như Novell IPX và AppleTalk); cũng có thể kết hợp là </a:t>
            </a:r>
            <a:r>
              <a:rPr lang="en-US" altLang="en-US" sz="2400">
                <a:solidFill>
                  <a:srgbClr val="FF0000"/>
                </a:solidFill>
              </a:rPr>
              <a:t>Length (chiều dài) </a:t>
            </a:r>
            <a:r>
              <a:rPr lang="en-US" altLang="en-US" sz="2400"/>
              <a:t>&lt;1536 -&gt; Length!</a:t>
            </a:r>
          </a:p>
          <a:p>
            <a:r>
              <a:rPr lang="en-US" altLang="en-US" sz="2400">
                <a:solidFill>
                  <a:srgbClr val="FF0000"/>
                </a:solidFill>
              </a:rPr>
              <a:t>CRC (Cyclic Redundancy Check – Kiểm dư vòng):</a:t>
            </a:r>
            <a:r>
              <a:rPr lang="en-US" altLang="en-US" sz="2400"/>
              <a:t> được kiểm tra tại bên nhận, nếu phát hiện có lỗi, khung đó bị bỏ</a:t>
            </a:r>
            <a:endParaRPr lang="en-US" altLang="en-US"/>
          </a:p>
          <a:p>
            <a:endParaRPr lang="en-US" altLang="en-US"/>
          </a:p>
          <a:p>
            <a:endParaRPr lang="en-US" altLang="en-US"/>
          </a:p>
        </p:txBody>
      </p:sp>
      <p:pic>
        <p:nvPicPr>
          <p:cNvPr id="303108" name="Picture 4" descr="552 Ethernet frame">
            <a:extLst>
              <a:ext uri="{FF2B5EF4-FFF2-40B4-BE49-F238E27FC236}">
                <a16:creationId xmlns:a16="http://schemas.microsoft.com/office/drawing/2014/main" id="{528EDF44-2479-4ED7-9003-8EF4D05ACE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0" y="5599113"/>
            <a:ext cx="7558088"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109" name="Rectangle 5">
            <a:extLst>
              <a:ext uri="{FF2B5EF4-FFF2-40B4-BE49-F238E27FC236}">
                <a16:creationId xmlns:a16="http://schemas.microsoft.com/office/drawing/2014/main" id="{5029D883-D2AA-4F97-A133-1189E2010BDC}"/>
              </a:ext>
            </a:extLst>
          </p:cNvPr>
          <p:cNvSpPr>
            <a:spLocks noChangeArrowheads="1"/>
          </p:cNvSpPr>
          <p:nvPr/>
        </p:nvSpPr>
        <p:spPr bwMode="auto">
          <a:xfrm>
            <a:off x="533400" y="0"/>
            <a:ext cx="8610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4000" u="sng">
                <a:solidFill>
                  <a:schemeClr val="accent2"/>
                </a:solidFill>
              </a:rPr>
              <a:t>Cấu trúc khung Ethernet (tt)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Number Placeholder 5">
            <a:extLst>
              <a:ext uri="{FF2B5EF4-FFF2-40B4-BE49-F238E27FC236}">
                <a16:creationId xmlns:a16="http://schemas.microsoft.com/office/drawing/2014/main" id="{67745FA6-8A55-43C1-8DC0-B2404E768C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BDDDE290-DC1F-4427-A75B-0945B47ED593}" type="slidenum">
              <a:rPr lang="en-US" altLang="en-US" sz="1400" smtClean="0">
                <a:latin typeface="Times New Roman" panose="02020603050405020304" pitchFamily="18" charset="0"/>
              </a:rPr>
              <a:pPr>
                <a:spcBef>
                  <a:spcPct val="0"/>
                </a:spcBef>
                <a:buClrTx/>
                <a:buSzTx/>
                <a:buFontTx/>
                <a:buNone/>
              </a:pPr>
              <a:t>29</a:t>
            </a:fld>
            <a:endParaRPr lang="en-US" altLang="en-US" sz="1400">
              <a:latin typeface="Times New Roman" panose="02020603050405020304" pitchFamily="18" charset="0"/>
            </a:endParaRPr>
          </a:p>
        </p:txBody>
      </p:sp>
      <p:sp>
        <p:nvSpPr>
          <p:cNvPr id="305155" name="Rectangle 2">
            <a:extLst>
              <a:ext uri="{FF2B5EF4-FFF2-40B4-BE49-F238E27FC236}">
                <a16:creationId xmlns:a16="http://schemas.microsoft.com/office/drawing/2014/main" id="{9EF993D6-41EA-4FFC-83D6-7533985A9BFD}"/>
              </a:ext>
            </a:extLst>
          </p:cNvPr>
          <p:cNvSpPr>
            <a:spLocks noGrp="1" noChangeArrowheads="1"/>
          </p:cNvSpPr>
          <p:nvPr>
            <p:ph type="title"/>
          </p:nvPr>
        </p:nvSpPr>
        <p:spPr>
          <a:xfrm>
            <a:off x="0" y="228600"/>
            <a:ext cx="9144000" cy="1143000"/>
          </a:xfrm>
        </p:spPr>
        <p:txBody>
          <a:bodyPr/>
          <a:lstStyle/>
          <a:p>
            <a:r>
              <a:rPr lang="en-US" altLang="en-US" sz="3400"/>
              <a:t>Ethernet - Dịch vụ phi kết nối, không tin cậy </a:t>
            </a:r>
          </a:p>
        </p:txBody>
      </p:sp>
      <p:sp>
        <p:nvSpPr>
          <p:cNvPr id="305156" name="Rectangle 3">
            <a:extLst>
              <a:ext uri="{FF2B5EF4-FFF2-40B4-BE49-F238E27FC236}">
                <a16:creationId xmlns:a16="http://schemas.microsoft.com/office/drawing/2014/main" id="{E16070AB-706B-4737-AE91-7CED27B0535C}"/>
              </a:ext>
            </a:extLst>
          </p:cNvPr>
          <p:cNvSpPr>
            <a:spLocks noGrp="1" noChangeArrowheads="1"/>
          </p:cNvSpPr>
          <p:nvPr>
            <p:ph type="body" idx="1"/>
          </p:nvPr>
        </p:nvSpPr>
        <p:spPr/>
        <p:txBody>
          <a:bodyPr/>
          <a:lstStyle/>
          <a:p>
            <a:pPr>
              <a:lnSpc>
                <a:spcPct val="90000"/>
              </a:lnSpc>
            </a:pPr>
            <a:r>
              <a:rPr lang="en-US" altLang="en-US">
                <a:solidFill>
                  <a:srgbClr val="FF0000"/>
                </a:solidFill>
              </a:rPr>
              <a:t>Phi kết nối:</a:t>
            </a:r>
            <a:r>
              <a:rPr lang="en-US" altLang="en-US"/>
              <a:t> không bắt tay giữa bộ thích ứng mạng bên gởi và nhận. </a:t>
            </a:r>
          </a:p>
          <a:p>
            <a:pPr>
              <a:lnSpc>
                <a:spcPct val="90000"/>
              </a:lnSpc>
            </a:pPr>
            <a:r>
              <a:rPr lang="en-US" altLang="en-US">
                <a:solidFill>
                  <a:srgbClr val="FF0000"/>
                </a:solidFill>
              </a:rPr>
              <a:t>Không tin cậy:</a:t>
            </a:r>
            <a:r>
              <a:rPr lang="en-US" altLang="en-US"/>
              <a:t> bộ thích ứng mạng bên nhận không gởi tin báo nhận/không nhận (ACK hay NACK) đến bộ thích ứng mạng bên gởi</a:t>
            </a:r>
            <a:endParaRPr lang="en-US" altLang="en-US" sz="3200"/>
          </a:p>
          <a:p>
            <a:pPr lvl="1">
              <a:lnSpc>
                <a:spcPct val="90000"/>
              </a:lnSpc>
            </a:pPr>
            <a:r>
              <a:rPr lang="en-US" altLang="en-US"/>
              <a:t>dòng của các gam dữ liệu được chuyển lên cho tầng mạng có thể có các khoảng trống</a:t>
            </a:r>
          </a:p>
          <a:p>
            <a:pPr lvl="1">
              <a:lnSpc>
                <a:spcPct val="90000"/>
              </a:lnSpc>
            </a:pPr>
            <a:r>
              <a:rPr lang="en-US" altLang="en-US"/>
              <a:t>các khoảng trống này sẽ được lấp nếu ứng dụng sử dụng TCP ở tầng vận chuyển</a:t>
            </a:r>
          </a:p>
          <a:p>
            <a:pPr lvl="1">
              <a:lnSpc>
                <a:spcPct val="90000"/>
              </a:lnSpc>
            </a:pPr>
            <a:r>
              <a:rPr lang="en-US" altLang="en-US"/>
              <a:t>nếu không thì, ứng dụng sẽ “thấy” các khoảng trống đó (xử lý hay không tùy nó)</a:t>
            </a:r>
            <a:endParaRPr lang="en-US" altLang="en-US" sz="2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Slide Number Placeholder 6">
            <a:extLst>
              <a:ext uri="{FF2B5EF4-FFF2-40B4-BE49-F238E27FC236}">
                <a16:creationId xmlns:a16="http://schemas.microsoft.com/office/drawing/2014/main" id="{0BF10EF9-187D-4CE1-88C3-79ED50C27F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DE6AE043-E3F7-47CE-8C18-D6A045653218}" type="slidenum">
              <a:rPr lang="en-US" altLang="en-US" sz="1400" smtClean="0">
                <a:latin typeface="Times New Roman" panose="02020603050405020304" pitchFamily="18" charset="0"/>
              </a:rPr>
              <a:pPr>
                <a:spcBef>
                  <a:spcPct val="0"/>
                </a:spcBef>
                <a:buClrTx/>
                <a:buSzTx/>
                <a:buFontTx/>
                <a:buNone/>
              </a:pPr>
              <a:t>30</a:t>
            </a:fld>
            <a:endParaRPr lang="en-US" altLang="en-US" sz="1400">
              <a:latin typeface="Times New Roman" panose="02020603050405020304" pitchFamily="18" charset="0"/>
            </a:endParaRPr>
          </a:p>
        </p:txBody>
      </p:sp>
      <p:sp>
        <p:nvSpPr>
          <p:cNvPr id="306179" name="Rectangle 2">
            <a:extLst>
              <a:ext uri="{FF2B5EF4-FFF2-40B4-BE49-F238E27FC236}">
                <a16:creationId xmlns:a16="http://schemas.microsoft.com/office/drawing/2014/main" id="{6FA0F9D7-0428-4883-9678-2B35C1AD9688}"/>
              </a:ext>
            </a:extLst>
          </p:cNvPr>
          <p:cNvSpPr>
            <a:spLocks noGrp="1" noChangeArrowheads="1"/>
          </p:cNvSpPr>
          <p:nvPr>
            <p:ph type="title"/>
          </p:nvPr>
        </p:nvSpPr>
        <p:spPr/>
        <p:txBody>
          <a:bodyPr/>
          <a:lstStyle/>
          <a:p>
            <a:r>
              <a:rPr lang="en-US" altLang="en-US"/>
              <a:t>Ethernet sử dụng CSMA/CD</a:t>
            </a:r>
          </a:p>
        </p:txBody>
      </p:sp>
      <p:sp>
        <p:nvSpPr>
          <p:cNvPr id="306180" name="Rectangle 3">
            <a:extLst>
              <a:ext uri="{FF2B5EF4-FFF2-40B4-BE49-F238E27FC236}">
                <a16:creationId xmlns:a16="http://schemas.microsoft.com/office/drawing/2014/main" id="{1C73DED2-5597-47D8-A2FE-7E3D8D63791B}"/>
              </a:ext>
            </a:extLst>
          </p:cNvPr>
          <p:cNvSpPr>
            <a:spLocks noGrp="1" noChangeArrowheads="1"/>
          </p:cNvSpPr>
          <p:nvPr>
            <p:ph type="body" sz="half" idx="1"/>
          </p:nvPr>
        </p:nvSpPr>
        <p:spPr>
          <a:xfrm>
            <a:off x="533400" y="1443038"/>
            <a:ext cx="4243388" cy="5414962"/>
          </a:xfrm>
        </p:spPr>
        <p:txBody>
          <a:bodyPr/>
          <a:lstStyle/>
          <a:p>
            <a:r>
              <a:rPr lang="en-US" altLang="en-US" sz="2400"/>
              <a:t>Một card mạng có thể bắt đầu truyền tại bất kỳ thời điểm nào</a:t>
            </a:r>
          </a:p>
          <a:p>
            <a:r>
              <a:rPr lang="en-US" altLang="en-US" sz="2400"/>
              <a:t>Nhưng nó không truyền nếu cảm nhận được rằng một (số) card khác đang truyền, đó là, </a:t>
            </a:r>
            <a:r>
              <a:rPr lang="en-US" altLang="en-US" sz="2400">
                <a:solidFill>
                  <a:srgbClr val="FF0000"/>
                </a:solidFill>
              </a:rPr>
              <a:t>cảm nhận sóng mang</a:t>
            </a:r>
            <a:endParaRPr lang="en-US" altLang="en-US" sz="2400"/>
          </a:p>
          <a:p>
            <a:r>
              <a:rPr lang="en-US" altLang="en-US" sz="2400"/>
              <a:t>Card mạng đang truyền sẽ hủy bỏ ngay việc truyền dữ liệu khi nó cảm nhận được một card khác đang truyền, đó là, </a:t>
            </a:r>
            <a:r>
              <a:rPr lang="en-US" altLang="en-US" sz="2400">
                <a:solidFill>
                  <a:srgbClr val="FF0000"/>
                </a:solidFill>
              </a:rPr>
              <a:t>sự phát hiện xung đột</a:t>
            </a:r>
            <a:endParaRPr lang="en-US" altLang="en-US" sz="2400"/>
          </a:p>
        </p:txBody>
      </p:sp>
      <p:sp>
        <p:nvSpPr>
          <p:cNvPr id="306181" name="Rectangle 4">
            <a:extLst>
              <a:ext uri="{FF2B5EF4-FFF2-40B4-BE49-F238E27FC236}">
                <a16:creationId xmlns:a16="http://schemas.microsoft.com/office/drawing/2014/main" id="{AFE48880-EB5A-4A75-87FB-EFEC7AE6DED6}"/>
              </a:ext>
            </a:extLst>
          </p:cNvPr>
          <p:cNvSpPr>
            <a:spLocks noGrp="1" noChangeArrowheads="1"/>
          </p:cNvSpPr>
          <p:nvPr>
            <p:ph type="body" sz="half" idx="2"/>
          </p:nvPr>
        </p:nvSpPr>
        <p:spPr>
          <a:xfrm>
            <a:off x="5046663" y="1600200"/>
            <a:ext cx="3810000" cy="4648200"/>
          </a:xfrm>
        </p:spPr>
        <p:txBody>
          <a:bodyPr/>
          <a:lstStyle/>
          <a:p>
            <a:r>
              <a:rPr lang="en-US" altLang="en-US"/>
              <a:t>Trước khi cố gắng truyền lại, card mạng đợi một thời đoạn ngẫu nhiên, đó là, </a:t>
            </a:r>
            <a:r>
              <a:rPr lang="en-US" altLang="en-US">
                <a:solidFill>
                  <a:srgbClr val="FF0000"/>
                </a:solidFill>
              </a:rPr>
              <a:t>truy cập ngẫu nhiên</a:t>
            </a: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Slide Number Placeholder 6">
            <a:extLst>
              <a:ext uri="{FF2B5EF4-FFF2-40B4-BE49-F238E27FC236}">
                <a16:creationId xmlns:a16="http://schemas.microsoft.com/office/drawing/2014/main" id="{3A2CB7BC-879A-4BA6-AB71-F0431A6170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642DBD76-A08C-4956-8AD9-A15941CB0E46}" type="slidenum">
              <a:rPr lang="en-US" altLang="en-US" sz="1400" smtClean="0">
                <a:latin typeface="Times New Roman" panose="02020603050405020304" pitchFamily="18" charset="0"/>
              </a:rPr>
              <a:pPr>
                <a:spcBef>
                  <a:spcPct val="0"/>
                </a:spcBef>
                <a:buClrTx/>
                <a:buSzTx/>
                <a:buFontTx/>
                <a:buNone/>
              </a:pPr>
              <a:t>31</a:t>
            </a:fld>
            <a:endParaRPr lang="en-US" altLang="en-US" sz="1400">
              <a:latin typeface="Times New Roman" panose="02020603050405020304" pitchFamily="18" charset="0"/>
            </a:endParaRPr>
          </a:p>
        </p:txBody>
      </p:sp>
      <p:sp>
        <p:nvSpPr>
          <p:cNvPr id="308227" name="Rectangle 2">
            <a:extLst>
              <a:ext uri="{FF2B5EF4-FFF2-40B4-BE49-F238E27FC236}">
                <a16:creationId xmlns:a16="http://schemas.microsoft.com/office/drawing/2014/main" id="{2DD449EB-89EB-4978-9CA5-3DED233A4D13}"/>
              </a:ext>
            </a:extLst>
          </p:cNvPr>
          <p:cNvSpPr>
            <a:spLocks noGrp="1" noChangeArrowheads="1"/>
          </p:cNvSpPr>
          <p:nvPr>
            <p:ph type="title"/>
          </p:nvPr>
        </p:nvSpPr>
        <p:spPr>
          <a:xfrm>
            <a:off x="533400" y="0"/>
            <a:ext cx="8610600" cy="1143000"/>
          </a:xfrm>
        </p:spPr>
        <p:txBody>
          <a:bodyPr/>
          <a:lstStyle/>
          <a:p>
            <a:r>
              <a:rPr lang="en-US" altLang="en-US" sz="3600"/>
              <a:t>Giải thuật CSMA/CD trong Ethernet</a:t>
            </a:r>
          </a:p>
        </p:txBody>
      </p:sp>
      <p:sp>
        <p:nvSpPr>
          <p:cNvPr id="308228" name="Rectangle 3">
            <a:extLst>
              <a:ext uri="{FF2B5EF4-FFF2-40B4-BE49-F238E27FC236}">
                <a16:creationId xmlns:a16="http://schemas.microsoft.com/office/drawing/2014/main" id="{AD5FC90E-CD6A-4FAD-B1AD-7AD9343D08BD}"/>
              </a:ext>
            </a:extLst>
          </p:cNvPr>
          <p:cNvSpPr>
            <a:spLocks noGrp="1" noChangeArrowheads="1"/>
          </p:cNvSpPr>
          <p:nvPr>
            <p:ph type="body" sz="half" idx="1"/>
          </p:nvPr>
        </p:nvSpPr>
        <p:spPr>
          <a:xfrm>
            <a:off x="276225" y="826068"/>
            <a:ext cx="4351338" cy="4648200"/>
          </a:xfrm>
        </p:spPr>
        <p:txBody>
          <a:bodyPr/>
          <a:lstStyle/>
          <a:p>
            <a:pPr>
              <a:buFont typeface="ZapfDingbats" pitchFamily="82" charset="2"/>
              <a:buNone/>
            </a:pPr>
            <a:r>
              <a:rPr lang="en-US" altLang="en-US" sz="2400"/>
              <a:t>1. Card mạng nhận gam dữ liệu từ tầng mạng và tạo frame</a:t>
            </a:r>
          </a:p>
          <a:p>
            <a:pPr>
              <a:buFont typeface="ZapfDingbats" pitchFamily="82" charset="2"/>
              <a:buNone/>
            </a:pPr>
            <a:r>
              <a:rPr lang="en-US" altLang="en-US" sz="2400"/>
              <a:t>2. Nếu cảm nhận thấy kênh truyền rỗi, nó sẽ bắt đầu truyền frame đi. Nếu cảm nhận thấy kênh truyền bận, nó đợi cho đến khi kênh truyền rỗi và truyền dữ liệu</a:t>
            </a:r>
          </a:p>
          <a:p>
            <a:pPr>
              <a:buFont typeface="ZapfDingbats" pitchFamily="82" charset="2"/>
              <a:buNone/>
            </a:pPr>
            <a:r>
              <a:rPr lang="en-US" altLang="en-US" sz="2400"/>
              <a:t>3. Nếu card mạng truyền xong toàn bộ frame mà không phát hiện thấy việc truyền dữ liệu khác nào, nó xem như việc truyền frame đó đã hoàn thành!</a:t>
            </a:r>
          </a:p>
        </p:txBody>
      </p:sp>
      <p:sp>
        <p:nvSpPr>
          <p:cNvPr id="308229" name="Rectangle 4">
            <a:extLst>
              <a:ext uri="{FF2B5EF4-FFF2-40B4-BE49-F238E27FC236}">
                <a16:creationId xmlns:a16="http://schemas.microsoft.com/office/drawing/2014/main" id="{648F6CCB-4810-421B-AEA4-84944F868D16}"/>
              </a:ext>
            </a:extLst>
          </p:cNvPr>
          <p:cNvSpPr>
            <a:spLocks noGrp="1" noChangeArrowheads="1"/>
          </p:cNvSpPr>
          <p:nvPr>
            <p:ph type="body" sz="half" idx="2"/>
          </p:nvPr>
        </p:nvSpPr>
        <p:spPr>
          <a:xfrm>
            <a:off x="4627563" y="826068"/>
            <a:ext cx="4335462" cy="4648200"/>
          </a:xfrm>
        </p:spPr>
        <p:txBody>
          <a:bodyPr/>
          <a:lstStyle/>
          <a:p>
            <a:pPr>
              <a:buFont typeface="ZapfDingbats" pitchFamily="82" charset="2"/>
              <a:buNone/>
            </a:pPr>
            <a:r>
              <a:rPr lang="en-US" altLang="en-US" sz="2400"/>
              <a:t>4. Nếu card mạng phát hiện thấy có sự truyền dữ liệu khác, nó sẽ hủy bỏ việc truyền dữ liệu và gởi </a:t>
            </a:r>
            <a:r>
              <a:rPr lang="en-US" altLang="en-US" sz="2400">
                <a:solidFill>
                  <a:srgbClr val="FF0000"/>
                </a:solidFill>
              </a:rPr>
              <a:t>tín hiệu bồi</a:t>
            </a:r>
          </a:p>
          <a:p>
            <a:pPr>
              <a:buFont typeface="ZapfDingbats" pitchFamily="82" charset="2"/>
              <a:buNone/>
            </a:pPr>
            <a:r>
              <a:rPr lang="en-US" altLang="en-US" sz="2400"/>
              <a:t>5. Sau khi hủy bỏ việc truyền, card mạng  bước vào </a:t>
            </a:r>
            <a:r>
              <a:rPr lang="en-US" altLang="en-US" sz="2400" b="1">
                <a:solidFill>
                  <a:srgbClr val="FF0000"/>
                </a:solidFill>
              </a:rPr>
              <a:t>vãn hồi theo luật số mũ</a:t>
            </a:r>
            <a:r>
              <a:rPr lang="en-US" altLang="en-US" sz="2400"/>
              <a:t>: sau lần xung đột thứ </a:t>
            </a:r>
            <a:r>
              <a:rPr lang="en-US" altLang="en-US" sz="2400" b="1" i="1"/>
              <a:t>m</a:t>
            </a:r>
            <a:r>
              <a:rPr lang="en-US" altLang="en-US" sz="2400"/>
              <a:t>, card mạng chọn giá trị K ngẫu nhiên từ {0,1,2,…,2</a:t>
            </a:r>
            <a:r>
              <a:rPr lang="en-US" altLang="en-US" sz="2400" b="1" baseline="30000"/>
              <a:t>m</a:t>
            </a:r>
            <a:r>
              <a:rPr lang="en-US" altLang="en-US" sz="2400"/>
              <a:t>-1}. Card mạng đợi K*512 bit times và trở lại bước 2</a:t>
            </a:r>
          </a:p>
          <a:p>
            <a:pPr>
              <a:buFont typeface="ZapfDingbats" pitchFamily="82" charset="2"/>
              <a:buNone/>
            </a:pPr>
            <a:r>
              <a:rPr lang="en-US" altLang="en-US" sz="2000"/>
              <a:t> </a:t>
            </a:r>
            <a:r>
              <a:rPr lang="en-US" altLang="en-US" sz="240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Slide Number Placeholder 6">
            <a:extLst>
              <a:ext uri="{FF2B5EF4-FFF2-40B4-BE49-F238E27FC236}">
                <a16:creationId xmlns:a16="http://schemas.microsoft.com/office/drawing/2014/main" id="{6F20C462-9313-4D38-811B-8F6935BA72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FA457C1B-30B6-4732-BB89-FF8CC7E33597}" type="slidenum">
              <a:rPr lang="en-US" altLang="en-US" sz="1400" smtClean="0">
                <a:latin typeface="Times New Roman" panose="02020603050405020304" pitchFamily="18" charset="0"/>
              </a:rPr>
              <a:pPr>
                <a:spcBef>
                  <a:spcPct val="0"/>
                </a:spcBef>
                <a:buClrTx/>
                <a:buSzTx/>
                <a:buFontTx/>
                <a:buNone/>
              </a:pPr>
              <a:t>32</a:t>
            </a:fld>
            <a:endParaRPr lang="en-US" altLang="en-US" sz="1400">
              <a:latin typeface="Times New Roman" panose="02020603050405020304" pitchFamily="18" charset="0"/>
            </a:endParaRPr>
          </a:p>
        </p:txBody>
      </p:sp>
      <p:sp>
        <p:nvSpPr>
          <p:cNvPr id="309251" name="Rectangle 2">
            <a:extLst>
              <a:ext uri="{FF2B5EF4-FFF2-40B4-BE49-F238E27FC236}">
                <a16:creationId xmlns:a16="http://schemas.microsoft.com/office/drawing/2014/main" id="{855C1BCA-2696-4D9F-80DE-2CD125755D38}"/>
              </a:ext>
            </a:extLst>
          </p:cNvPr>
          <p:cNvSpPr>
            <a:spLocks noGrp="1" noChangeArrowheads="1"/>
          </p:cNvSpPr>
          <p:nvPr>
            <p:ph type="title"/>
          </p:nvPr>
        </p:nvSpPr>
        <p:spPr/>
        <p:txBody>
          <a:bodyPr/>
          <a:lstStyle/>
          <a:p>
            <a:r>
              <a:rPr lang="en-US" altLang="en-US" sz="3600"/>
              <a:t>Ethernet’s CSMA/CD (tt)</a:t>
            </a:r>
            <a:endParaRPr lang="en-US" altLang="en-US"/>
          </a:p>
        </p:txBody>
      </p:sp>
      <p:sp>
        <p:nvSpPr>
          <p:cNvPr id="309252" name="Rectangle 3">
            <a:extLst>
              <a:ext uri="{FF2B5EF4-FFF2-40B4-BE49-F238E27FC236}">
                <a16:creationId xmlns:a16="http://schemas.microsoft.com/office/drawing/2014/main" id="{390CD359-597C-4C0C-A098-8A14FAC7C3FA}"/>
              </a:ext>
            </a:extLst>
          </p:cNvPr>
          <p:cNvSpPr>
            <a:spLocks noGrp="1" noChangeArrowheads="1"/>
          </p:cNvSpPr>
          <p:nvPr>
            <p:ph type="body" sz="half" idx="1"/>
          </p:nvPr>
        </p:nvSpPr>
        <p:spPr>
          <a:xfrm>
            <a:off x="0" y="1371600"/>
            <a:ext cx="4343400" cy="5164138"/>
          </a:xfrm>
        </p:spPr>
        <p:txBody>
          <a:bodyPr/>
          <a:lstStyle/>
          <a:p>
            <a:pPr>
              <a:buFont typeface="ZapfDingbats" pitchFamily="82" charset="2"/>
              <a:buNone/>
            </a:pPr>
            <a:r>
              <a:rPr lang="en-US" altLang="en-US" sz="2400">
                <a:solidFill>
                  <a:srgbClr val="FF0000"/>
                </a:solidFill>
              </a:rPr>
              <a:t>Tín hiệu bồi:</a:t>
            </a:r>
            <a:r>
              <a:rPr lang="en-US" altLang="en-US" sz="2400"/>
              <a:t> để đảm bảo rằng tất cả các trạm đang truyền biết được xung đột đang xảy ra; 48 bits;</a:t>
            </a:r>
          </a:p>
          <a:p>
            <a:pPr>
              <a:buFont typeface="ZapfDingbats" pitchFamily="82" charset="2"/>
              <a:buNone/>
            </a:pPr>
            <a:r>
              <a:rPr lang="en-US" altLang="en-US" sz="2400">
                <a:solidFill>
                  <a:srgbClr val="FF0000"/>
                </a:solidFill>
              </a:rPr>
              <a:t>Bit time:</a:t>
            </a:r>
            <a:r>
              <a:rPr lang="en-US" altLang="en-US" sz="2400"/>
              <a:t> .1 microsec cho 10 Mbps Ethernet ;</a:t>
            </a:r>
            <a:br>
              <a:rPr lang="en-US" altLang="en-US" sz="2400"/>
            </a:br>
            <a:r>
              <a:rPr lang="en-US" altLang="en-US" sz="2400"/>
              <a:t>với K=1023, thời gian đợi vào khoảng 50 msec</a:t>
            </a:r>
          </a:p>
          <a:p>
            <a:pPr>
              <a:buFont typeface="ZapfDingbats" pitchFamily="82" charset="2"/>
              <a:buNone/>
            </a:pPr>
            <a:r>
              <a:rPr lang="en-US" altLang="en-US" sz="2000"/>
              <a:t> </a:t>
            </a:r>
          </a:p>
          <a:p>
            <a:pPr>
              <a:buFont typeface="ZapfDingbats" pitchFamily="82" charset="2"/>
              <a:buNone/>
            </a:pPr>
            <a:endParaRPr lang="en-US" altLang="en-US" sz="2000"/>
          </a:p>
        </p:txBody>
      </p:sp>
      <p:sp>
        <p:nvSpPr>
          <p:cNvPr id="309253" name="Rectangle 4">
            <a:extLst>
              <a:ext uri="{FF2B5EF4-FFF2-40B4-BE49-F238E27FC236}">
                <a16:creationId xmlns:a16="http://schemas.microsoft.com/office/drawing/2014/main" id="{429F9B7D-EA69-4694-9ED6-13F595F79461}"/>
              </a:ext>
            </a:extLst>
          </p:cNvPr>
          <p:cNvSpPr>
            <a:spLocks noGrp="1" noChangeArrowheads="1"/>
          </p:cNvSpPr>
          <p:nvPr>
            <p:ph type="body" sz="half" idx="2"/>
          </p:nvPr>
        </p:nvSpPr>
        <p:spPr>
          <a:xfrm>
            <a:off x="4343400" y="1371600"/>
            <a:ext cx="4800600" cy="5060950"/>
          </a:xfrm>
        </p:spPr>
        <p:txBody>
          <a:bodyPr/>
          <a:lstStyle/>
          <a:p>
            <a:pPr>
              <a:buFont typeface="ZapfDingbats" pitchFamily="82" charset="2"/>
              <a:buNone/>
            </a:pPr>
            <a:r>
              <a:rPr lang="en-US" altLang="en-US" sz="2400">
                <a:solidFill>
                  <a:srgbClr val="FF0000"/>
                </a:solidFill>
              </a:rPr>
              <a:t>Vãn hồi theo luật số mũ :</a:t>
            </a:r>
            <a:r>
              <a:rPr lang="en-US" altLang="en-US" sz="2400"/>
              <a:t> </a:t>
            </a:r>
          </a:p>
          <a:p>
            <a:r>
              <a:rPr lang="en-US" altLang="en-US" sz="2400" i="1">
                <a:solidFill>
                  <a:schemeClr val="accent2"/>
                </a:solidFill>
              </a:rPr>
              <a:t>Mục tiêu</a:t>
            </a:r>
            <a:r>
              <a:rPr lang="en-US" altLang="en-US" sz="2400"/>
              <a:t>: thích ứng các nỗ lực truyền lại với tải trọng hiện tại được ước lượng</a:t>
            </a:r>
          </a:p>
          <a:p>
            <a:pPr lvl="1"/>
            <a:r>
              <a:rPr lang="en-US" altLang="en-US" sz="2000"/>
              <a:t>tải nặng: thời gian đợi ngẫu nhiên sẽ là dài hơn</a:t>
            </a:r>
          </a:p>
          <a:p>
            <a:r>
              <a:rPr lang="en-US" altLang="en-US" sz="2400"/>
              <a:t>xung đột đầu tiên: chọn K từ {0,1}; độ trễ là K x 512 bit times</a:t>
            </a:r>
          </a:p>
          <a:p>
            <a:r>
              <a:rPr lang="en-US" altLang="en-US" sz="2400"/>
              <a:t>sau xung đột thứ 2: chọn K từ {0,1,2,3}…</a:t>
            </a:r>
          </a:p>
          <a:p>
            <a:r>
              <a:rPr lang="en-US" altLang="en-US" sz="2400"/>
              <a:t>sau xung đột thứ 10, chọn K từ {0,1,2,3,4,…,1023}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Slide Number Placeholder 5">
            <a:extLst>
              <a:ext uri="{FF2B5EF4-FFF2-40B4-BE49-F238E27FC236}">
                <a16:creationId xmlns:a16="http://schemas.microsoft.com/office/drawing/2014/main" id="{61B897BA-5AD3-48CC-8E0D-7FEA464F00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BE9B6B5B-EDEE-47B0-8D20-83544A76DDBB}" type="slidenum">
              <a:rPr lang="en-US" altLang="en-US" sz="1400" smtClean="0">
                <a:latin typeface="Times New Roman" panose="02020603050405020304" pitchFamily="18" charset="0"/>
              </a:rPr>
              <a:pPr>
                <a:spcBef>
                  <a:spcPct val="0"/>
                </a:spcBef>
                <a:buClrTx/>
                <a:buSzTx/>
                <a:buFontTx/>
                <a:buNone/>
              </a:pPr>
              <a:t>33</a:t>
            </a:fld>
            <a:endParaRPr lang="en-US" altLang="en-US" sz="1400">
              <a:latin typeface="Times New Roman" panose="02020603050405020304" pitchFamily="18" charset="0"/>
            </a:endParaRPr>
          </a:p>
        </p:txBody>
      </p:sp>
      <p:sp>
        <p:nvSpPr>
          <p:cNvPr id="310275" name="Rectangle 2">
            <a:extLst>
              <a:ext uri="{FF2B5EF4-FFF2-40B4-BE49-F238E27FC236}">
                <a16:creationId xmlns:a16="http://schemas.microsoft.com/office/drawing/2014/main" id="{0CF55B9F-57DF-47F0-8214-B931AEAC97EA}"/>
              </a:ext>
            </a:extLst>
          </p:cNvPr>
          <p:cNvSpPr>
            <a:spLocks noGrp="1" noChangeArrowheads="1"/>
          </p:cNvSpPr>
          <p:nvPr>
            <p:ph type="title"/>
          </p:nvPr>
        </p:nvSpPr>
        <p:spPr>
          <a:xfrm>
            <a:off x="533400" y="-277813"/>
            <a:ext cx="7772400" cy="1143001"/>
          </a:xfrm>
        </p:spPr>
        <p:txBody>
          <a:bodyPr/>
          <a:lstStyle/>
          <a:p>
            <a:pPr algn="ctr"/>
            <a:r>
              <a:rPr lang="en-US" altLang="en-US"/>
              <a:t>Hiệu suất của Ethernet</a:t>
            </a:r>
          </a:p>
        </p:txBody>
      </p:sp>
      <p:sp>
        <p:nvSpPr>
          <p:cNvPr id="310276" name="Rectangle 3">
            <a:extLst>
              <a:ext uri="{FF2B5EF4-FFF2-40B4-BE49-F238E27FC236}">
                <a16:creationId xmlns:a16="http://schemas.microsoft.com/office/drawing/2014/main" id="{20C6902E-310D-4681-A8F4-54CBE94B87B9}"/>
              </a:ext>
            </a:extLst>
          </p:cNvPr>
          <p:cNvSpPr>
            <a:spLocks noGrp="1" noChangeArrowheads="1"/>
          </p:cNvSpPr>
          <p:nvPr>
            <p:ph type="body" idx="1"/>
          </p:nvPr>
        </p:nvSpPr>
        <p:spPr>
          <a:xfrm>
            <a:off x="685800" y="566738"/>
            <a:ext cx="7848600" cy="1752600"/>
          </a:xfrm>
        </p:spPr>
        <p:txBody>
          <a:bodyPr/>
          <a:lstStyle/>
          <a:p>
            <a:r>
              <a:rPr lang="en-US" altLang="en-US"/>
              <a:t>Các tham số liên quan</a:t>
            </a:r>
          </a:p>
          <a:p>
            <a:pPr lvl="1"/>
            <a:r>
              <a:rPr lang="en-US" altLang="en-US" sz="2000"/>
              <a:t>chiều dài cáp, tốc độ tín hiệu, kích cỡ khung, dải thông</a:t>
            </a:r>
          </a:p>
          <a:p>
            <a:r>
              <a:rPr lang="en-US" altLang="en-US"/>
              <a:t>Khả năng của kênh truyền lúc tải nặng</a:t>
            </a:r>
          </a:p>
        </p:txBody>
      </p:sp>
      <p:graphicFrame>
        <p:nvGraphicFramePr>
          <p:cNvPr id="310277" name="Object 4">
            <a:extLst>
              <a:ext uri="{FF2B5EF4-FFF2-40B4-BE49-F238E27FC236}">
                <a16:creationId xmlns:a16="http://schemas.microsoft.com/office/drawing/2014/main" id="{987F6D92-3192-45ED-83F8-7CA312EC08B4}"/>
              </a:ext>
            </a:extLst>
          </p:cNvPr>
          <p:cNvGraphicFramePr>
            <a:graphicFrameLocks noChangeAspect="1"/>
          </p:cNvGraphicFramePr>
          <p:nvPr/>
        </p:nvGraphicFramePr>
        <p:xfrm>
          <a:off x="1371600" y="3041650"/>
          <a:ext cx="6477000" cy="1103313"/>
        </p:xfrm>
        <a:graphic>
          <a:graphicData uri="http://schemas.openxmlformats.org/presentationml/2006/ole">
            <mc:AlternateContent xmlns:mc="http://schemas.openxmlformats.org/markup-compatibility/2006">
              <mc:Choice xmlns:v="urn:schemas-microsoft-com:vml" Requires="v">
                <p:oleObj spid="_x0000_s310308" name="Equation" r:id="rId4" imgW="2463800" imgH="419100" progId="Equation.3">
                  <p:embed/>
                </p:oleObj>
              </mc:Choice>
              <mc:Fallback>
                <p:oleObj name="Equation" r:id="rId4" imgW="2463800" imgH="4191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041650"/>
                        <a:ext cx="6477000" cy="1103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0278" name="Object 5">
            <a:extLst>
              <a:ext uri="{FF2B5EF4-FFF2-40B4-BE49-F238E27FC236}">
                <a16:creationId xmlns:a16="http://schemas.microsoft.com/office/drawing/2014/main" id="{97B6A4F5-FA0B-40B0-BF46-05D21C8A8179}"/>
              </a:ext>
            </a:extLst>
          </p:cNvPr>
          <p:cNvGraphicFramePr>
            <a:graphicFrameLocks noChangeAspect="1"/>
          </p:cNvGraphicFramePr>
          <p:nvPr/>
        </p:nvGraphicFramePr>
        <p:xfrm>
          <a:off x="3078163" y="1922463"/>
          <a:ext cx="1387475" cy="842962"/>
        </p:xfrm>
        <a:graphic>
          <a:graphicData uri="http://schemas.openxmlformats.org/presentationml/2006/ole">
            <mc:AlternateContent xmlns:mc="http://schemas.openxmlformats.org/markup-compatibility/2006">
              <mc:Choice xmlns:v="urn:schemas-microsoft-com:vml" Requires="v">
                <p:oleObj spid="_x0000_s310309" name="Equation" r:id="rId6" imgW="647419" imgH="393529" progId="Equation.3">
                  <p:embed/>
                </p:oleObj>
              </mc:Choice>
              <mc:Fallback>
                <p:oleObj name="Equation" r:id="rId6" imgW="647419" imgH="393529"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8163" y="1922463"/>
                        <a:ext cx="1387475" cy="842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10279" name="Picture 6">
            <a:extLst>
              <a:ext uri="{FF2B5EF4-FFF2-40B4-BE49-F238E27FC236}">
                <a16:creationId xmlns:a16="http://schemas.microsoft.com/office/drawing/2014/main" id="{A6FA7AE2-EC50-421F-B9DD-7CC91CC2A1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6188" y="4359275"/>
            <a:ext cx="6481762"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Slide Number Placeholder 4">
            <a:extLst>
              <a:ext uri="{FF2B5EF4-FFF2-40B4-BE49-F238E27FC236}">
                <a16:creationId xmlns:a16="http://schemas.microsoft.com/office/drawing/2014/main" id="{557C00CC-C19A-4F4D-9695-45C08D7DD7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91E59A78-DC90-4DB5-87FD-6C3E8E1B10D5}" type="slidenum">
              <a:rPr lang="en-US" altLang="en-US" sz="1400" smtClean="0">
                <a:latin typeface="Times New Roman" panose="02020603050405020304" pitchFamily="18" charset="0"/>
              </a:rPr>
              <a:pPr>
                <a:spcBef>
                  <a:spcPct val="0"/>
                </a:spcBef>
                <a:buClrTx/>
                <a:buSzTx/>
                <a:buFontTx/>
                <a:buNone/>
              </a:pPr>
              <a:t>34</a:t>
            </a:fld>
            <a:endParaRPr lang="en-US" altLang="en-US" sz="1400">
              <a:latin typeface="Times New Roman" panose="02020603050405020304" pitchFamily="18" charset="0"/>
            </a:endParaRPr>
          </a:p>
        </p:txBody>
      </p:sp>
      <p:pic>
        <p:nvPicPr>
          <p:cNvPr id="312323" name="Picture 2" descr="f10_3c">
            <a:extLst>
              <a:ext uri="{FF2B5EF4-FFF2-40B4-BE49-F238E27FC236}">
                <a16:creationId xmlns:a16="http://schemas.microsoft.com/office/drawing/2014/main" id="{1BD80D8A-0FEA-40C4-AB9B-6C6E576109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609600"/>
            <a:ext cx="8458200" cy="507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2324" name="Rectangle 3">
            <a:extLst>
              <a:ext uri="{FF2B5EF4-FFF2-40B4-BE49-F238E27FC236}">
                <a16:creationId xmlns:a16="http://schemas.microsoft.com/office/drawing/2014/main" id="{8EF5C459-75FC-4679-87C1-A916061B0319}"/>
              </a:ext>
            </a:extLst>
          </p:cNvPr>
          <p:cNvSpPr>
            <a:spLocks noGrp="1" noChangeArrowheads="1"/>
          </p:cNvSpPr>
          <p:nvPr>
            <p:ph type="title"/>
          </p:nvPr>
        </p:nvSpPr>
        <p:spPr>
          <a:xfrm>
            <a:off x="685800" y="76200"/>
            <a:ext cx="7772400" cy="1143000"/>
          </a:xfrm>
        </p:spPr>
        <p:txBody>
          <a:bodyPr/>
          <a:lstStyle/>
          <a:p>
            <a:pPr algn="ctr"/>
            <a:r>
              <a:rPr lang="en-US" altLang="en-US" sz="3600"/>
              <a:t>Đi dây trong Ethernet đầu tiên Original Ethernet Wiring</a:t>
            </a:r>
          </a:p>
        </p:txBody>
      </p:sp>
      <p:sp>
        <p:nvSpPr>
          <p:cNvPr id="312325" name="Text Box 4">
            <a:extLst>
              <a:ext uri="{FF2B5EF4-FFF2-40B4-BE49-F238E27FC236}">
                <a16:creationId xmlns:a16="http://schemas.microsoft.com/office/drawing/2014/main" id="{59FFC676-EDC1-4356-8197-186631EAAACB}"/>
              </a:ext>
            </a:extLst>
          </p:cNvPr>
          <p:cNvSpPr txBox="1">
            <a:spLocks noChangeArrowheads="1"/>
          </p:cNvSpPr>
          <p:nvPr/>
        </p:nvSpPr>
        <p:spPr bwMode="auto">
          <a:xfrm>
            <a:off x="936625" y="5630863"/>
            <a:ext cx="4168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endParaRPr lang="en-US" altLang="en-US" sz="2400">
              <a:latin typeface="Times New Roman" panose="02020603050405020304" pitchFamily="18" charset="0"/>
            </a:endParaRPr>
          </a:p>
        </p:txBody>
      </p:sp>
      <p:sp>
        <p:nvSpPr>
          <p:cNvPr id="312326" name="Text Box 5">
            <a:extLst>
              <a:ext uri="{FF2B5EF4-FFF2-40B4-BE49-F238E27FC236}">
                <a16:creationId xmlns:a16="http://schemas.microsoft.com/office/drawing/2014/main" id="{FA106156-3F54-4270-A14F-E784D0064E6B}"/>
              </a:ext>
            </a:extLst>
          </p:cNvPr>
          <p:cNvSpPr txBox="1">
            <a:spLocks noChangeArrowheads="1"/>
          </p:cNvSpPr>
          <p:nvPr/>
        </p:nvSpPr>
        <p:spPr bwMode="auto">
          <a:xfrm>
            <a:off x="914400" y="5562600"/>
            <a:ext cx="4321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endParaRPr lang="en-US" altLang="en-US" sz="2400">
              <a:latin typeface="Times New Roman" panose="02020603050405020304" pitchFamily="18" charset="0"/>
            </a:endParaRPr>
          </a:p>
        </p:txBody>
      </p:sp>
      <p:sp>
        <p:nvSpPr>
          <p:cNvPr id="312327" name="Text Box 6">
            <a:extLst>
              <a:ext uri="{FF2B5EF4-FFF2-40B4-BE49-F238E27FC236}">
                <a16:creationId xmlns:a16="http://schemas.microsoft.com/office/drawing/2014/main" id="{3A5E5722-AF24-4A9F-8FF5-F20D142509FC}"/>
              </a:ext>
            </a:extLst>
          </p:cNvPr>
          <p:cNvSpPr txBox="1">
            <a:spLocks noChangeArrowheads="1"/>
          </p:cNvSpPr>
          <p:nvPr/>
        </p:nvSpPr>
        <p:spPr bwMode="auto">
          <a:xfrm>
            <a:off x="898525" y="5299075"/>
            <a:ext cx="565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312328" name="Text Box 7">
            <a:extLst>
              <a:ext uri="{FF2B5EF4-FFF2-40B4-BE49-F238E27FC236}">
                <a16:creationId xmlns:a16="http://schemas.microsoft.com/office/drawing/2014/main" id="{0A80BB09-AF9E-44E8-B68E-D5DE10A34C46}"/>
              </a:ext>
            </a:extLst>
          </p:cNvPr>
          <p:cNvSpPr txBox="1">
            <a:spLocks noChangeArrowheads="1"/>
          </p:cNvSpPr>
          <p:nvPr/>
        </p:nvSpPr>
        <p:spPr bwMode="auto">
          <a:xfrm>
            <a:off x="1203325" y="5756275"/>
            <a:ext cx="580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312329" name="Text Box 8">
            <a:extLst>
              <a:ext uri="{FF2B5EF4-FFF2-40B4-BE49-F238E27FC236}">
                <a16:creationId xmlns:a16="http://schemas.microsoft.com/office/drawing/2014/main" id="{CB6D5D22-C1B2-4A2D-9CC3-9718F681DFE1}"/>
              </a:ext>
            </a:extLst>
          </p:cNvPr>
          <p:cNvSpPr txBox="1">
            <a:spLocks noChangeArrowheads="1"/>
          </p:cNvSpPr>
          <p:nvPr/>
        </p:nvSpPr>
        <p:spPr bwMode="auto">
          <a:xfrm>
            <a:off x="838200" y="548640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a:latin typeface="Times New Roman" panose="02020603050405020304" pitchFamily="18" charset="0"/>
              </a:rPr>
              <a:t>Heavy coaxial cable, called </a:t>
            </a:r>
            <a:r>
              <a:rPr lang="en-US" altLang="en-US" sz="2400" b="1">
                <a:latin typeface="Times New Roman" panose="02020603050405020304" pitchFamily="18" charset="0"/>
              </a:rPr>
              <a:t>thicknet</a:t>
            </a:r>
            <a:r>
              <a:rPr lang="en-US" altLang="en-US" sz="2400">
                <a:latin typeface="Times New Roman" panose="02020603050405020304" pitchFamily="18" charset="0"/>
              </a:rPr>
              <a:t>, 10Base5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Slide Number Placeholder 3">
            <a:extLst>
              <a:ext uri="{FF2B5EF4-FFF2-40B4-BE49-F238E27FC236}">
                <a16:creationId xmlns:a16="http://schemas.microsoft.com/office/drawing/2014/main" id="{A5CFA4BE-5654-4CC6-AB65-21E1DC565D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6267E0E6-8415-4C39-95BB-1012D5BA94A3}" type="slidenum">
              <a:rPr lang="en-US" altLang="en-US" sz="1400" smtClean="0">
                <a:latin typeface="Times New Roman" panose="02020603050405020304" pitchFamily="18" charset="0"/>
              </a:rPr>
              <a:pPr>
                <a:spcBef>
                  <a:spcPct val="0"/>
                </a:spcBef>
                <a:buClrTx/>
                <a:buSzTx/>
                <a:buFontTx/>
                <a:buNone/>
              </a:pPr>
              <a:t>35</a:t>
            </a:fld>
            <a:endParaRPr lang="en-US" altLang="en-US" sz="1400">
              <a:latin typeface="Times New Roman" panose="02020603050405020304" pitchFamily="18" charset="0"/>
            </a:endParaRPr>
          </a:p>
        </p:txBody>
      </p:sp>
      <p:pic>
        <p:nvPicPr>
          <p:cNvPr id="314371" name="Picture 2">
            <a:extLst>
              <a:ext uri="{FF2B5EF4-FFF2-40B4-BE49-F238E27FC236}">
                <a16:creationId xmlns:a16="http://schemas.microsoft.com/office/drawing/2014/main" id="{875AE4C3-67F4-4AF1-916A-66F619A6E9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038" y="962025"/>
            <a:ext cx="7620000" cy="557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4372" name="Rectangle 4">
            <a:extLst>
              <a:ext uri="{FF2B5EF4-FFF2-40B4-BE49-F238E27FC236}">
                <a16:creationId xmlns:a16="http://schemas.microsoft.com/office/drawing/2014/main" id="{755E566A-5EF8-4357-840B-06DA738970CC}"/>
              </a:ext>
            </a:extLst>
          </p:cNvPr>
          <p:cNvSpPr>
            <a:spLocks noChangeArrowheads="1"/>
          </p:cNvSpPr>
          <p:nvPr/>
        </p:nvSpPr>
        <p:spPr bwMode="auto">
          <a:xfrm>
            <a:off x="790575" y="-150813"/>
            <a:ext cx="77724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4000" u="sng">
                <a:solidFill>
                  <a:schemeClr val="accent2"/>
                </a:solidFill>
              </a:rPr>
              <a:t>Original Ethernet Wiring </a:t>
            </a:r>
            <a:r>
              <a:rPr lang="en-US" altLang="en-US" sz="3200" u="sng">
                <a:solidFill>
                  <a:schemeClr val="accent2"/>
                </a:solidFill>
              </a:rPr>
              <a:t>(2)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Slide Number Placeholder 4">
            <a:extLst>
              <a:ext uri="{FF2B5EF4-FFF2-40B4-BE49-F238E27FC236}">
                <a16:creationId xmlns:a16="http://schemas.microsoft.com/office/drawing/2014/main" id="{2B1865BC-78F4-4AAE-9511-F3C06959CA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15159B17-1E5E-43A9-8DFF-6A6178C76F1C}" type="slidenum">
              <a:rPr lang="en-US" altLang="en-US" sz="1400" smtClean="0">
                <a:latin typeface="Times New Roman" panose="02020603050405020304" pitchFamily="18" charset="0"/>
              </a:rPr>
              <a:pPr>
                <a:spcBef>
                  <a:spcPct val="0"/>
                </a:spcBef>
                <a:buClrTx/>
                <a:buSzTx/>
                <a:buFontTx/>
                <a:buNone/>
              </a:pPr>
              <a:t>36</a:t>
            </a:fld>
            <a:endParaRPr lang="en-US" altLang="en-US" sz="1400">
              <a:latin typeface="Times New Roman" panose="02020603050405020304" pitchFamily="18" charset="0"/>
            </a:endParaRPr>
          </a:p>
        </p:txBody>
      </p:sp>
      <p:sp>
        <p:nvSpPr>
          <p:cNvPr id="316419" name="Rectangle 2">
            <a:extLst>
              <a:ext uri="{FF2B5EF4-FFF2-40B4-BE49-F238E27FC236}">
                <a16:creationId xmlns:a16="http://schemas.microsoft.com/office/drawing/2014/main" id="{6AF0CDB4-F9FF-41CA-9392-0E4B1913ACD2}"/>
              </a:ext>
            </a:extLst>
          </p:cNvPr>
          <p:cNvSpPr>
            <a:spLocks noGrp="1" noChangeArrowheads="1"/>
          </p:cNvSpPr>
          <p:nvPr>
            <p:ph type="title"/>
          </p:nvPr>
        </p:nvSpPr>
        <p:spPr>
          <a:xfrm>
            <a:off x="533400" y="193675"/>
            <a:ext cx="8610600" cy="1143000"/>
          </a:xfrm>
        </p:spPr>
        <p:txBody>
          <a:bodyPr/>
          <a:lstStyle/>
          <a:p>
            <a:r>
              <a:rPr lang="en-US" altLang="en-US" sz="3600"/>
              <a:t>Đi dây trong Ethernet thế hệ thứ 2 Second Generation Ethernet Wiring</a:t>
            </a:r>
          </a:p>
        </p:txBody>
      </p:sp>
      <p:pic>
        <p:nvPicPr>
          <p:cNvPr id="316420" name="Picture 3" descr="f10_5c">
            <a:extLst>
              <a:ext uri="{FF2B5EF4-FFF2-40B4-BE49-F238E27FC236}">
                <a16:creationId xmlns:a16="http://schemas.microsoft.com/office/drawing/2014/main" id="{A098A38C-54AF-42B3-AA3E-6F698BD2D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52600"/>
            <a:ext cx="8763000"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6421" name="Text Box 4">
            <a:extLst>
              <a:ext uri="{FF2B5EF4-FFF2-40B4-BE49-F238E27FC236}">
                <a16:creationId xmlns:a16="http://schemas.microsoft.com/office/drawing/2014/main" id="{2E579FC2-1F6E-4E7D-B507-A6C4B70CA92B}"/>
              </a:ext>
            </a:extLst>
          </p:cNvPr>
          <p:cNvSpPr txBox="1">
            <a:spLocks noChangeArrowheads="1"/>
          </p:cNvSpPr>
          <p:nvPr/>
        </p:nvSpPr>
        <p:spPr bwMode="auto">
          <a:xfrm>
            <a:off x="838200" y="548640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a:latin typeface="Times New Roman" panose="02020603050405020304" pitchFamily="18" charset="0"/>
              </a:rPr>
              <a:t>Thinner coaxial cable, called </a:t>
            </a:r>
            <a:r>
              <a:rPr lang="en-US" altLang="en-US" sz="2400" b="1">
                <a:latin typeface="Times New Roman" panose="02020603050405020304" pitchFamily="18" charset="0"/>
              </a:rPr>
              <a:t>thinnet</a:t>
            </a:r>
            <a:r>
              <a:rPr lang="en-US" altLang="en-US" sz="2400">
                <a:latin typeface="Times New Roman" panose="02020603050405020304" pitchFamily="18" charset="0"/>
              </a:rPr>
              <a:t>, 10Base2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Slide Number Placeholder 3">
            <a:extLst>
              <a:ext uri="{FF2B5EF4-FFF2-40B4-BE49-F238E27FC236}">
                <a16:creationId xmlns:a16="http://schemas.microsoft.com/office/drawing/2014/main" id="{26432BF6-9EC7-4BBB-9ED5-FD71300BD5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38DDEFFC-10AC-4FE0-9819-D91F2E2AF23A}" type="slidenum">
              <a:rPr lang="en-US" altLang="en-US" sz="1400" smtClean="0">
                <a:latin typeface="Times New Roman" panose="02020603050405020304" pitchFamily="18" charset="0"/>
              </a:rPr>
              <a:pPr>
                <a:spcBef>
                  <a:spcPct val="0"/>
                </a:spcBef>
                <a:buClrTx/>
                <a:buSzTx/>
                <a:buFontTx/>
                <a:buNone/>
              </a:pPr>
              <a:t>37</a:t>
            </a:fld>
            <a:endParaRPr lang="en-US" altLang="en-US" sz="1400">
              <a:latin typeface="Times New Roman" panose="02020603050405020304" pitchFamily="18" charset="0"/>
            </a:endParaRPr>
          </a:p>
        </p:txBody>
      </p:sp>
      <p:pic>
        <p:nvPicPr>
          <p:cNvPr id="318467" name="Picture 3">
            <a:extLst>
              <a:ext uri="{FF2B5EF4-FFF2-40B4-BE49-F238E27FC236}">
                <a16:creationId xmlns:a16="http://schemas.microsoft.com/office/drawing/2014/main" id="{65FA7D99-6AD4-4F8A-B23D-78F92FE0A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425" y="2100263"/>
            <a:ext cx="6759575" cy="361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468" name="Rectangle 5">
            <a:extLst>
              <a:ext uri="{FF2B5EF4-FFF2-40B4-BE49-F238E27FC236}">
                <a16:creationId xmlns:a16="http://schemas.microsoft.com/office/drawing/2014/main" id="{7B9B3E29-5D5C-4660-A9FD-88CFD017D1AD}"/>
              </a:ext>
            </a:extLst>
          </p:cNvPr>
          <p:cNvSpPr>
            <a:spLocks noChangeArrowheads="1"/>
          </p:cNvSpPr>
          <p:nvPr/>
        </p:nvSpPr>
        <p:spPr bwMode="auto">
          <a:xfrm>
            <a:off x="533400" y="193675"/>
            <a:ext cx="8610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600" u="sng">
                <a:solidFill>
                  <a:schemeClr val="accent2"/>
                </a:solidFill>
              </a:rPr>
              <a:t>Second Generation Ethernet Wiring </a:t>
            </a:r>
            <a:r>
              <a:rPr lang="en-US" altLang="en-US" sz="3200" u="sng">
                <a:solidFill>
                  <a:schemeClr val="accent2"/>
                </a:solidFill>
              </a:rPr>
              <a:t>(2)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Slide Number Placeholder 4">
            <a:extLst>
              <a:ext uri="{FF2B5EF4-FFF2-40B4-BE49-F238E27FC236}">
                <a16:creationId xmlns:a16="http://schemas.microsoft.com/office/drawing/2014/main" id="{2E55E146-C4F1-4921-882F-4DAFBACCEA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31BFA434-A859-4D8D-99DF-ECB591024AC9}" type="slidenum">
              <a:rPr lang="en-US" altLang="en-US" sz="1400" smtClean="0">
                <a:latin typeface="Times New Roman" panose="02020603050405020304" pitchFamily="18" charset="0"/>
              </a:rPr>
              <a:pPr>
                <a:spcBef>
                  <a:spcPct val="0"/>
                </a:spcBef>
                <a:buClrTx/>
                <a:buSzTx/>
                <a:buFontTx/>
                <a:buNone/>
              </a:pPr>
              <a:t>38</a:t>
            </a:fld>
            <a:endParaRPr lang="en-US" altLang="en-US" sz="1400">
              <a:latin typeface="Times New Roman" panose="02020603050405020304" pitchFamily="18" charset="0"/>
            </a:endParaRPr>
          </a:p>
        </p:txBody>
      </p:sp>
      <p:sp>
        <p:nvSpPr>
          <p:cNvPr id="319491" name="Rectangle 2">
            <a:extLst>
              <a:ext uri="{FF2B5EF4-FFF2-40B4-BE49-F238E27FC236}">
                <a16:creationId xmlns:a16="http://schemas.microsoft.com/office/drawing/2014/main" id="{F3C5526A-11DD-464D-AFEB-8305860ECD69}"/>
              </a:ext>
            </a:extLst>
          </p:cNvPr>
          <p:cNvSpPr>
            <a:spLocks noGrp="1" noChangeArrowheads="1"/>
          </p:cNvSpPr>
          <p:nvPr>
            <p:ph type="title"/>
          </p:nvPr>
        </p:nvSpPr>
        <p:spPr>
          <a:xfrm>
            <a:off x="685800" y="76200"/>
            <a:ext cx="7772400" cy="1143000"/>
          </a:xfrm>
        </p:spPr>
        <p:txBody>
          <a:bodyPr/>
          <a:lstStyle/>
          <a:p>
            <a:r>
              <a:rPr lang="en-US" altLang="en-US" sz="3600"/>
              <a:t>Đi dây trong Ethernet hiện đại Modern Ethernet Wiring</a:t>
            </a:r>
          </a:p>
        </p:txBody>
      </p:sp>
      <p:pic>
        <p:nvPicPr>
          <p:cNvPr id="319492" name="Picture 3" descr="f10_6c">
            <a:extLst>
              <a:ext uri="{FF2B5EF4-FFF2-40B4-BE49-F238E27FC236}">
                <a16:creationId xmlns:a16="http://schemas.microsoft.com/office/drawing/2014/main" id="{1B505B0B-DBF1-4FB7-A4B0-FA9D66A12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143000"/>
            <a:ext cx="6797675" cy="412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9493" name="Text Box 4">
            <a:extLst>
              <a:ext uri="{FF2B5EF4-FFF2-40B4-BE49-F238E27FC236}">
                <a16:creationId xmlns:a16="http://schemas.microsoft.com/office/drawing/2014/main" id="{72216946-152B-48A2-9D4E-E20CB0D5A4E4}"/>
              </a:ext>
            </a:extLst>
          </p:cNvPr>
          <p:cNvSpPr txBox="1">
            <a:spLocks noChangeArrowheads="1"/>
          </p:cNvSpPr>
          <p:nvPr/>
        </p:nvSpPr>
        <p:spPr bwMode="auto">
          <a:xfrm>
            <a:off x="838200" y="548640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a:latin typeface="Times New Roman" panose="02020603050405020304" pitchFamily="18" charset="0"/>
              </a:rPr>
              <a:t>Uses a hub, called twisted pair Ethernet, 10BaseT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Slide Number Placeholder 3">
            <a:extLst>
              <a:ext uri="{FF2B5EF4-FFF2-40B4-BE49-F238E27FC236}">
                <a16:creationId xmlns:a16="http://schemas.microsoft.com/office/drawing/2014/main" id="{E3DDEDF1-0A9D-4AD6-8162-3F91387A69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4DE9BFA0-1A7A-42F5-B472-2F36F65F6B35}" type="slidenum">
              <a:rPr lang="en-US" altLang="en-US" sz="1400" smtClean="0">
                <a:latin typeface="Times New Roman" panose="02020603050405020304" pitchFamily="18" charset="0"/>
              </a:rPr>
              <a:pPr>
                <a:spcBef>
                  <a:spcPct val="0"/>
                </a:spcBef>
                <a:buClrTx/>
                <a:buSzTx/>
                <a:buFontTx/>
                <a:buNone/>
              </a:pPr>
              <a:t>39</a:t>
            </a:fld>
            <a:endParaRPr lang="en-US" altLang="en-US" sz="1400">
              <a:latin typeface="Times New Roman" panose="02020603050405020304" pitchFamily="18" charset="0"/>
            </a:endParaRPr>
          </a:p>
        </p:txBody>
      </p:sp>
      <p:pic>
        <p:nvPicPr>
          <p:cNvPr id="321539" name="Picture 3">
            <a:extLst>
              <a:ext uri="{FF2B5EF4-FFF2-40B4-BE49-F238E27FC236}">
                <a16:creationId xmlns:a16="http://schemas.microsoft.com/office/drawing/2014/main" id="{D680735C-6557-4D1E-90AC-886BFCC3DB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813" y="2039938"/>
            <a:ext cx="5030787" cy="411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1540" name="Rectangle 5">
            <a:extLst>
              <a:ext uri="{FF2B5EF4-FFF2-40B4-BE49-F238E27FC236}">
                <a16:creationId xmlns:a16="http://schemas.microsoft.com/office/drawing/2014/main" id="{4273F5EF-407D-48A0-88C3-E4F44A92D6E3}"/>
              </a:ext>
            </a:extLst>
          </p:cNvPr>
          <p:cNvSpPr>
            <a:spLocks noChangeArrowheads="1"/>
          </p:cNvSpPr>
          <p:nvPr/>
        </p:nvSpPr>
        <p:spPr bwMode="auto">
          <a:xfrm>
            <a:off x="685800" y="76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4000" u="sng">
                <a:solidFill>
                  <a:schemeClr val="accent2"/>
                </a:solidFill>
              </a:rPr>
              <a:t>Modern Ethernet Wiring </a:t>
            </a:r>
            <a:r>
              <a:rPr lang="en-US" altLang="en-US" sz="3200" u="sng">
                <a:solidFill>
                  <a:schemeClr val="accent2"/>
                </a:solidFill>
              </a:rPr>
              <a:t>(2)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Slide Number Placeholder 3">
            <a:extLst>
              <a:ext uri="{FF2B5EF4-FFF2-40B4-BE49-F238E27FC236}">
                <a16:creationId xmlns:a16="http://schemas.microsoft.com/office/drawing/2014/main" id="{135CB76A-ACF5-4041-BD26-7845F4E085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12185CDC-98AE-4762-8A17-FB35D10B26E4}" type="slidenum">
              <a:rPr lang="en-US" altLang="en-US" sz="1400" smtClean="0">
                <a:latin typeface="Times New Roman" panose="02020603050405020304" pitchFamily="18" charset="0"/>
              </a:rPr>
              <a:pPr>
                <a:spcBef>
                  <a:spcPct val="0"/>
                </a:spcBef>
                <a:buClrTx/>
                <a:buSzTx/>
                <a:buFontTx/>
                <a:buNone/>
              </a:pPr>
              <a:t>40</a:t>
            </a:fld>
            <a:endParaRPr lang="en-US" altLang="en-US" sz="1400">
              <a:latin typeface="Times New Roman" panose="02020603050405020304" pitchFamily="18" charset="0"/>
            </a:endParaRPr>
          </a:p>
        </p:txBody>
      </p:sp>
      <p:pic>
        <p:nvPicPr>
          <p:cNvPr id="322563" name="Picture 2" descr="f10_7c">
            <a:extLst>
              <a:ext uri="{FF2B5EF4-FFF2-40B4-BE49-F238E27FC236}">
                <a16:creationId xmlns:a16="http://schemas.microsoft.com/office/drawing/2014/main" id="{15818BCC-9AA4-4975-AD73-EA5F0042E1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1225" y="257175"/>
            <a:ext cx="4781550" cy="634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Slide Number Placeholder 5">
            <a:extLst>
              <a:ext uri="{FF2B5EF4-FFF2-40B4-BE49-F238E27FC236}">
                <a16:creationId xmlns:a16="http://schemas.microsoft.com/office/drawing/2014/main" id="{190564AB-EBE3-4AC1-80FC-871E481F20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F61B44BA-8ABF-4147-863E-3958D5E2AB0B}" type="slidenum">
              <a:rPr lang="en-US" altLang="en-US" sz="1400" smtClean="0">
                <a:latin typeface="Times New Roman" panose="02020603050405020304" pitchFamily="18" charset="0"/>
              </a:rPr>
              <a:pPr>
                <a:spcBef>
                  <a:spcPct val="0"/>
                </a:spcBef>
                <a:buClrTx/>
                <a:buSzTx/>
                <a:buFontTx/>
                <a:buNone/>
              </a:pPr>
              <a:t>41</a:t>
            </a:fld>
            <a:endParaRPr lang="en-US" altLang="en-US" sz="1400">
              <a:latin typeface="Times New Roman" panose="02020603050405020304" pitchFamily="18" charset="0"/>
            </a:endParaRPr>
          </a:p>
        </p:txBody>
      </p:sp>
      <p:pic>
        <p:nvPicPr>
          <p:cNvPr id="324611" name="Picture 2" descr="cable-10">
            <a:extLst>
              <a:ext uri="{FF2B5EF4-FFF2-40B4-BE49-F238E27FC236}">
                <a16:creationId xmlns:a16="http://schemas.microsoft.com/office/drawing/2014/main" id="{4B1504F1-6B56-4280-8206-57454CEA55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11275"/>
            <a:ext cx="6904038"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Slide Number Placeholder 5">
            <a:extLst>
              <a:ext uri="{FF2B5EF4-FFF2-40B4-BE49-F238E27FC236}">
                <a16:creationId xmlns:a16="http://schemas.microsoft.com/office/drawing/2014/main" id="{9FD74792-D9E3-4B07-B182-190BF5AA755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B59F063A-E8B5-486A-84AC-28AC16F21D90}" type="slidenum">
              <a:rPr lang="en-US" altLang="en-US" sz="1400" smtClean="0">
                <a:latin typeface="Times New Roman" panose="02020603050405020304" pitchFamily="18" charset="0"/>
              </a:rPr>
              <a:pPr>
                <a:spcBef>
                  <a:spcPct val="0"/>
                </a:spcBef>
                <a:buClrTx/>
                <a:buSzTx/>
                <a:buFontTx/>
                <a:buNone/>
              </a:pPr>
              <a:t>42</a:t>
            </a:fld>
            <a:endParaRPr lang="en-US" altLang="en-US" sz="1400">
              <a:latin typeface="Times New Roman" panose="02020603050405020304" pitchFamily="18" charset="0"/>
            </a:endParaRPr>
          </a:p>
        </p:txBody>
      </p:sp>
      <p:sp>
        <p:nvSpPr>
          <p:cNvPr id="325635" name="Rectangle 2">
            <a:extLst>
              <a:ext uri="{FF2B5EF4-FFF2-40B4-BE49-F238E27FC236}">
                <a16:creationId xmlns:a16="http://schemas.microsoft.com/office/drawing/2014/main" id="{F982A066-D91D-4C48-A4CF-565ED0E78661}"/>
              </a:ext>
            </a:extLst>
          </p:cNvPr>
          <p:cNvSpPr>
            <a:spLocks noGrp="1" noChangeArrowheads="1"/>
          </p:cNvSpPr>
          <p:nvPr>
            <p:ph type="title"/>
          </p:nvPr>
        </p:nvSpPr>
        <p:spPr>
          <a:xfrm>
            <a:off x="533400" y="228600"/>
            <a:ext cx="7772400" cy="830263"/>
          </a:xfrm>
        </p:spPr>
        <p:txBody>
          <a:bodyPr/>
          <a:lstStyle/>
          <a:p>
            <a:r>
              <a:rPr lang="en-US" altLang="en-US"/>
              <a:t>Chuẩn 10 Base2 trong Ethernet</a:t>
            </a:r>
            <a:endParaRPr lang="en-US" altLang="en-US" sz="4400"/>
          </a:p>
        </p:txBody>
      </p:sp>
      <p:sp>
        <p:nvSpPr>
          <p:cNvPr id="325636" name="Rectangle 3">
            <a:extLst>
              <a:ext uri="{FF2B5EF4-FFF2-40B4-BE49-F238E27FC236}">
                <a16:creationId xmlns:a16="http://schemas.microsoft.com/office/drawing/2014/main" id="{FEF08030-D5E9-454B-A993-6F8E269A8852}"/>
              </a:ext>
            </a:extLst>
          </p:cNvPr>
          <p:cNvSpPr>
            <a:spLocks noGrp="1" noChangeArrowheads="1"/>
          </p:cNvSpPr>
          <p:nvPr>
            <p:ph type="body" idx="1"/>
          </p:nvPr>
        </p:nvSpPr>
        <p:spPr>
          <a:xfrm>
            <a:off x="674688" y="1139825"/>
            <a:ext cx="8054975" cy="2286000"/>
          </a:xfrm>
        </p:spPr>
        <p:txBody>
          <a:bodyPr/>
          <a:lstStyle/>
          <a:p>
            <a:r>
              <a:rPr lang="en-US" altLang="en-US" sz="2400">
                <a:solidFill>
                  <a:schemeClr val="accent2"/>
                </a:solidFill>
              </a:rPr>
              <a:t>10:</a:t>
            </a:r>
            <a:r>
              <a:rPr lang="en-US" altLang="en-US" sz="2400"/>
              <a:t> 10Mbps; </a:t>
            </a:r>
            <a:r>
              <a:rPr lang="en-US" altLang="en-US" sz="2400">
                <a:solidFill>
                  <a:schemeClr val="accent2"/>
                </a:solidFill>
              </a:rPr>
              <a:t>2:</a:t>
            </a:r>
            <a:r>
              <a:rPr lang="en-US" altLang="en-US" sz="2400"/>
              <a:t> độ dài một đoạn mạng xấp xỉ 200 m</a:t>
            </a:r>
          </a:p>
          <a:p>
            <a:r>
              <a:rPr lang="en-US" altLang="en-US" sz="2400"/>
              <a:t>Dùng cáp đồng trục mỏng, kết nối theo hình trạng dạng bus</a:t>
            </a:r>
          </a:p>
          <a:p>
            <a:endParaRPr lang="en-US" altLang="en-US" sz="2400"/>
          </a:p>
          <a:p>
            <a:endParaRPr lang="en-US" altLang="en-US" sz="2400"/>
          </a:p>
          <a:p>
            <a:endParaRPr lang="en-US" altLang="en-US" sz="2400"/>
          </a:p>
          <a:p>
            <a:endParaRPr lang="en-US" altLang="en-US" sz="2400"/>
          </a:p>
          <a:p>
            <a:endParaRPr lang="en-US" altLang="en-US" sz="2400"/>
          </a:p>
          <a:p>
            <a:endParaRPr lang="en-US" altLang="en-US" sz="2400"/>
          </a:p>
          <a:p>
            <a:r>
              <a:rPr lang="en-US" altLang="en-US" sz="2400"/>
              <a:t>repeater được sử dụng để liên kết nhiều đoạn mạng</a:t>
            </a:r>
          </a:p>
          <a:p>
            <a:r>
              <a:rPr lang="en-US" altLang="en-US" sz="2400"/>
              <a:t>repeater chuyển tiếp tín hiệu từ một cổng sang cổng còn lại: là thiết bị ở tầng vật lý!</a:t>
            </a:r>
          </a:p>
          <a:p>
            <a:r>
              <a:rPr lang="en-US" altLang="en-US" sz="2400"/>
              <a:t>đang dần trở thành một công nghệ lỗi thời</a:t>
            </a:r>
          </a:p>
        </p:txBody>
      </p:sp>
      <p:pic>
        <p:nvPicPr>
          <p:cNvPr id="325637" name="Picture 4" descr="554 10Base2">
            <a:extLst>
              <a:ext uri="{FF2B5EF4-FFF2-40B4-BE49-F238E27FC236}">
                <a16:creationId xmlns:a16="http://schemas.microsoft.com/office/drawing/2014/main" id="{245E9397-67E1-4420-8798-1FE77E3B5B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5413" y="2459038"/>
            <a:ext cx="6324600" cy="225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Slide Number Placeholder 5">
            <a:extLst>
              <a:ext uri="{FF2B5EF4-FFF2-40B4-BE49-F238E27FC236}">
                <a16:creationId xmlns:a16="http://schemas.microsoft.com/office/drawing/2014/main" id="{AE09087A-56FE-4013-A473-2C181F814D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0DE44B3B-D1E4-41B2-8D8A-04C2D36A4FE3}" type="slidenum">
              <a:rPr lang="en-US" altLang="en-US" sz="1400" smtClean="0">
                <a:latin typeface="Times New Roman" panose="02020603050405020304" pitchFamily="18" charset="0"/>
              </a:rPr>
              <a:pPr>
                <a:spcBef>
                  <a:spcPct val="0"/>
                </a:spcBef>
                <a:buClrTx/>
                <a:buSzTx/>
                <a:buFontTx/>
                <a:buNone/>
              </a:pPr>
              <a:t>43</a:t>
            </a:fld>
            <a:endParaRPr lang="en-US" altLang="en-US" sz="1400">
              <a:latin typeface="Times New Roman" panose="02020603050405020304" pitchFamily="18" charset="0"/>
            </a:endParaRPr>
          </a:p>
        </p:txBody>
      </p:sp>
      <p:sp>
        <p:nvSpPr>
          <p:cNvPr id="327683" name="Rectangle 2">
            <a:extLst>
              <a:ext uri="{FF2B5EF4-FFF2-40B4-BE49-F238E27FC236}">
                <a16:creationId xmlns:a16="http://schemas.microsoft.com/office/drawing/2014/main" id="{0D61B96A-1431-4B29-89BE-ECE6EE8861A9}"/>
              </a:ext>
            </a:extLst>
          </p:cNvPr>
          <p:cNvSpPr>
            <a:spLocks noGrp="1" noChangeArrowheads="1"/>
          </p:cNvSpPr>
          <p:nvPr>
            <p:ph type="title"/>
          </p:nvPr>
        </p:nvSpPr>
        <p:spPr>
          <a:xfrm>
            <a:off x="114300" y="88900"/>
            <a:ext cx="7772400" cy="1143000"/>
          </a:xfrm>
        </p:spPr>
        <p:txBody>
          <a:bodyPr/>
          <a:lstStyle/>
          <a:p>
            <a:r>
              <a:rPr lang="en-US" altLang="en-US" sz="3600"/>
              <a:t>Ưu nhược điểm </a:t>
            </a:r>
            <a:br>
              <a:rPr lang="en-US" altLang="en-US" sz="3600"/>
            </a:br>
            <a:r>
              <a:rPr lang="en-US" altLang="en-US" sz="3600"/>
              <a:t>của cáp đồng trục</a:t>
            </a:r>
          </a:p>
        </p:txBody>
      </p:sp>
      <p:sp>
        <p:nvSpPr>
          <p:cNvPr id="327684" name="Rectangle 3">
            <a:extLst>
              <a:ext uri="{FF2B5EF4-FFF2-40B4-BE49-F238E27FC236}">
                <a16:creationId xmlns:a16="http://schemas.microsoft.com/office/drawing/2014/main" id="{C322143E-C88F-431D-B3EA-E3D1C48FF04E}"/>
              </a:ext>
            </a:extLst>
          </p:cNvPr>
          <p:cNvSpPr>
            <a:spLocks noGrp="1" noChangeArrowheads="1"/>
          </p:cNvSpPr>
          <p:nvPr>
            <p:ph type="body" idx="1"/>
          </p:nvPr>
        </p:nvSpPr>
        <p:spPr>
          <a:xfrm>
            <a:off x="304800" y="3194050"/>
            <a:ext cx="8534400" cy="2133600"/>
          </a:xfrm>
        </p:spPr>
        <p:txBody>
          <a:bodyPr/>
          <a:lstStyle/>
          <a:p>
            <a:pPr>
              <a:lnSpc>
                <a:spcPct val="90000"/>
              </a:lnSpc>
            </a:pPr>
            <a:r>
              <a:rPr lang="en-US" altLang="en-US" b="1"/>
              <a:t>Ưu điểm</a:t>
            </a:r>
            <a:r>
              <a:rPr lang="en-US" altLang="en-US"/>
              <a:t>:</a:t>
            </a:r>
          </a:p>
          <a:p>
            <a:pPr lvl="1">
              <a:lnSpc>
                <a:spcPct val="90000"/>
              </a:lnSpc>
            </a:pPr>
            <a:r>
              <a:rPr lang="en-US" altLang="en-US"/>
              <a:t>Yêu cầu ít repeaters hơn so với cáp đôi dây xoắn</a:t>
            </a:r>
          </a:p>
          <a:p>
            <a:pPr lvl="1">
              <a:lnSpc>
                <a:spcPct val="90000"/>
              </a:lnSpc>
            </a:pPr>
            <a:r>
              <a:rPr lang="en-US" altLang="en-US"/>
              <a:t>Rẻ hơn cáp quang </a:t>
            </a:r>
          </a:p>
          <a:p>
            <a:pPr lvl="1">
              <a:lnSpc>
                <a:spcPct val="90000"/>
              </a:lnSpc>
            </a:pPr>
            <a:r>
              <a:rPr lang="en-US" altLang="en-US"/>
              <a:t>Đã và đang được dùng trong nhiều năm cho việc truyền số liệu, bao gồm cả cáp cho TV</a:t>
            </a:r>
          </a:p>
          <a:p>
            <a:pPr>
              <a:lnSpc>
                <a:spcPct val="90000"/>
              </a:lnSpc>
            </a:pPr>
            <a:r>
              <a:rPr lang="en-US" altLang="en-US" b="1"/>
              <a:t>Nhược điểm</a:t>
            </a:r>
            <a:r>
              <a:rPr lang="en-US" altLang="en-US"/>
              <a:t>:</a:t>
            </a:r>
          </a:p>
          <a:p>
            <a:pPr lvl="1">
              <a:lnSpc>
                <a:spcPct val="90000"/>
              </a:lnSpc>
            </a:pPr>
            <a:r>
              <a:rPr lang="en-US" altLang="en-US"/>
              <a:t>Đắt hơn và khó lắp đặt hơn so với cáp đôi dây xoắn</a:t>
            </a:r>
          </a:p>
          <a:p>
            <a:pPr lvl="1">
              <a:lnSpc>
                <a:spcPct val="90000"/>
              </a:lnSpc>
            </a:pPr>
            <a:r>
              <a:rPr lang="en-US" altLang="en-US"/>
              <a:t>Cần ống dẫn dây lớn hơn so với cáp đôi dây xoắn</a:t>
            </a:r>
          </a:p>
        </p:txBody>
      </p:sp>
      <p:pic>
        <p:nvPicPr>
          <p:cNvPr id="327685" name="Picture 4" descr="bnc">
            <a:extLst>
              <a:ext uri="{FF2B5EF4-FFF2-40B4-BE49-F238E27FC236}">
                <a16:creationId xmlns:a16="http://schemas.microsoft.com/office/drawing/2014/main" id="{1776413F-2F8C-4C0D-90B9-ADE2E63764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8750" y="165100"/>
            <a:ext cx="495300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Slide Number Placeholder 5">
            <a:extLst>
              <a:ext uri="{FF2B5EF4-FFF2-40B4-BE49-F238E27FC236}">
                <a16:creationId xmlns:a16="http://schemas.microsoft.com/office/drawing/2014/main" id="{6D33326D-F374-4ABC-9B07-B2CDBBEABE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EA8F6574-6C80-4859-8D16-822B1020C929}" type="slidenum">
              <a:rPr lang="en-US" altLang="en-US" sz="1400" smtClean="0">
                <a:latin typeface="Times New Roman" panose="02020603050405020304" pitchFamily="18" charset="0"/>
              </a:rPr>
              <a:pPr>
                <a:spcBef>
                  <a:spcPct val="0"/>
                </a:spcBef>
                <a:buClrTx/>
                <a:buSzTx/>
                <a:buFontTx/>
                <a:buNone/>
              </a:pPr>
              <a:t>44</a:t>
            </a:fld>
            <a:endParaRPr lang="en-US" altLang="en-US" sz="1400">
              <a:latin typeface="Times New Roman" panose="02020603050405020304" pitchFamily="18" charset="0"/>
            </a:endParaRPr>
          </a:p>
        </p:txBody>
      </p:sp>
      <p:sp>
        <p:nvSpPr>
          <p:cNvPr id="328707" name="Rectangle 2">
            <a:extLst>
              <a:ext uri="{FF2B5EF4-FFF2-40B4-BE49-F238E27FC236}">
                <a16:creationId xmlns:a16="http://schemas.microsoft.com/office/drawing/2014/main" id="{D470B08D-B242-4BC7-AAB9-93BC036E2DD8}"/>
              </a:ext>
            </a:extLst>
          </p:cNvPr>
          <p:cNvSpPr>
            <a:spLocks noGrp="1" noChangeArrowheads="1"/>
          </p:cNvSpPr>
          <p:nvPr>
            <p:ph type="title"/>
          </p:nvPr>
        </p:nvSpPr>
        <p:spPr>
          <a:xfrm>
            <a:off x="522288" y="0"/>
            <a:ext cx="7772400" cy="1143000"/>
          </a:xfrm>
        </p:spPr>
        <p:txBody>
          <a:bodyPr/>
          <a:lstStyle/>
          <a:p>
            <a:r>
              <a:rPr lang="en-US" altLang="en-US"/>
              <a:t>Chuẩn 10BaseT và 100BaseT</a:t>
            </a:r>
          </a:p>
        </p:txBody>
      </p:sp>
      <p:sp>
        <p:nvSpPr>
          <p:cNvPr id="328708" name="Rectangle 3">
            <a:extLst>
              <a:ext uri="{FF2B5EF4-FFF2-40B4-BE49-F238E27FC236}">
                <a16:creationId xmlns:a16="http://schemas.microsoft.com/office/drawing/2014/main" id="{F9DE4A5F-22CF-4A32-AA5C-A382A47D4C5B}"/>
              </a:ext>
            </a:extLst>
          </p:cNvPr>
          <p:cNvSpPr>
            <a:spLocks noGrp="1" noChangeArrowheads="1"/>
          </p:cNvSpPr>
          <p:nvPr>
            <p:ph type="body" idx="1"/>
          </p:nvPr>
        </p:nvSpPr>
        <p:spPr>
          <a:xfrm>
            <a:off x="0" y="977900"/>
            <a:ext cx="9144000" cy="2301875"/>
          </a:xfrm>
        </p:spPr>
        <p:txBody>
          <a:bodyPr/>
          <a:lstStyle/>
          <a:p>
            <a:r>
              <a:rPr lang="en-US" altLang="en-US" sz="2400"/>
              <a:t>Tốc độ truyền dữ liệu là 10/100 Mbps; chuẩn 100 còn được gọi là “fast ethernet”</a:t>
            </a:r>
          </a:p>
          <a:p>
            <a:r>
              <a:rPr lang="en-US" altLang="en-US" sz="2400">
                <a:solidFill>
                  <a:schemeClr val="accent2"/>
                </a:solidFill>
              </a:rPr>
              <a:t>T</a:t>
            </a:r>
            <a:r>
              <a:rPr lang="en-US" altLang="en-US" sz="2400"/>
              <a:t> chỉ Twisted Pair (cáp đôi dây xoắn)</a:t>
            </a:r>
          </a:p>
          <a:p>
            <a:r>
              <a:rPr lang="en-US" altLang="en-US" sz="2400"/>
              <a:t>Các nút kết nối đến một thiết bị tập trung –hub-: “dạng hình sao”; khoảng cách tối đa từ nút đến hub là 100m</a:t>
            </a:r>
          </a:p>
          <a:p>
            <a:endParaRPr lang="en-US" altLang="en-US" sz="2400"/>
          </a:p>
          <a:p>
            <a:endParaRPr lang="en-US" altLang="en-US" sz="2400"/>
          </a:p>
          <a:p>
            <a:endParaRPr lang="en-US" altLang="en-US" sz="2400"/>
          </a:p>
          <a:p>
            <a:r>
              <a:rPr lang="en-US" altLang="en-US" sz="2400"/>
              <a:t>Hub về bản chất là repeater nhiều cổng:</a:t>
            </a:r>
          </a:p>
          <a:p>
            <a:pPr lvl="1"/>
            <a:r>
              <a:rPr lang="en-US" altLang="en-US"/>
              <a:t>tín hiệu nhận được từ một cổng và chuyển tiếp đến tất cả các cổng khác</a:t>
            </a:r>
          </a:p>
          <a:p>
            <a:pPr lvl="1"/>
            <a:r>
              <a:rPr lang="en-US" altLang="en-US"/>
              <a:t>không dùng kỹ thuật vùng đệm</a:t>
            </a:r>
          </a:p>
          <a:p>
            <a:pPr lvl="1"/>
            <a:r>
              <a:rPr lang="en-US" altLang="en-US"/>
              <a:t>không dùng CSMA/CD: card mạng phát hiện xung đột</a:t>
            </a:r>
          </a:p>
        </p:txBody>
      </p:sp>
      <p:grpSp>
        <p:nvGrpSpPr>
          <p:cNvPr id="328709" name="Group 4">
            <a:extLst>
              <a:ext uri="{FF2B5EF4-FFF2-40B4-BE49-F238E27FC236}">
                <a16:creationId xmlns:a16="http://schemas.microsoft.com/office/drawing/2014/main" id="{4E3C20CB-7EC8-4ADC-848B-EDC67973937F}"/>
              </a:ext>
            </a:extLst>
          </p:cNvPr>
          <p:cNvGrpSpPr>
            <a:grpSpLocks/>
          </p:cNvGrpSpPr>
          <p:nvPr/>
        </p:nvGrpSpPr>
        <p:grpSpPr bwMode="auto">
          <a:xfrm>
            <a:off x="2703513" y="2954338"/>
            <a:ext cx="2020887" cy="1330325"/>
            <a:chOff x="3404" y="3132"/>
            <a:chExt cx="1273" cy="838"/>
          </a:xfrm>
        </p:grpSpPr>
        <p:grpSp>
          <p:nvGrpSpPr>
            <p:cNvPr id="328710" name="Group 5">
              <a:extLst>
                <a:ext uri="{FF2B5EF4-FFF2-40B4-BE49-F238E27FC236}">
                  <a16:creationId xmlns:a16="http://schemas.microsoft.com/office/drawing/2014/main" id="{09DA0D6D-DDF6-4317-9073-3C9891EED179}"/>
                </a:ext>
              </a:extLst>
            </p:cNvPr>
            <p:cNvGrpSpPr>
              <a:grpSpLocks/>
            </p:cNvGrpSpPr>
            <p:nvPr/>
          </p:nvGrpSpPr>
          <p:grpSpPr bwMode="auto">
            <a:xfrm>
              <a:off x="3623" y="3132"/>
              <a:ext cx="1054" cy="838"/>
              <a:chOff x="1985" y="2778"/>
              <a:chExt cx="1054" cy="838"/>
            </a:xfrm>
          </p:grpSpPr>
          <p:sp>
            <p:nvSpPr>
              <p:cNvPr id="328712" name="Rectangle 6">
                <a:extLst>
                  <a:ext uri="{FF2B5EF4-FFF2-40B4-BE49-F238E27FC236}">
                    <a16:creationId xmlns:a16="http://schemas.microsoft.com/office/drawing/2014/main" id="{FC1504EF-4305-4E4A-88C6-0CFBA6AD1DF5}"/>
                  </a:ext>
                </a:extLst>
              </p:cNvPr>
              <p:cNvSpPr>
                <a:spLocks noChangeArrowheads="1"/>
              </p:cNvSpPr>
              <p:nvPr/>
            </p:nvSpPr>
            <p:spPr bwMode="auto">
              <a:xfrm>
                <a:off x="2485" y="3246"/>
                <a:ext cx="69" cy="69"/>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1800"/>
              </a:p>
            </p:txBody>
          </p:sp>
          <p:sp>
            <p:nvSpPr>
              <p:cNvPr id="328713" name="Oval 7">
                <a:extLst>
                  <a:ext uri="{FF2B5EF4-FFF2-40B4-BE49-F238E27FC236}">
                    <a16:creationId xmlns:a16="http://schemas.microsoft.com/office/drawing/2014/main" id="{4BB53550-2E4B-4BAC-9979-2960C24B333A}"/>
                  </a:ext>
                </a:extLst>
              </p:cNvPr>
              <p:cNvSpPr>
                <a:spLocks noChangeArrowheads="1"/>
              </p:cNvSpPr>
              <p:nvPr/>
            </p:nvSpPr>
            <p:spPr bwMode="auto">
              <a:xfrm>
                <a:off x="2135" y="2874"/>
                <a:ext cx="54" cy="53"/>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28714" name="Oval 8">
                <a:extLst>
                  <a:ext uri="{FF2B5EF4-FFF2-40B4-BE49-F238E27FC236}">
                    <a16:creationId xmlns:a16="http://schemas.microsoft.com/office/drawing/2014/main" id="{F33D7795-01D0-43AD-A1D3-D4B4C4D8821D}"/>
                  </a:ext>
                </a:extLst>
              </p:cNvPr>
              <p:cNvSpPr>
                <a:spLocks noChangeArrowheads="1"/>
              </p:cNvSpPr>
              <p:nvPr/>
            </p:nvSpPr>
            <p:spPr bwMode="auto">
              <a:xfrm>
                <a:off x="1985" y="3193"/>
                <a:ext cx="54" cy="53"/>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28715" name="Oval 9">
                <a:extLst>
                  <a:ext uri="{FF2B5EF4-FFF2-40B4-BE49-F238E27FC236}">
                    <a16:creationId xmlns:a16="http://schemas.microsoft.com/office/drawing/2014/main" id="{3947802B-F5C5-456A-9CD0-E583A08EA703}"/>
                  </a:ext>
                </a:extLst>
              </p:cNvPr>
              <p:cNvSpPr>
                <a:spLocks noChangeArrowheads="1"/>
              </p:cNvSpPr>
              <p:nvPr/>
            </p:nvSpPr>
            <p:spPr bwMode="auto">
              <a:xfrm>
                <a:off x="2228" y="3563"/>
                <a:ext cx="54" cy="53"/>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28716" name="Oval 10">
                <a:extLst>
                  <a:ext uri="{FF2B5EF4-FFF2-40B4-BE49-F238E27FC236}">
                    <a16:creationId xmlns:a16="http://schemas.microsoft.com/office/drawing/2014/main" id="{9C15D54D-41FD-490E-8E09-03E998833089}"/>
                  </a:ext>
                </a:extLst>
              </p:cNvPr>
              <p:cNvSpPr>
                <a:spLocks noChangeArrowheads="1"/>
              </p:cNvSpPr>
              <p:nvPr/>
            </p:nvSpPr>
            <p:spPr bwMode="auto">
              <a:xfrm>
                <a:off x="2877" y="2927"/>
                <a:ext cx="54" cy="53"/>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28717" name="Oval 11">
                <a:extLst>
                  <a:ext uri="{FF2B5EF4-FFF2-40B4-BE49-F238E27FC236}">
                    <a16:creationId xmlns:a16="http://schemas.microsoft.com/office/drawing/2014/main" id="{7B6313D3-E2A1-44C8-B812-AA4A168A0114}"/>
                  </a:ext>
                </a:extLst>
              </p:cNvPr>
              <p:cNvSpPr>
                <a:spLocks noChangeArrowheads="1"/>
              </p:cNvSpPr>
              <p:nvPr/>
            </p:nvSpPr>
            <p:spPr bwMode="auto">
              <a:xfrm>
                <a:off x="2500" y="2778"/>
                <a:ext cx="54" cy="53"/>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28718" name="Oval 12">
                <a:extLst>
                  <a:ext uri="{FF2B5EF4-FFF2-40B4-BE49-F238E27FC236}">
                    <a16:creationId xmlns:a16="http://schemas.microsoft.com/office/drawing/2014/main" id="{F77C858C-AAC1-414C-AD56-C8FF5636A5BB}"/>
                  </a:ext>
                </a:extLst>
              </p:cNvPr>
              <p:cNvSpPr>
                <a:spLocks noChangeArrowheads="1"/>
              </p:cNvSpPr>
              <p:nvPr/>
            </p:nvSpPr>
            <p:spPr bwMode="auto">
              <a:xfrm>
                <a:off x="2985" y="3262"/>
                <a:ext cx="54" cy="53"/>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28719" name="Line 13">
                <a:extLst>
                  <a:ext uri="{FF2B5EF4-FFF2-40B4-BE49-F238E27FC236}">
                    <a16:creationId xmlns:a16="http://schemas.microsoft.com/office/drawing/2014/main" id="{192F7029-9BEB-4C24-831E-7916EF757531}"/>
                  </a:ext>
                </a:extLst>
              </p:cNvPr>
              <p:cNvSpPr>
                <a:spLocks noChangeShapeType="1"/>
              </p:cNvSpPr>
              <p:nvPr/>
            </p:nvSpPr>
            <p:spPr bwMode="auto">
              <a:xfrm flipH="1">
                <a:off x="2531" y="2807"/>
                <a:ext cx="7" cy="4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720" name="Line 14">
                <a:extLst>
                  <a:ext uri="{FF2B5EF4-FFF2-40B4-BE49-F238E27FC236}">
                    <a16:creationId xmlns:a16="http://schemas.microsoft.com/office/drawing/2014/main" id="{AB5450E5-B05C-4C78-929C-C0177A2F5F01}"/>
                  </a:ext>
                </a:extLst>
              </p:cNvPr>
              <p:cNvSpPr>
                <a:spLocks noChangeShapeType="1"/>
              </p:cNvSpPr>
              <p:nvPr/>
            </p:nvSpPr>
            <p:spPr bwMode="auto">
              <a:xfrm flipH="1">
                <a:off x="2546" y="2969"/>
                <a:ext cx="369" cy="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721" name="Line 15">
                <a:extLst>
                  <a:ext uri="{FF2B5EF4-FFF2-40B4-BE49-F238E27FC236}">
                    <a16:creationId xmlns:a16="http://schemas.microsoft.com/office/drawing/2014/main" id="{30EAB57F-4692-4860-9BBF-F9DE67460C98}"/>
                  </a:ext>
                </a:extLst>
              </p:cNvPr>
              <p:cNvSpPr>
                <a:spLocks noChangeShapeType="1"/>
              </p:cNvSpPr>
              <p:nvPr/>
            </p:nvSpPr>
            <p:spPr bwMode="auto">
              <a:xfrm flipH="1">
                <a:off x="2531" y="3292"/>
                <a:ext cx="46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722" name="Line 16">
                <a:extLst>
                  <a:ext uri="{FF2B5EF4-FFF2-40B4-BE49-F238E27FC236}">
                    <a16:creationId xmlns:a16="http://schemas.microsoft.com/office/drawing/2014/main" id="{A97055D6-6582-4C85-9064-C1DAB3CE6E11}"/>
                  </a:ext>
                </a:extLst>
              </p:cNvPr>
              <p:cNvSpPr>
                <a:spLocks noChangeShapeType="1"/>
              </p:cNvSpPr>
              <p:nvPr/>
            </p:nvSpPr>
            <p:spPr bwMode="auto">
              <a:xfrm flipV="1">
                <a:off x="2261" y="3284"/>
                <a:ext cx="247" cy="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723" name="Line 17">
                <a:extLst>
                  <a:ext uri="{FF2B5EF4-FFF2-40B4-BE49-F238E27FC236}">
                    <a16:creationId xmlns:a16="http://schemas.microsoft.com/office/drawing/2014/main" id="{7020D19D-2B8E-4AAE-9420-857C0540A6AC}"/>
                  </a:ext>
                </a:extLst>
              </p:cNvPr>
              <p:cNvSpPr>
                <a:spLocks noChangeShapeType="1"/>
              </p:cNvSpPr>
              <p:nvPr/>
            </p:nvSpPr>
            <p:spPr bwMode="auto">
              <a:xfrm>
                <a:off x="2023" y="3215"/>
                <a:ext cx="462" cy="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724" name="Line 18">
                <a:extLst>
                  <a:ext uri="{FF2B5EF4-FFF2-40B4-BE49-F238E27FC236}">
                    <a16:creationId xmlns:a16="http://schemas.microsoft.com/office/drawing/2014/main" id="{DDF95A2D-1E52-4949-9B4F-90C40721D1DA}"/>
                  </a:ext>
                </a:extLst>
              </p:cNvPr>
              <p:cNvSpPr>
                <a:spLocks noChangeShapeType="1"/>
              </p:cNvSpPr>
              <p:nvPr/>
            </p:nvSpPr>
            <p:spPr bwMode="auto">
              <a:xfrm>
                <a:off x="2177" y="2923"/>
                <a:ext cx="323" cy="3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725" name="Text Box 19">
                <a:extLst>
                  <a:ext uri="{FF2B5EF4-FFF2-40B4-BE49-F238E27FC236}">
                    <a16:creationId xmlns:a16="http://schemas.microsoft.com/office/drawing/2014/main" id="{D7DF3718-D6FC-438D-9A26-C7A1E8FE1CE1}"/>
                  </a:ext>
                </a:extLst>
              </p:cNvPr>
              <p:cNvSpPr txBox="1">
                <a:spLocks noChangeArrowheads="1"/>
              </p:cNvSpPr>
              <p:nvPr/>
            </p:nvSpPr>
            <p:spPr bwMode="auto">
              <a:xfrm>
                <a:off x="2496" y="3357"/>
                <a:ext cx="35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solidFill>
                      <a:schemeClr val="accent1"/>
                    </a:solidFill>
                  </a:rPr>
                  <a:t>hub</a:t>
                </a:r>
                <a:endParaRPr lang="en-US" altLang="en-US" sz="1800"/>
              </a:p>
            </p:txBody>
          </p:sp>
        </p:grpSp>
        <p:sp>
          <p:nvSpPr>
            <p:cNvPr id="328711" name="Text Box 20">
              <a:extLst>
                <a:ext uri="{FF2B5EF4-FFF2-40B4-BE49-F238E27FC236}">
                  <a16:creationId xmlns:a16="http://schemas.microsoft.com/office/drawing/2014/main" id="{4F4D8701-C557-4FEF-8307-A82A35E2F289}"/>
                </a:ext>
              </a:extLst>
            </p:cNvPr>
            <p:cNvSpPr txBox="1">
              <a:spLocks noChangeArrowheads="1"/>
            </p:cNvSpPr>
            <p:nvPr/>
          </p:nvSpPr>
          <p:spPr bwMode="auto">
            <a:xfrm>
              <a:off x="3404" y="3303"/>
              <a:ext cx="50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solidFill>
                    <a:schemeClr val="accent2"/>
                  </a:solidFill>
                </a:rPr>
                <a:t>nodes</a:t>
              </a:r>
              <a:endParaRPr lang="en-US" altLang="en-US" sz="1800"/>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Slide Number Placeholder 5">
            <a:extLst>
              <a:ext uri="{FF2B5EF4-FFF2-40B4-BE49-F238E27FC236}">
                <a16:creationId xmlns:a16="http://schemas.microsoft.com/office/drawing/2014/main" id="{999E755D-2F1E-43C6-B151-0403E17DFB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D5069F2C-F9C4-4222-A6AC-3A3DB6A5708F}" type="slidenum">
              <a:rPr lang="en-US" altLang="en-US" sz="1400" smtClean="0">
                <a:latin typeface="Times New Roman" panose="02020603050405020304" pitchFamily="18" charset="0"/>
              </a:rPr>
              <a:pPr>
                <a:spcBef>
                  <a:spcPct val="0"/>
                </a:spcBef>
                <a:buClrTx/>
                <a:buSzTx/>
                <a:buFontTx/>
                <a:buNone/>
              </a:pPr>
              <a:t>45</a:t>
            </a:fld>
            <a:endParaRPr lang="en-US" altLang="en-US" sz="1400">
              <a:latin typeface="Times New Roman" panose="02020603050405020304" pitchFamily="18" charset="0"/>
            </a:endParaRPr>
          </a:p>
        </p:txBody>
      </p:sp>
      <p:sp>
        <p:nvSpPr>
          <p:cNvPr id="329731" name="Rectangle 2">
            <a:extLst>
              <a:ext uri="{FF2B5EF4-FFF2-40B4-BE49-F238E27FC236}">
                <a16:creationId xmlns:a16="http://schemas.microsoft.com/office/drawing/2014/main" id="{1DAA9BB9-A113-452F-BBA3-DF704923962F}"/>
              </a:ext>
            </a:extLst>
          </p:cNvPr>
          <p:cNvSpPr>
            <a:spLocks noGrp="1" noChangeArrowheads="1"/>
          </p:cNvSpPr>
          <p:nvPr>
            <p:ph type="title"/>
          </p:nvPr>
        </p:nvSpPr>
        <p:spPr>
          <a:xfrm>
            <a:off x="498475" y="-242888"/>
            <a:ext cx="7772400" cy="1143001"/>
          </a:xfrm>
        </p:spPr>
        <p:txBody>
          <a:bodyPr/>
          <a:lstStyle/>
          <a:p>
            <a:r>
              <a:rPr lang="en-US" altLang="en-US"/>
              <a:t>Unshielded Twisted Pair (UTP)</a:t>
            </a:r>
          </a:p>
        </p:txBody>
      </p:sp>
      <p:sp>
        <p:nvSpPr>
          <p:cNvPr id="329732" name="Rectangle 3">
            <a:extLst>
              <a:ext uri="{FF2B5EF4-FFF2-40B4-BE49-F238E27FC236}">
                <a16:creationId xmlns:a16="http://schemas.microsoft.com/office/drawing/2014/main" id="{B287EB8E-1444-4A7F-8A3D-D67DA92F7D51}"/>
              </a:ext>
            </a:extLst>
          </p:cNvPr>
          <p:cNvSpPr>
            <a:spLocks noGrp="1" noChangeArrowheads="1"/>
          </p:cNvSpPr>
          <p:nvPr>
            <p:ph type="body" idx="1"/>
          </p:nvPr>
        </p:nvSpPr>
        <p:spPr>
          <a:xfrm>
            <a:off x="252413" y="3103563"/>
            <a:ext cx="8763000" cy="3097212"/>
          </a:xfrm>
        </p:spPr>
        <p:txBody>
          <a:bodyPr/>
          <a:lstStyle/>
          <a:p>
            <a:pPr>
              <a:lnSpc>
                <a:spcPct val="90000"/>
              </a:lnSpc>
            </a:pPr>
            <a:r>
              <a:rPr lang="en-US" altLang="en-US" sz="2100"/>
              <a:t>Cáp đôi dây xoắn không bọc có bốn đôi dây được kết xoắn được sử rộng rãi trong kết nối mạng hiện nay. </a:t>
            </a:r>
          </a:p>
          <a:p>
            <a:pPr>
              <a:lnSpc>
                <a:spcPct val="90000"/>
              </a:lnSpc>
            </a:pPr>
            <a:r>
              <a:rPr lang="en-US" altLang="en-US" sz="2100"/>
              <a:t>Đặc tả kỹ thuật TIA/EIA-568-A|B quyết định đến hiệu năng của cáp</a:t>
            </a:r>
          </a:p>
          <a:p>
            <a:pPr>
              <a:lnSpc>
                <a:spcPct val="90000"/>
              </a:lnSpc>
            </a:pPr>
            <a:r>
              <a:rPr lang="en-US" altLang="en-US" sz="2100"/>
              <a:t>Dùng đầu nối RJ-45</a:t>
            </a:r>
          </a:p>
          <a:p>
            <a:pPr>
              <a:lnSpc>
                <a:spcPct val="90000"/>
              </a:lnSpc>
            </a:pPr>
            <a:r>
              <a:rPr lang="en-US" altLang="en-US" sz="2100"/>
              <a:t>Khi truyền thông diễn ra, tín hiệu được truyền bởi bên gởi cần được hiểu bởi bên nhận. </a:t>
            </a:r>
          </a:p>
          <a:p>
            <a:pPr>
              <a:lnSpc>
                <a:spcPct val="90000"/>
              </a:lnSpc>
            </a:pPr>
            <a:r>
              <a:rPr lang="en-US" altLang="en-US" sz="2100"/>
              <a:t>Tín hiệu được truyền cần được nhận đúng bởi mạch kết nối được thiết kế để nhận tín hiệu. </a:t>
            </a:r>
          </a:p>
          <a:p>
            <a:pPr>
              <a:lnSpc>
                <a:spcPct val="90000"/>
              </a:lnSpc>
            </a:pPr>
            <a:r>
              <a:rPr lang="en-US" altLang="en-US" sz="2100"/>
              <a:t>Chân truyền ở trạm nguồn cần được kết nối (sau cùng) với chân nhận ở trạm đích. </a:t>
            </a:r>
          </a:p>
        </p:txBody>
      </p:sp>
      <p:pic>
        <p:nvPicPr>
          <p:cNvPr id="329733" name="Picture 4">
            <a:extLst>
              <a:ext uri="{FF2B5EF4-FFF2-40B4-BE49-F238E27FC236}">
                <a16:creationId xmlns:a16="http://schemas.microsoft.com/office/drawing/2014/main" id="{BD735F53-8F63-4147-99B5-3F7D498F52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5" y="722313"/>
            <a:ext cx="4810125" cy="232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Slide Number Placeholder 5">
            <a:extLst>
              <a:ext uri="{FF2B5EF4-FFF2-40B4-BE49-F238E27FC236}">
                <a16:creationId xmlns:a16="http://schemas.microsoft.com/office/drawing/2014/main" id="{3DB427E1-A609-407A-9BDD-E5494A4DB9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3CA29B16-A6C1-4519-882E-19649489904B}" type="slidenum">
              <a:rPr lang="en-US" altLang="en-US" sz="1400" smtClean="0">
                <a:latin typeface="Times New Roman" panose="02020603050405020304" pitchFamily="18" charset="0"/>
              </a:rPr>
              <a:pPr>
                <a:spcBef>
                  <a:spcPct val="0"/>
                </a:spcBef>
                <a:buClrTx/>
                <a:buSzTx/>
                <a:buFontTx/>
                <a:buNone/>
              </a:pPr>
              <a:t>46</a:t>
            </a:fld>
            <a:endParaRPr lang="en-US" altLang="en-US" sz="1400">
              <a:latin typeface="Times New Roman" panose="02020603050405020304" pitchFamily="18" charset="0"/>
            </a:endParaRPr>
          </a:p>
        </p:txBody>
      </p:sp>
      <p:sp>
        <p:nvSpPr>
          <p:cNvPr id="330755" name="Rectangle 2">
            <a:extLst>
              <a:ext uri="{FF2B5EF4-FFF2-40B4-BE49-F238E27FC236}">
                <a16:creationId xmlns:a16="http://schemas.microsoft.com/office/drawing/2014/main" id="{73C717EF-E6BB-4A99-A32D-8F2A7F99B18B}"/>
              </a:ext>
            </a:extLst>
          </p:cNvPr>
          <p:cNvSpPr>
            <a:spLocks noGrp="1" noChangeArrowheads="1"/>
          </p:cNvSpPr>
          <p:nvPr>
            <p:ph type="title"/>
          </p:nvPr>
        </p:nvSpPr>
        <p:spPr/>
        <p:txBody>
          <a:bodyPr/>
          <a:lstStyle/>
          <a:p>
            <a:r>
              <a:rPr lang="en-US" altLang="en-US"/>
              <a:t>Attach the RJ-45</a:t>
            </a:r>
          </a:p>
        </p:txBody>
      </p:sp>
      <p:pic>
        <p:nvPicPr>
          <p:cNvPr id="330756" name="Picture 3">
            <a:extLst>
              <a:ext uri="{FF2B5EF4-FFF2-40B4-BE49-F238E27FC236}">
                <a16:creationId xmlns:a16="http://schemas.microsoft.com/office/drawing/2014/main" id="{6D46F213-8AB9-45D6-A560-F8D674C7E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3962400"/>
            <a:ext cx="2078038"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pic>
        <p:nvPicPr>
          <p:cNvPr id="330757" name="Picture 4">
            <a:extLst>
              <a:ext uri="{FF2B5EF4-FFF2-40B4-BE49-F238E27FC236}">
                <a16:creationId xmlns:a16="http://schemas.microsoft.com/office/drawing/2014/main" id="{97889795-1585-490B-B0C2-58B155197F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143000"/>
            <a:ext cx="32385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pic>
        <p:nvPicPr>
          <p:cNvPr id="330758" name="Picture 5">
            <a:extLst>
              <a:ext uri="{FF2B5EF4-FFF2-40B4-BE49-F238E27FC236}">
                <a16:creationId xmlns:a16="http://schemas.microsoft.com/office/drawing/2014/main" id="{F1F68744-1815-4D1F-80F8-8C8F164C8E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9357" t="21359" b="6796"/>
          <a:stretch>
            <a:fillRect/>
          </a:stretch>
        </p:blipFill>
        <p:spPr bwMode="auto">
          <a:xfrm>
            <a:off x="4419600" y="3733800"/>
            <a:ext cx="3581400" cy="2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pic>
        <p:nvPicPr>
          <p:cNvPr id="330759" name="Picture 6">
            <a:extLst>
              <a:ext uri="{FF2B5EF4-FFF2-40B4-BE49-F238E27FC236}">
                <a16:creationId xmlns:a16="http://schemas.microsoft.com/office/drawing/2014/main" id="{898455CF-3EE5-4996-A331-A09148C44718}"/>
              </a:ext>
            </a:extLst>
          </p:cNvPr>
          <p:cNvPicPr>
            <a:picLocks noGrp="1" noChangeAspect="1" noChangeArrowheads="1"/>
          </p:cNvPicPr>
          <p:nvPr>
            <p:ph idx="1"/>
          </p:nvPr>
        </p:nvPicPr>
        <p:blipFill>
          <a:blip r:embed="rId6">
            <a:lum bright="6000" contrast="16000"/>
            <a:extLst>
              <a:ext uri="{28A0092B-C50C-407E-A947-70E740481C1C}">
                <a14:useLocalDpi xmlns:a14="http://schemas.microsoft.com/office/drawing/2010/main" val="0"/>
              </a:ext>
            </a:extLst>
          </a:blip>
          <a:srcRect/>
          <a:stretch>
            <a:fillRect/>
          </a:stretch>
        </p:blipFill>
        <p:spPr>
          <a:xfrm>
            <a:off x="1371600" y="1219200"/>
            <a:ext cx="1873250" cy="2286000"/>
          </a:xfrm>
          <a:noFill/>
        </p:spPr>
      </p:pic>
      <p:sp>
        <p:nvSpPr>
          <p:cNvPr id="330760" name="Rectangle 7">
            <a:extLst>
              <a:ext uri="{FF2B5EF4-FFF2-40B4-BE49-F238E27FC236}">
                <a16:creationId xmlns:a16="http://schemas.microsoft.com/office/drawing/2014/main" id="{85AC31A0-2F3B-40D7-8B2C-CA09BB559E43}"/>
              </a:ext>
            </a:extLst>
          </p:cNvPr>
          <p:cNvSpPr>
            <a:spLocks noChangeArrowheads="1"/>
          </p:cNvSpPr>
          <p:nvPr/>
        </p:nvSpPr>
        <p:spPr bwMode="auto">
          <a:xfrm>
            <a:off x="3352800" y="1828800"/>
            <a:ext cx="121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100" u="sng"/>
              <a:t>RJ-45 </a:t>
            </a:r>
            <a:br>
              <a:rPr lang="en-US" altLang="en-US" sz="3100" u="sng"/>
            </a:br>
            <a:r>
              <a:rPr lang="en-US" altLang="en-US" sz="3100" u="sng"/>
              <a:t>Jack</a:t>
            </a:r>
          </a:p>
        </p:txBody>
      </p:sp>
      <p:sp>
        <p:nvSpPr>
          <p:cNvPr id="330761" name="Rectangle 8">
            <a:extLst>
              <a:ext uri="{FF2B5EF4-FFF2-40B4-BE49-F238E27FC236}">
                <a16:creationId xmlns:a16="http://schemas.microsoft.com/office/drawing/2014/main" id="{4D15DB0E-B49B-4F36-BDE0-CCEDA986ECEB}"/>
              </a:ext>
            </a:extLst>
          </p:cNvPr>
          <p:cNvSpPr>
            <a:spLocks noChangeArrowheads="1"/>
          </p:cNvSpPr>
          <p:nvPr/>
        </p:nvSpPr>
        <p:spPr bwMode="auto">
          <a:xfrm>
            <a:off x="6400800" y="2514600"/>
            <a:ext cx="1905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100" u="sng"/>
              <a:t>RJ-45 Plug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Slide Number Placeholder 6">
            <a:extLst>
              <a:ext uri="{FF2B5EF4-FFF2-40B4-BE49-F238E27FC236}">
                <a16:creationId xmlns:a16="http://schemas.microsoft.com/office/drawing/2014/main" id="{4296F837-5516-4C26-8D79-ACCC034E58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710D44D6-C815-47FA-9E3A-74F6B055A3A6}" type="slidenum">
              <a:rPr lang="en-US" altLang="en-US" sz="1400" smtClean="0">
                <a:latin typeface="Times New Roman" panose="02020603050405020304" pitchFamily="18" charset="0"/>
              </a:rPr>
              <a:pPr>
                <a:spcBef>
                  <a:spcPct val="0"/>
                </a:spcBef>
                <a:buClrTx/>
                <a:buSzTx/>
                <a:buFontTx/>
                <a:buNone/>
              </a:pPr>
              <a:t>47</a:t>
            </a:fld>
            <a:endParaRPr lang="en-US" altLang="en-US" sz="1400">
              <a:latin typeface="Times New Roman" panose="02020603050405020304" pitchFamily="18" charset="0"/>
            </a:endParaRPr>
          </a:p>
        </p:txBody>
      </p:sp>
      <p:sp>
        <p:nvSpPr>
          <p:cNvPr id="332803" name="Rectangle 2">
            <a:extLst>
              <a:ext uri="{FF2B5EF4-FFF2-40B4-BE49-F238E27FC236}">
                <a16:creationId xmlns:a16="http://schemas.microsoft.com/office/drawing/2014/main" id="{EFA692FA-DA2E-405A-AF9D-4F3B8CA16EA3}"/>
              </a:ext>
            </a:extLst>
          </p:cNvPr>
          <p:cNvSpPr>
            <a:spLocks noGrp="1" noChangeArrowheads="1"/>
          </p:cNvSpPr>
          <p:nvPr>
            <p:ph type="title"/>
          </p:nvPr>
        </p:nvSpPr>
        <p:spPr>
          <a:xfrm>
            <a:off x="609600" y="228600"/>
            <a:ext cx="7408863" cy="1143000"/>
          </a:xfrm>
        </p:spPr>
        <p:txBody>
          <a:bodyPr/>
          <a:lstStyle/>
          <a:p>
            <a:r>
              <a:rPr lang="en-US" altLang="en-US"/>
              <a:t>UTP Implementation</a:t>
            </a:r>
          </a:p>
        </p:txBody>
      </p:sp>
      <p:sp>
        <p:nvSpPr>
          <p:cNvPr id="332804" name="Rectangle 3">
            <a:extLst>
              <a:ext uri="{FF2B5EF4-FFF2-40B4-BE49-F238E27FC236}">
                <a16:creationId xmlns:a16="http://schemas.microsoft.com/office/drawing/2014/main" id="{09546C43-3554-442D-9526-FA059CC1B5A2}"/>
              </a:ext>
            </a:extLst>
          </p:cNvPr>
          <p:cNvSpPr>
            <a:spLocks noGrp="1" noChangeArrowheads="1"/>
          </p:cNvSpPr>
          <p:nvPr>
            <p:ph type="body" sz="half" idx="1"/>
          </p:nvPr>
        </p:nvSpPr>
        <p:spPr>
          <a:xfrm>
            <a:off x="533400" y="1893888"/>
            <a:ext cx="3667125" cy="4335462"/>
          </a:xfrm>
        </p:spPr>
        <p:txBody>
          <a:bodyPr/>
          <a:lstStyle/>
          <a:p>
            <a:r>
              <a:rPr lang="en-US" altLang="en-US" sz="2400"/>
              <a:t>EIA/TIA định rõ đầu nối RJ-45 cho cáp UTP như hình vẽ bên. Dựa vào đó ta có thể bấm các loại cáp thẳng, chéo… (more later!)</a:t>
            </a:r>
          </a:p>
        </p:txBody>
      </p:sp>
      <p:pic>
        <p:nvPicPr>
          <p:cNvPr id="332805" name="Picture 4">
            <a:extLst>
              <a:ext uri="{FF2B5EF4-FFF2-40B4-BE49-F238E27FC236}">
                <a16:creationId xmlns:a16="http://schemas.microsoft.com/office/drawing/2014/main" id="{4AC1F6D1-82EA-4EC9-A032-01DAA26254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8175" y="1905000"/>
            <a:ext cx="4695825" cy="322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Slide Number Placeholder 6">
            <a:extLst>
              <a:ext uri="{FF2B5EF4-FFF2-40B4-BE49-F238E27FC236}">
                <a16:creationId xmlns:a16="http://schemas.microsoft.com/office/drawing/2014/main" id="{A5489A5B-8622-4F46-B156-16965C5C74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71A5F25A-34A9-4996-A7AD-7CBCA1F18239}" type="slidenum">
              <a:rPr lang="en-US" altLang="en-US" sz="1400" smtClean="0">
                <a:latin typeface="Times New Roman" panose="02020603050405020304" pitchFamily="18" charset="0"/>
              </a:rPr>
              <a:pPr>
                <a:spcBef>
                  <a:spcPct val="0"/>
                </a:spcBef>
                <a:buClrTx/>
                <a:buSzTx/>
                <a:buFontTx/>
                <a:buNone/>
              </a:pPr>
              <a:t>48</a:t>
            </a:fld>
            <a:endParaRPr lang="en-US" altLang="en-US" sz="1400">
              <a:latin typeface="Times New Roman" panose="02020603050405020304" pitchFamily="18" charset="0"/>
            </a:endParaRPr>
          </a:p>
        </p:txBody>
      </p:sp>
      <p:pic>
        <p:nvPicPr>
          <p:cNvPr id="334851" name="Picture 3" descr="colorcodes">
            <a:extLst>
              <a:ext uri="{FF2B5EF4-FFF2-40B4-BE49-F238E27FC236}">
                <a16:creationId xmlns:a16="http://schemas.microsoft.com/office/drawing/2014/main" id="{9D8E8EB7-BDC6-46ED-982D-A220CA1DE589}"/>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814513" y="2039938"/>
            <a:ext cx="5207000" cy="3481387"/>
          </a:xfrm>
          <a:noFill/>
        </p:spPr>
      </p:pic>
      <p:sp>
        <p:nvSpPr>
          <p:cNvPr id="334852" name="Rectangle 4">
            <a:extLst>
              <a:ext uri="{FF2B5EF4-FFF2-40B4-BE49-F238E27FC236}">
                <a16:creationId xmlns:a16="http://schemas.microsoft.com/office/drawing/2014/main" id="{923A6F1A-A251-4676-A954-A8180A4C4054}"/>
              </a:ext>
            </a:extLst>
          </p:cNvPr>
          <p:cNvSpPr>
            <a:spLocks noChangeArrowheads="1"/>
          </p:cNvSpPr>
          <p:nvPr/>
        </p:nvSpPr>
        <p:spPr bwMode="auto">
          <a:xfrm>
            <a:off x="6740525" y="2303463"/>
            <a:ext cx="1600200" cy="2971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000"/>
              <a:t>1:</a:t>
            </a:r>
            <a:r>
              <a:rPr lang="en-US" altLang="en-US" sz="2000">
                <a:solidFill>
                  <a:schemeClr val="accent2"/>
                </a:solidFill>
              </a:rPr>
              <a:t> </a:t>
            </a:r>
            <a:r>
              <a:rPr lang="en-US" altLang="en-US" sz="2000">
                <a:solidFill>
                  <a:srgbClr val="FF9933"/>
                </a:solidFill>
              </a:rPr>
              <a:t>T</a:t>
            </a:r>
            <a:r>
              <a:rPr lang="en-US" altLang="en-US" sz="2000">
                <a:solidFill>
                  <a:schemeClr val="bg1"/>
                </a:solidFill>
              </a:rPr>
              <a:t>r</a:t>
            </a:r>
            <a:r>
              <a:rPr lang="en-US" altLang="en-US" sz="2000">
                <a:solidFill>
                  <a:srgbClr val="FF9933"/>
                </a:solidFill>
              </a:rPr>
              <a:t>a</a:t>
            </a:r>
            <a:r>
              <a:rPr lang="en-US" altLang="en-US" sz="2000">
                <a:solidFill>
                  <a:schemeClr val="bg1"/>
                </a:solidFill>
              </a:rPr>
              <a:t>n</a:t>
            </a:r>
            <a:r>
              <a:rPr lang="en-US" altLang="en-US" sz="2000">
                <a:solidFill>
                  <a:srgbClr val="FF9933"/>
                </a:solidFill>
              </a:rPr>
              <a:t>s</a:t>
            </a:r>
            <a:r>
              <a:rPr lang="en-US" altLang="en-US" sz="2000">
                <a:solidFill>
                  <a:schemeClr val="bg1"/>
                </a:solidFill>
              </a:rPr>
              <a:t>m</a:t>
            </a:r>
            <a:r>
              <a:rPr lang="en-US" altLang="en-US" sz="2000">
                <a:solidFill>
                  <a:srgbClr val="FF9933"/>
                </a:solidFill>
              </a:rPr>
              <a:t>i</a:t>
            </a:r>
            <a:r>
              <a:rPr lang="en-US" altLang="en-US" sz="2000">
                <a:solidFill>
                  <a:schemeClr val="bg1"/>
                </a:solidFill>
              </a:rPr>
              <a:t>t</a:t>
            </a:r>
          </a:p>
          <a:p>
            <a:pPr>
              <a:buFont typeface="ZapfDingbats" pitchFamily="82" charset="2"/>
              <a:buNone/>
            </a:pPr>
            <a:r>
              <a:rPr lang="en-US" altLang="en-US" sz="2000"/>
              <a:t>2:</a:t>
            </a:r>
            <a:r>
              <a:rPr lang="en-US" altLang="en-US" sz="2000">
                <a:solidFill>
                  <a:schemeClr val="accent2"/>
                </a:solidFill>
              </a:rPr>
              <a:t> </a:t>
            </a:r>
            <a:r>
              <a:rPr lang="en-US" altLang="en-US" sz="2000" u="sng">
                <a:solidFill>
                  <a:srgbClr val="FF9933"/>
                </a:solidFill>
              </a:rPr>
              <a:t>Transmit</a:t>
            </a:r>
          </a:p>
          <a:p>
            <a:pPr>
              <a:buFont typeface="ZapfDingbats" pitchFamily="82" charset="2"/>
              <a:buNone/>
            </a:pPr>
            <a:r>
              <a:rPr lang="en-US" altLang="en-US" sz="2000"/>
              <a:t>3:</a:t>
            </a:r>
            <a:r>
              <a:rPr lang="en-US" altLang="en-US" sz="2000">
                <a:solidFill>
                  <a:schemeClr val="accent2"/>
                </a:solidFill>
              </a:rPr>
              <a:t> </a:t>
            </a:r>
            <a:r>
              <a:rPr lang="en-US" altLang="en-US" sz="2000">
                <a:solidFill>
                  <a:srgbClr val="00FF00"/>
                </a:solidFill>
              </a:rPr>
              <a:t>R</a:t>
            </a:r>
            <a:r>
              <a:rPr lang="en-US" altLang="en-US" sz="2000">
                <a:solidFill>
                  <a:schemeClr val="bg1"/>
                </a:solidFill>
              </a:rPr>
              <a:t>e</a:t>
            </a:r>
            <a:r>
              <a:rPr lang="en-US" altLang="en-US" sz="2000">
                <a:solidFill>
                  <a:srgbClr val="00FF00"/>
                </a:solidFill>
              </a:rPr>
              <a:t>c</a:t>
            </a:r>
            <a:r>
              <a:rPr lang="en-US" altLang="en-US" sz="2000">
                <a:solidFill>
                  <a:schemeClr val="bg1"/>
                </a:solidFill>
              </a:rPr>
              <a:t>e</a:t>
            </a:r>
            <a:r>
              <a:rPr lang="en-US" altLang="en-US" sz="2000">
                <a:solidFill>
                  <a:srgbClr val="00FF00"/>
                </a:solidFill>
              </a:rPr>
              <a:t>i</a:t>
            </a:r>
            <a:r>
              <a:rPr lang="en-US" altLang="en-US" sz="2000">
                <a:solidFill>
                  <a:schemeClr val="bg1"/>
                </a:solidFill>
              </a:rPr>
              <a:t>v</a:t>
            </a:r>
            <a:r>
              <a:rPr lang="en-US" altLang="en-US" sz="2000">
                <a:solidFill>
                  <a:srgbClr val="00FF00"/>
                </a:solidFill>
              </a:rPr>
              <a:t>e</a:t>
            </a:r>
          </a:p>
          <a:p>
            <a:pPr>
              <a:buFont typeface="ZapfDingbats" pitchFamily="82" charset="2"/>
              <a:buNone/>
            </a:pPr>
            <a:r>
              <a:rPr lang="en-US" altLang="en-US" sz="2000"/>
              <a:t>4:</a:t>
            </a:r>
            <a:r>
              <a:rPr lang="en-US" altLang="en-US" sz="2000">
                <a:solidFill>
                  <a:schemeClr val="accent2"/>
                </a:solidFill>
              </a:rPr>
              <a:t> </a:t>
            </a:r>
            <a:r>
              <a:rPr lang="en-US" altLang="en-US" sz="2000" u="sng">
                <a:solidFill>
                  <a:srgbClr val="3366FF"/>
                </a:solidFill>
              </a:rPr>
              <a:t>Not used</a:t>
            </a:r>
          </a:p>
          <a:p>
            <a:pPr>
              <a:buFont typeface="ZapfDingbats" pitchFamily="82" charset="2"/>
              <a:buNone/>
            </a:pPr>
            <a:r>
              <a:rPr lang="en-US" altLang="en-US" sz="2000"/>
              <a:t>5:</a:t>
            </a:r>
            <a:r>
              <a:rPr lang="en-US" altLang="en-US" sz="2000">
                <a:solidFill>
                  <a:schemeClr val="accent2"/>
                </a:solidFill>
              </a:rPr>
              <a:t> </a:t>
            </a:r>
            <a:r>
              <a:rPr lang="en-US" altLang="en-US" sz="2000">
                <a:solidFill>
                  <a:srgbClr val="3366FF"/>
                </a:solidFill>
              </a:rPr>
              <a:t>N</a:t>
            </a:r>
            <a:r>
              <a:rPr lang="en-US" altLang="en-US" sz="2000">
                <a:solidFill>
                  <a:schemeClr val="bg1"/>
                </a:solidFill>
              </a:rPr>
              <a:t>o</a:t>
            </a:r>
            <a:r>
              <a:rPr lang="en-US" altLang="en-US" sz="2000">
                <a:solidFill>
                  <a:srgbClr val="3366FF"/>
                </a:solidFill>
              </a:rPr>
              <a:t>t </a:t>
            </a:r>
            <a:r>
              <a:rPr lang="en-US" altLang="en-US" sz="2000">
                <a:solidFill>
                  <a:schemeClr val="bg1"/>
                </a:solidFill>
              </a:rPr>
              <a:t>u</a:t>
            </a:r>
            <a:r>
              <a:rPr lang="en-US" altLang="en-US" sz="2000">
                <a:solidFill>
                  <a:srgbClr val="3366FF"/>
                </a:solidFill>
              </a:rPr>
              <a:t>s</a:t>
            </a:r>
            <a:r>
              <a:rPr lang="en-US" altLang="en-US" sz="2000">
                <a:solidFill>
                  <a:schemeClr val="bg1"/>
                </a:solidFill>
              </a:rPr>
              <a:t>e</a:t>
            </a:r>
            <a:r>
              <a:rPr lang="en-US" altLang="en-US" sz="2000">
                <a:solidFill>
                  <a:srgbClr val="3366FF"/>
                </a:solidFill>
              </a:rPr>
              <a:t>d</a:t>
            </a:r>
          </a:p>
          <a:p>
            <a:pPr>
              <a:buFont typeface="ZapfDingbats" pitchFamily="82" charset="2"/>
              <a:buNone/>
            </a:pPr>
            <a:r>
              <a:rPr lang="en-US" altLang="en-US" sz="2000"/>
              <a:t>6:</a:t>
            </a:r>
            <a:r>
              <a:rPr lang="en-US" altLang="en-US" sz="2000">
                <a:solidFill>
                  <a:schemeClr val="accent2"/>
                </a:solidFill>
              </a:rPr>
              <a:t> </a:t>
            </a:r>
            <a:r>
              <a:rPr lang="en-US" altLang="en-US" sz="2000" u="sng">
                <a:solidFill>
                  <a:srgbClr val="00FF00"/>
                </a:solidFill>
              </a:rPr>
              <a:t>Receive</a:t>
            </a:r>
          </a:p>
          <a:p>
            <a:pPr>
              <a:buFont typeface="ZapfDingbats" pitchFamily="82" charset="2"/>
              <a:buNone/>
            </a:pPr>
            <a:r>
              <a:rPr lang="en-US" altLang="en-US" sz="2000"/>
              <a:t>7:</a:t>
            </a:r>
            <a:r>
              <a:rPr lang="en-US" altLang="en-US" sz="2000">
                <a:solidFill>
                  <a:schemeClr val="accent2"/>
                </a:solidFill>
              </a:rPr>
              <a:t> </a:t>
            </a:r>
            <a:r>
              <a:rPr lang="en-US" altLang="en-US" sz="2000">
                <a:solidFill>
                  <a:srgbClr val="A50021"/>
                </a:solidFill>
              </a:rPr>
              <a:t>N</a:t>
            </a:r>
            <a:r>
              <a:rPr lang="en-US" altLang="en-US" sz="2000">
                <a:solidFill>
                  <a:schemeClr val="bg1"/>
                </a:solidFill>
              </a:rPr>
              <a:t>o</a:t>
            </a:r>
            <a:r>
              <a:rPr lang="en-US" altLang="en-US" sz="2000">
                <a:solidFill>
                  <a:srgbClr val="A50021"/>
                </a:solidFill>
              </a:rPr>
              <a:t>t </a:t>
            </a:r>
            <a:r>
              <a:rPr lang="en-US" altLang="en-US" sz="2000">
                <a:solidFill>
                  <a:schemeClr val="bg1"/>
                </a:solidFill>
              </a:rPr>
              <a:t>u</a:t>
            </a:r>
            <a:r>
              <a:rPr lang="en-US" altLang="en-US" sz="2000">
                <a:solidFill>
                  <a:srgbClr val="A50021"/>
                </a:solidFill>
              </a:rPr>
              <a:t>s</a:t>
            </a:r>
            <a:r>
              <a:rPr lang="en-US" altLang="en-US" sz="2000">
                <a:solidFill>
                  <a:schemeClr val="bg1"/>
                </a:solidFill>
              </a:rPr>
              <a:t>e</a:t>
            </a:r>
            <a:r>
              <a:rPr lang="en-US" altLang="en-US" sz="2000">
                <a:solidFill>
                  <a:srgbClr val="A50021"/>
                </a:solidFill>
              </a:rPr>
              <a:t>d</a:t>
            </a:r>
          </a:p>
          <a:p>
            <a:pPr>
              <a:buFont typeface="ZapfDingbats" pitchFamily="82" charset="2"/>
              <a:buNone/>
            </a:pPr>
            <a:r>
              <a:rPr lang="en-US" altLang="en-US" sz="2000"/>
              <a:t>8:</a:t>
            </a:r>
            <a:r>
              <a:rPr lang="en-US" altLang="en-US" sz="2000">
                <a:solidFill>
                  <a:schemeClr val="accent2"/>
                </a:solidFill>
              </a:rPr>
              <a:t> </a:t>
            </a:r>
            <a:r>
              <a:rPr lang="en-US" altLang="en-US" sz="2000" u="sng">
                <a:solidFill>
                  <a:srgbClr val="A50021"/>
                </a:solidFill>
              </a:rPr>
              <a:t>Not used</a:t>
            </a:r>
          </a:p>
        </p:txBody>
      </p:sp>
      <p:pic>
        <p:nvPicPr>
          <p:cNvPr id="334853" name="Picture 5">
            <a:extLst>
              <a:ext uri="{FF2B5EF4-FFF2-40B4-BE49-F238E27FC236}">
                <a16:creationId xmlns:a16="http://schemas.microsoft.com/office/drawing/2014/main" id="{2A03D30D-1FF8-4C76-ACD0-BCA702206077}"/>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3984625" y="3506788"/>
            <a:ext cx="576263" cy="1590675"/>
          </a:xfrm>
          <a:noFill/>
        </p:spPr>
      </p:pic>
      <p:sp>
        <p:nvSpPr>
          <p:cNvPr id="334854" name="Rectangle 6">
            <a:extLst>
              <a:ext uri="{FF2B5EF4-FFF2-40B4-BE49-F238E27FC236}">
                <a16:creationId xmlns:a16="http://schemas.microsoft.com/office/drawing/2014/main" id="{092471BB-E11C-4FC7-8111-433083F3F799}"/>
              </a:ext>
            </a:extLst>
          </p:cNvPr>
          <p:cNvSpPr>
            <a:spLocks noChangeArrowheads="1"/>
          </p:cNvSpPr>
          <p:nvPr/>
        </p:nvSpPr>
        <p:spPr bwMode="auto">
          <a:xfrm>
            <a:off x="417513" y="2355850"/>
            <a:ext cx="1600200" cy="2971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000"/>
              <a:t>1:</a:t>
            </a:r>
            <a:r>
              <a:rPr lang="en-US" altLang="en-US" sz="2000">
                <a:solidFill>
                  <a:schemeClr val="accent2"/>
                </a:solidFill>
              </a:rPr>
              <a:t> </a:t>
            </a:r>
            <a:r>
              <a:rPr lang="en-US" altLang="en-US" sz="2000">
                <a:solidFill>
                  <a:srgbClr val="FF9933"/>
                </a:solidFill>
              </a:rPr>
              <a:t>T</a:t>
            </a:r>
            <a:r>
              <a:rPr lang="en-US" altLang="en-US" sz="2000">
                <a:solidFill>
                  <a:schemeClr val="bg1"/>
                </a:solidFill>
              </a:rPr>
              <a:t>r</a:t>
            </a:r>
            <a:r>
              <a:rPr lang="en-US" altLang="en-US" sz="2000">
                <a:solidFill>
                  <a:srgbClr val="FF9933"/>
                </a:solidFill>
              </a:rPr>
              <a:t>a</a:t>
            </a:r>
            <a:r>
              <a:rPr lang="en-US" altLang="en-US" sz="2000">
                <a:solidFill>
                  <a:schemeClr val="bg1"/>
                </a:solidFill>
              </a:rPr>
              <a:t>n</a:t>
            </a:r>
            <a:r>
              <a:rPr lang="en-US" altLang="en-US" sz="2000">
                <a:solidFill>
                  <a:srgbClr val="FF9933"/>
                </a:solidFill>
              </a:rPr>
              <a:t>s</a:t>
            </a:r>
            <a:r>
              <a:rPr lang="en-US" altLang="en-US" sz="2000">
                <a:solidFill>
                  <a:schemeClr val="bg1"/>
                </a:solidFill>
              </a:rPr>
              <a:t>m</a:t>
            </a:r>
            <a:r>
              <a:rPr lang="en-US" altLang="en-US" sz="2000">
                <a:solidFill>
                  <a:srgbClr val="FF9933"/>
                </a:solidFill>
              </a:rPr>
              <a:t>i</a:t>
            </a:r>
            <a:r>
              <a:rPr lang="en-US" altLang="en-US" sz="2000">
                <a:solidFill>
                  <a:schemeClr val="bg1"/>
                </a:solidFill>
              </a:rPr>
              <a:t>t</a:t>
            </a:r>
          </a:p>
          <a:p>
            <a:pPr>
              <a:buFont typeface="ZapfDingbats" pitchFamily="82" charset="2"/>
              <a:buNone/>
            </a:pPr>
            <a:r>
              <a:rPr lang="en-US" altLang="en-US" sz="2000"/>
              <a:t>2:</a:t>
            </a:r>
            <a:r>
              <a:rPr lang="en-US" altLang="en-US" sz="2000">
                <a:solidFill>
                  <a:schemeClr val="accent2"/>
                </a:solidFill>
              </a:rPr>
              <a:t> </a:t>
            </a:r>
            <a:r>
              <a:rPr lang="en-US" altLang="en-US" sz="2000" u="sng">
                <a:solidFill>
                  <a:srgbClr val="FF9933"/>
                </a:solidFill>
              </a:rPr>
              <a:t>Transmit</a:t>
            </a:r>
          </a:p>
          <a:p>
            <a:pPr>
              <a:buFont typeface="ZapfDingbats" pitchFamily="82" charset="2"/>
              <a:buNone/>
            </a:pPr>
            <a:r>
              <a:rPr lang="en-US" altLang="en-US" sz="2000"/>
              <a:t>3:</a:t>
            </a:r>
            <a:r>
              <a:rPr lang="en-US" altLang="en-US" sz="2000">
                <a:solidFill>
                  <a:schemeClr val="accent2"/>
                </a:solidFill>
              </a:rPr>
              <a:t> </a:t>
            </a:r>
            <a:r>
              <a:rPr lang="en-US" altLang="en-US" sz="2000">
                <a:solidFill>
                  <a:srgbClr val="00FF00"/>
                </a:solidFill>
              </a:rPr>
              <a:t>R</a:t>
            </a:r>
            <a:r>
              <a:rPr lang="en-US" altLang="en-US" sz="2000">
                <a:solidFill>
                  <a:schemeClr val="bg1"/>
                </a:solidFill>
              </a:rPr>
              <a:t>e</a:t>
            </a:r>
            <a:r>
              <a:rPr lang="en-US" altLang="en-US" sz="2000">
                <a:solidFill>
                  <a:srgbClr val="00FF00"/>
                </a:solidFill>
              </a:rPr>
              <a:t>c</a:t>
            </a:r>
            <a:r>
              <a:rPr lang="en-US" altLang="en-US" sz="2000">
                <a:solidFill>
                  <a:schemeClr val="bg1"/>
                </a:solidFill>
              </a:rPr>
              <a:t>e</a:t>
            </a:r>
            <a:r>
              <a:rPr lang="en-US" altLang="en-US" sz="2000">
                <a:solidFill>
                  <a:srgbClr val="00FF00"/>
                </a:solidFill>
              </a:rPr>
              <a:t>i</a:t>
            </a:r>
            <a:r>
              <a:rPr lang="en-US" altLang="en-US" sz="2000">
                <a:solidFill>
                  <a:schemeClr val="bg1"/>
                </a:solidFill>
              </a:rPr>
              <a:t>v</a:t>
            </a:r>
            <a:r>
              <a:rPr lang="en-US" altLang="en-US" sz="2000">
                <a:solidFill>
                  <a:srgbClr val="00FF00"/>
                </a:solidFill>
              </a:rPr>
              <a:t>e</a:t>
            </a:r>
          </a:p>
          <a:p>
            <a:pPr>
              <a:buFont typeface="ZapfDingbats" pitchFamily="82" charset="2"/>
              <a:buNone/>
            </a:pPr>
            <a:r>
              <a:rPr lang="en-US" altLang="en-US" sz="2000"/>
              <a:t>4:</a:t>
            </a:r>
            <a:r>
              <a:rPr lang="en-US" altLang="en-US" sz="2000">
                <a:solidFill>
                  <a:schemeClr val="accent2"/>
                </a:solidFill>
              </a:rPr>
              <a:t> </a:t>
            </a:r>
            <a:r>
              <a:rPr lang="en-US" altLang="en-US" sz="2000" u="sng">
                <a:solidFill>
                  <a:srgbClr val="3366FF"/>
                </a:solidFill>
              </a:rPr>
              <a:t>Not used</a:t>
            </a:r>
          </a:p>
          <a:p>
            <a:pPr>
              <a:buFont typeface="ZapfDingbats" pitchFamily="82" charset="2"/>
              <a:buNone/>
            </a:pPr>
            <a:r>
              <a:rPr lang="en-US" altLang="en-US" sz="2000"/>
              <a:t>5:</a:t>
            </a:r>
            <a:r>
              <a:rPr lang="en-US" altLang="en-US" sz="2000">
                <a:solidFill>
                  <a:schemeClr val="accent2"/>
                </a:solidFill>
              </a:rPr>
              <a:t> </a:t>
            </a:r>
            <a:r>
              <a:rPr lang="en-US" altLang="en-US" sz="2000">
                <a:solidFill>
                  <a:srgbClr val="3366FF"/>
                </a:solidFill>
              </a:rPr>
              <a:t>N</a:t>
            </a:r>
            <a:r>
              <a:rPr lang="en-US" altLang="en-US" sz="2000">
                <a:solidFill>
                  <a:schemeClr val="bg1"/>
                </a:solidFill>
              </a:rPr>
              <a:t>o</a:t>
            </a:r>
            <a:r>
              <a:rPr lang="en-US" altLang="en-US" sz="2000">
                <a:solidFill>
                  <a:srgbClr val="3366FF"/>
                </a:solidFill>
              </a:rPr>
              <a:t>t </a:t>
            </a:r>
            <a:r>
              <a:rPr lang="en-US" altLang="en-US" sz="2000">
                <a:solidFill>
                  <a:schemeClr val="bg1"/>
                </a:solidFill>
              </a:rPr>
              <a:t>u</a:t>
            </a:r>
            <a:r>
              <a:rPr lang="en-US" altLang="en-US" sz="2000">
                <a:solidFill>
                  <a:srgbClr val="3366FF"/>
                </a:solidFill>
              </a:rPr>
              <a:t>s</a:t>
            </a:r>
            <a:r>
              <a:rPr lang="en-US" altLang="en-US" sz="2000">
                <a:solidFill>
                  <a:schemeClr val="bg1"/>
                </a:solidFill>
              </a:rPr>
              <a:t>e</a:t>
            </a:r>
            <a:r>
              <a:rPr lang="en-US" altLang="en-US" sz="2000">
                <a:solidFill>
                  <a:srgbClr val="3366FF"/>
                </a:solidFill>
              </a:rPr>
              <a:t>d</a:t>
            </a:r>
          </a:p>
          <a:p>
            <a:pPr>
              <a:buFont typeface="ZapfDingbats" pitchFamily="82" charset="2"/>
              <a:buNone/>
            </a:pPr>
            <a:r>
              <a:rPr lang="en-US" altLang="en-US" sz="2000"/>
              <a:t>6:</a:t>
            </a:r>
            <a:r>
              <a:rPr lang="en-US" altLang="en-US" sz="2000">
                <a:solidFill>
                  <a:schemeClr val="accent2"/>
                </a:solidFill>
              </a:rPr>
              <a:t> </a:t>
            </a:r>
            <a:r>
              <a:rPr lang="en-US" altLang="en-US" sz="2000" u="sng">
                <a:solidFill>
                  <a:srgbClr val="00FF00"/>
                </a:solidFill>
              </a:rPr>
              <a:t>Receive</a:t>
            </a:r>
          </a:p>
          <a:p>
            <a:pPr>
              <a:buFont typeface="ZapfDingbats" pitchFamily="82" charset="2"/>
              <a:buNone/>
            </a:pPr>
            <a:r>
              <a:rPr lang="en-US" altLang="en-US" sz="2000"/>
              <a:t>7:</a:t>
            </a:r>
            <a:r>
              <a:rPr lang="en-US" altLang="en-US" sz="2000">
                <a:solidFill>
                  <a:schemeClr val="accent2"/>
                </a:solidFill>
              </a:rPr>
              <a:t> </a:t>
            </a:r>
            <a:r>
              <a:rPr lang="en-US" altLang="en-US" sz="2000">
                <a:solidFill>
                  <a:srgbClr val="A50021"/>
                </a:solidFill>
              </a:rPr>
              <a:t>N</a:t>
            </a:r>
            <a:r>
              <a:rPr lang="en-US" altLang="en-US" sz="2000">
                <a:solidFill>
                  <a:schemeClr val="bg1"/>
                </a:solidFill>
              </a:rPr>
              <a:t>o</a:t>
            </a:r>
            <a:r>
              <a:rPr lang="en-US" altLang="en-US" sz="2000">
                <a:solidFill>
                  <a:srgbClr val="A50021"/>
                </a:solidFill>
              </a:rPr>
              <a:t>t </a:t>
            </a:r>
            <a:r>
              <a:rPr lang="en-US" altLang="en-US" sz="2000">
                <a:solidFill>
                  <a:schemeClr val="bg1"/>
                </a:solidFill>
              </a:rPr>
              <a:t>u</a:t>
            </a:r>
            <a:r>
              <a:rPr lang="en-US" altLang="en-US" sz="2000">
                <a:solidFill>
                  <a:srgbClr val="A50021"/>
                </a:solidFill>
              </a:rPr>
              <a:t>s</a:t>
            </a:r>
            <a:r>
              <a:rPr lang="en-US" altLang="en-US" sz="2000">
                <a:solidFill>
                  <a:schemeClr val="bg1"/>
                </a:solidFill>
              </a:rPr>
              <a:t>e</a:t>
            </a:r>
            <a:r>
              <a:rPr lang="en-US" altLang="en-US" sz="2000">
                <a:solidFill>
                  <a:srgbClr val="A50021"/>
                </a:solidFill>
              </a:rPr>
              <a:t>d</a:t>
            </a:r>
          </a:p>
          <a:p>
            <a:pPr>
              <a:buFont typeface="ZapfDingbats" pitchFamily="82" charset="2"/>
              <a:buNone/>
            </a:pPr>
            <a:r>
              <a:rPr lang="en-US" altLang="en-US" sz="2000"/>
              <a:t>8:</a:t>
            </a:r>
            <a:r>
              <a:rPr lang="en-US" altLang="en-US" sz="2000">
                <a:solidFill>
                  <a:schemeClr val="accent2"/>
                </a:solidFill>
              </a:rPr>
              <a:t> </a:t>
            </a:r>
            <a:r>
              <a:rPr lang="en-US" altLang="en-US" sz="2000" u="sng">
                <a:solidFill>
                  <a:srgbClr val="A50021"/>
                </a:solidFill>
              </a:rPr>
              <a:t>Not used</a:t>
            </a:r>
          </a:p>
        </p:txBody>
      </p:sp>
      <p:sp>
        <p:nvSpPr>
          <p:cNvPr id="334855" name="Rectangle 7">
            <a:extLst>
              <a:ext uri="{FF2B5EF4-FFF2-40B4-BE49-F238E27FC236}">
                <a16:creationId xmlns:a16="http://schemas.microsoft.com/office/drawing/2014/main" id="{95E85D34-21D8-47B7-AF6C-8DD17E885494}"/>
              </a:ext>
            </a:extLst>
          </p:cNvPr>
          <p:cNvSpPr>
            <a:spLocks noGrp="1" noChangeArrowheads="1"/>
          </p:cNvSpPr>
          <p:nvPr>
            <p:ph type="title"/>
          </p:nvPr>
        </p:nvSpPr>
        <p:spPr>
          <a:xfrm>
            <a:off x="609600" y="228600"/>
            <a:ext cx="8250238" cy="1143000"/>
          </a:xfrm>
          <a:noFill/>
        </p:spPr>
        <p:txBody>
          <a:bodyPr/>
          <a:lstStyle/>
          <a:p>
            <a:r>
              <a:rPr lang="en-US" altLang="en-US" sz="3600"/>
              <a:t>Sơ đồ chân nối cho RJ-45 connector</a:t>
            </a:r>
          </a:p>
        </p:txBody>
      </p:sp>
      <p:sp>
        <p:nvSpPr>
          <p:cNvPr id="334856" name="Text Box 8">
            <a:extLst>
              <a:ext uri="{FF2B5EF4-FFF2-40B4-BE49-F238E27FC236}">
                <a16:creationId xmlns:a16="http://schemas.microsoft.com/office/drawing/2014/main" id="{28EEBAAA-87AD-4B52-8DA9-43607C907F14}"/>
              </a:ext>
            </a:extLst>
          </p:cNvPr>
          <p:cNvSpPr txBox="1">
            <a:spLocks noChangeArrowheads="1"/>
          </p:cNvSpPr>
          <p:nvPr/>
        </p:nvSpPr>
        <p:spPr bwMode="auto">
          <a:xfrm>
            <a:off x="0" y="5665788"/>
            <a:ext cx="8839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latin typeface="Times New Roman" panose="02020603050405020304" pitchFamily="18" charset="0"/>
              </a:rPr>
              <a:t>Đối với Ethernet tốc độ &lt;1000Mbps thì chân 1,2: truyền; chân 3,6: nhận; 4, 5, 7, 8: không dùng để truyền/nhận dữ liệu</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Slide Number Placeholder 5">
            <a:extLst>
              <a:ext uri="{FF2B5EF4-FFF2-40B4-BE49-F238E27FC236}">
                <a16:creationId xmlns:a16="http://schemas.microsoft.com/office/drawing/2014/main" id="{B8DE3EA5-6AE4-4BB0-A2D0-C0972F8741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D2FCB1AE-7D0A-4A10-A633-CB4B559DAC80}" type="slidenum">
              <a:rPr lang="en-US" altLang="en-US" sz="1400" smtClean="0">
                <a:latin typeface="Times New Roman" panose="02020603050405020304" pitchFamily="18" charset="0"/>
              </a:rPr>
              <a:pPr>
                <a:spcBef>
                  <a:spcPct val="0"/>
                </a:spcBef>
                <a:buClrTx/>
                <a:buSzTx/>
                <a:buFontTx/>
                <a:buNone/>
              </a:pPr>
              <a:t>49</a:t>
            </a:fld>
            <a:endParaRPr lang="en-US" altLang="en-US" sz="1400">
              <a:latin typeface="Times New Roman" panose="02020603050405020304" pitchFamily="18" charset="0"/>
            </a:endParaRPr>
          </a:p>
        </p:txBody>
      </p:sp>
      <p:sp>
        <p:nvSpPr>
          <p:cNvPr id="336899" name="Rectangle 2">
            <a:extLst>
              <a:ext uri="{FF2B5EF4-FFF2-40B4-BE49-F238E27FC236}">
                <a16:creationId xmlns:a16="http://schemas.microsoft.com/office/drawing/2014/main" id="{DA49482F-74DC-44D8-9FD2-145027301881}"/>
              </a:ext>
            </a:extLst>
          </p:cNvPr>
          <p:cNvSpPr>
            <a:spLocks noGrp="1" noChangeArrowheads="1"/>
          </p:cNvSpPr>
          <p:nvPr>
            <p:ph type="title"/>
          </p:nvPr>
        </p:nvSpPr>
        <p:spPr>
          <a:xfrm>
            <a:off x="533400" y="-312738"/>
            <a:ext cx="7772400" cy="1143001"/>
          </a:xfrm>
        </p:spPr>
        <p:txBody>
          <a:bodyPr/>
          <a:lstStyle/>
          <a:p>
            <a:r>
              <a:rPr lang="en-US" altLang="en-US"/>
              <a:t>Unshielded Twisted Pair (UTP)</a:t>
            </a:r>
          </a:p>
        </p:txBody>
      </p:sp>
      <p:pic>
        <p:nvPicPr>
          <p:cNvPr id="336900" name="Picture 3" descr="14-e.gif">
            <a:extLst>
              <a:ext uri="{FF2B5EF4-FFF2-40B4-BE49-F238E27FC236}">
                <a16:creationId xmlns:a16="http://schemas.microsoft.com/office/drawing/2014/main" id="{E15A0471-DDB3-4F9E-B178-D6FD0E659B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671513"/>
            <a:ext cx="369252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6901" name="Picture 4" descr="14-f_small">
            <a:extLst>
              <a:ext uri="{FF2B5EF4-FFF2-40B4-BE49-F238E27FC236}">
                <a16:creationId xmlns:a16="http://schemas.microsoft.com/office/drawing/2014/main" id="{41D87EBB-F978-4137-AAFE-674331DB6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805113"/>
            <a:ext cx="2286000"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6902" name="Picture 5" descr="14-g_small.gif">
            <a:extLst>
              <a:ext uri="{FF2B5EF4-FFF2-40B4-BE49-F238E27FC236}">
                <a16:creationId xmlns:a16="http://schemas.microsoft.com/office/drawing/2014/main" id="{ED32BA70-A4F3-44B1-B110-ADCB091C4D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805113"/>
            <a:ext cx="2286000"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6903" name="Text Box 6">
            <a:extLst>
              <a:ext uri="{FF2B5EF4-FFF2-40B4-BE49-F238E27FC236}">
                <a16:creationId xmlns:a16="http://schemas.microsoft.com/office/drawing/2014/main" id="{D5310D10-F60A-427C-B937-E93D5D43CCF2}"/>
              </a:ext>
            </a:extLst>
          </p:cNvPr>
          <p:cNvSpPr txBox="1">
            <a:spLocks noChangeArrowheads="1"/>
          </p:cNvSpPr>
          <p:nvPr/>
        </p:nvSpPr>
        <p:spPr bwMode="auto">
          <a:xfrm>
            <a:off x="685800" y="4557713"/>
            <a:ext cx="2057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cs typeface="Arial" panose="020B0604020202020204" pitchFamily="34" charset="0"/>
              </a:rPr>
              <a:t>Straight-through</a:t>
            </a:r>
          </a:p>
        </p:txBody>
      </p:sp>
      <p:sp>
        <p:nvSpPr>
          <p:cNvPr id="336904" name="Text Box 7">
            <a:extLst>
              <a:ext uri="{FF2B5EF4-FFF2-40B4-BE49-F238E27FC236}">
                <a16:creationId xmlns:a16="http://schemas.microsoft.com/office/drawing/2014/main" id="{82E5C27C-787C-43CB-BEC9-5FCF3E9B7D9E}"/>
              </a:ext>
            </a:extLst>
          </p:cNvPr>
          <p:cNvSpPr txBox="1">
            <a:spLocks noChangeArrowheads="1"/>
          </p:cNvSpPr>
          <p:nvPr/>
        </p:nvSpPr>
        <p:spPr bwMode="auto">
          <a:xfrm>
            <a:off x="3581400" y="4557713"/>
            <a:ext cx="2057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cs typeface="Arial" panose="020B0604020202020204" pitchFamily="34" charset="0"/>
              </a:rPr>
              <a:t>Cross-over</a:t>
            </a:r>
          </a:p>
        </p:txBody>
      </p:sp>
      <p:sp>
        <p:nvSpPr>
          <p:cNvPr id="336905" name="Text Box 8">
            <a:extLst>
              <a:ext uri="{FF2B5EF4-FFF2-40B4-BE49-F238E27FC236}">
                <a16:creationId xmlns:a16="http://schemas.microsoft.com/office/drawing/2014/main" id="{832BAB5E-3DE8-494F-8893-7E93613C8F8A}"/>
              </a:ext>
            </a:extLst>
          </p:cNvPr>
          <p:cNvSpPr txBox="1">
            <a:spLocks noChangeArrowheads="1"/>
          </p:cNvSpPr>
          <p:nvPr/>
        </p:nvSpPr>
        <p:spPr bwMode="auto">
          <a:xfrm>
            <a:off x="6553200" y="4540250"/>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cs typeface="Arial" panose="020B0604020202020204" pitchFamily="34" charset="0"/>
              </a:rPr>
              <a:t>Rollover</a:t>
            </a:r>
          </a:p>
        </p:txBody>
      </p:sp>
      <p:pic>
        <p:nvPicPr>
          <p:cNvPr id="336906" name="Picture 9" descr="14-h_small.gif">
            <a:extLst>
              <a:ext uri="{FF2B5EF4-FFF2-40B4-BE49-F238E27FC236}">
                <a16:creationId xmlns:a16="http://schemas.microsoft.com/office/drawing/2014/main" id="{06B2D5F9-BBB7-4385-9298-FB685F49F4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2881313"/>
            <a:ext cx="2286000" cy="161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6907" name="Text Box 11">
            <a:extLst>
              <a:ext uri="{FF2B5EF4-FFF2-40B4-BE49-F238E27FC236}">
                <a16:creationId xmlns:a16="http://schemas.microsoft.com/office/drawing/2014/main" id="{60B9E50E-C58E-41AF-9CDD-553654C451BA}"/>
              </a:ext>
            </a:extLst>
          </p:cNvPr>
          <p:cNvSpPr txBox="1">
            <a:spLocks noChangeArrowheads="1"/>
          </p:cNvSpPr>
          <p:nvPr/>
        </p:nvSpPr>
        <p:spPr bwMode="auto">
          <a:xfrm>
            <a:off x="0" y="5164138"/>
            <a:ext cx="9144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latin typeface="Times New Roman" panose="02020603050405020304" pitchFamily="18" charset="0"/>
              </a:rPr>
              <a:t>Cáp thẳng (straight-through): 1-1, 2-2, 3-3, 4-4, 5-5, 6-6, 7-7, 8-8</a:t>
            </a:r>
          </a:p>
          <a:p>
            <a:pPr>
              <a:spcBef>
                <a:spcPct val="50000"/>
              </a:spcBef>
              <a:buClrTx/>
              <a:buSzTx/>
              <a:buFontTx/>
              <a:buNone/>
            </a:pPr>
            <a:r>
              <a:rPr lang="en-US" altLang="en-US" sz="2400">
                <a:latin typeface="Times New Roman" panose="02020603050405020304" pitchFamily="18" charset="0"/>
              </a:rPr>
              <a:t>Cáp chéo (cross-over): 1-3, 2-6, 3-1, 4-4, 5-5, 6-2, 7-7, 8-8</a:t>
            </a:r>
          </a:p>
          <a:p>
            <a:pPr>
              <a:spcBef>
                <a:spcPct val="50000"/>
              </a:spcBef>
              <a:buClrTx/>
              <a:buSzTx/>
              <a:buFontTx/>
              <a:buNone/>
            </a:pPr>
            <a:endParaRPr lang="en-US" altLang="en-US" sz="2400">
              <a:latin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Slide Number Placeholder 5">
            <a:extLst>
              <a:ext uri="{FF2B5EF4-FFF2-40B4-BE49-F238E27FC236}">
                <a16:creationId xmlns:a16="http://schemas.microsoft.com/office/drawing/2014/main" id="{D1892365-7A90-42C5-95A2-C3C633FF8CC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6B21DC0B-49A9-4A62-B0B8-A82D616AF41C}" type="slidenum">
              <a:rPr lang="en-US" altLang="en-US" sz="1400" smtClean="0">
                <a:latin typeface="Times New Roman" panose="02020603050405020304" pitchFamily="18" charset="0"/>
              </a:rPr>
              <a:pPr>
                <a:spcBef>
                  <a:spcPct val="0"/>
                </a:spcBef>
                <a:buClrTx/>
                <a:buSzTx/>
                <a:buFontTx/>
                <a:buNone/>
              </a:pPr>
              <a:t>50</a:t>
            </a:fld>
            <a:endParaRPr lang="en-US" altLang="en-US" sz="1400">
              <a:latin typeface="Times New Roman" panose="02020603050405020304" pitchFamily="18" charset="0"/>
            </a:endParaRPr>
          </a:p>
        </p:txBody>
      </p:sp>
      <p:sp>
        <p:nvSpPr>
          <p:cNvPr id="337923" name="Rectangle 2">
            <a:extLst>
              <a:ext uri="{FF2B5EF4-FFF2-40B4-BE49-F238E27FC236}">
                <a16:creationId xmlns:a16="http://schemas.microsoft.com/office/drawing/2014/main" id="{52979B91-AF01-4594-93A4-E8B8D3D2E5BD}"/>
              </a:ext>
            </a:extLst>
          </p:cNvPr>
          <p:cNvSpPr>
            <a:spLocks noGrp="1" noChangeArrowheads="1"/>
          </p:cNvSpPr>
          <p:nvPr>
            <p:ph type="title"/>
          </p:nvPr>
        </p:nvSpPr>
        <p:spPr/>
        <p:txBody>
          <a:bodyPr/>
          <a:lstStyle/>
          <a:p>
            <a:r>
              <a:rPr lang="en-US" altLang="en-US"/>
              <a:t>UTP Straight-through Cable</a:t>
            </a:r>
          </a:p>
        </p:txBody>
      </p:sp>
      <p:sp>
        <p:nvSpPr>
          <p:cNvPr id="337924" name="Rectangle 3">
            <a:extLst>
              <a:ext uri="{FF2B5EF4-FFF2-40B4-BE49-F238E27FC236}">
                <a16:creationId xmlns:a16="http://schemas.microsoft.com/office/drawing/2014/main" id="{224AFA34-1620-41EF-88F4-7E70E85AF7A3}"/>
              </a:ext>
            </a:extLst>
          </p:cNvPr>
          <p:cNvSpPr>
            <a:spLocks noGrp="1" noChangeArrowheads="1"/>
          </p:cNvSpPr>
          <p:nvPr>
            <p:ph type="body" idx="1"/>
          </p:nvPr>
        </p:nvSpPr>
        <p:spPr>
          <a:xfrm>
            <a:off x="219075" y="5467350"/>
            <a:ext cx="8610600" cy="1030288"/>
          </a:xfrm>
        </p:spPr>
        <p:txBody>
          <a:bodyPr/>
          <a:lstStyle/>
          <a:p>
            <a:pPr>
              <a:lnSpc>
                <a:spcPct val="80000"/>
              </a:lnSpc>
            </a:pPr>
            <a:r>
              <a:rPr lang="en-US" altLang="en-US" sz="2400"/>
              <a:t>Để kết nối một cổng từ Hub hoặc Switch đến cổng của card mạng trên máy tính ta dùng cáp thẳng (straight-through cable)</a:t>
            </a:r>
          </a:p>
        </p:txBody>
      </p:sp>
      <p:pic>
        <p:nvPicPr>
          <p:cNvPr id="337925" name="Picture 4">
            <a:extLst>
              <a:ext uri="{FF2B5EF4-FFF2-40B4-BE49-F238E27FC236}">
                <a16:creationId xmlns:a16="http://schemas.microsoft.com/office/drawing/2014/main" id="{0E0DBA40-3590-4E09-9165-8F853D924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219200"/>
            <a:ext cx="4648200"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26" name="Picture 5">
            <a:extLst>
              <a:ext uri="{FF2B5EF4-FFF2-40B4-BE49-F238E27FC236}">
                <a16:creationId xmlns:a16="http://schemas.microsoft.com/office/drawing/2014/main" id="{22E552B2-374E-4BC7-8E24-B4B34CE82D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048000"/>
            <a:ext cx="266700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27" name="Picture 6" descr="14-f_small">
            <a:extLst>
              <a:ext uri="{FF2B5EF4-FFF2-40B4-BE49-F238E27FC236}">
                <a16:creationId xmlns:a16="http://schemas.microsoft.com/office/drawing/2014/main" id="{B75198EE-E1A0-4479-86B2-8E3C315245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3124200"/>
            <a:ext cx="2971800" cy="212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28" name="Text Box 7">
            <a:extLst>
              <a:ext uri="{FF2B5EF4-FFF2-40B4-BE49-F238E27FC236}">
                <a16:creationId xmlns:a16="http://schemas.microsoft.com/office/drawing/2014/main" id="{26CD2744-113A-429A-814F-9A984830D5DD}"/>
              </a:ext>
            </a:extLst>
          </p:cNvPr>
          <p:cNvSpPr txBox="1">
            <a:spLocks noChangeArrowheads="1"/>
          </p:cNvSpPr>
          <p:nvPr/>
        </p:nvSpPr>
        <p:spPr bwMode="auto">
          <a:xfrm>
            <a:off x="4724400" y="2438400"/>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cs typeface="Arial" panose="020B0604020202020204" pitchFamily="34" charset="0"/>
              </a:rPr>
              <a:t>Host or Router</a:t>
            </a:r>
          </a:p>
        </p:txBody>
      </p:sp>
      <p:sp>
        <p:nvSpPr>
          <p:cNvPr id="337929" name="Text Box 8">
            <a:extLst>
              <a:ext uri="{FF2B5EF4-FFF2-40B4-BE49-F238E27FC236}">
                <a16:creationId xmlns:a16="http://schemas.microsoft.com/office/drawing/2014/main" id="{B72A56EC-91F2-48F0-832C-5CCF4C006E6D}"/>
              </a:ext>
            </a:extLst>
          </p:cNvPr>
          <p:cNvSpPr txBox="1">
            <a:spLocks noChangeArrowheads="1"/>
          </p:cNvSpPr>
          <p:nvPr/>
        </p:nvSpPr>
        <p:spPr bwMode="auto">
          <a:xfrm>
            <a:off x="2057400" y="2438400"/>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cs typeface="Arial" panose="020B0604020202020204" pitchFamily="34" charset="0"/>
              </a:rPr>
              <a:t>Hub or Switch</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Slide Number Placeholder 4">
            <a:extLst>
              <a:ext uri="{FF2B5EF4-FFF2-40B4-BE49-F238E27FC236}">
                <a16:creationId xmlns:a16="http://schemas.microsoft.com/office/drawing/2014/main" id="{402FD80C-387F-44DA-8500-992EA82870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BCA222AA-1D5C-427A-980A-66E7ED487E39}" type="slidenum">
              <a:rPr lang="en-US" altLang="en-US" sz="1400" smtClean="0">
                <a:latin typeface="Times New Roman" panose="02020603050405020304" pitchFamily="18" charset="0"/>
              </a:rPr>
              <a:pPr>
                <a:spcBef>
                  <a:spcPct val="0"/>
                </a:spcBef>
                <a:buClrTx/>
                <a:buSzTx/>
                <a:buFontTx/>
                <a:buNone/>
              </a:pPr>
              <a:t>51</a:t>
            </a:fld>
            <a:endParaRPr lang="en-US" altLang="en-US" sz="1400">
              <a:latin typeface="Times New Roman" panose="02020603050405020304" pitchFamily="18" charset="0"/>
            </a:endParaRPr>
          </a:p>
        </p:txBody>
      </p:sp>
      <p:sp>
        <p:nvSpPr>
          <p:cNvPr id="339971" name="Rectangle 2">
            <a:extLst>
              <a:ext uri="{FF2B5EF4-FFF2-40B4-BE49-F238E27FC236}">
                <a16:creationId xmlns:a16="http://schemas.microsoft.com/office/drawing/2014/main" id="{3E9585DC-35D1-4436-8A15-9FFCF0091366}"/>
              </a:ext>
            </a:extLst>
          </p:cNvPr>
          <p:cNvSpPr>
            <a:spLocks noGrp="1" noChangeArrowheads="1"/>
          </p:cNvSpPr>
          <p:nvPr>
            <p:ph type="title"/>
          </p:nvPr>
        </p:nvSpPr>
        <p:spPr/>
        <p:txBody>
          <a:bodyPr/>
          <a:lstStyle/>
          <a:p>
            <a:r>
              <a:rPr lang="en-US" altLang="en-US"/>
              <a:t>UTP Straight-through Cable</a:t>
            </a:r>
          </a:p>
        </p:txBody>
      </p:sp>
      <p:pic>
        <p:nvPicPr>
          <p:cNvPr id="339972" name="Picture 3" descr="nic">
            <a:extLst>
              <a:ext uri="{FF2B5EF4-FFF2-40B4-BE49-F238E27FC236}">
                <a16:creationId xmlns:a16="http://schemas.microsoft.com/office/drawing/2014/main" id="{3A1FF4F4-E3C7-4BE9-8630-F210FF29B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295400"/>
            <a:ext cx="3162300" cy="207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9973" name="Picture 4" descr="nic">
            <a:extLst>
              <a:ext uri="{FF2B5EF4-FFF2-40B4-BE49-F238E27FC236}">
                <a16:creationId xmlns:a16="http://schemas.microsoft.com/office/drawing/2014/main" id="{9CEBB5C5-9B27-4C78-9DA8-152724D90C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3581400"/>
            <a:ext cx="3352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9974" name="Picture 5" descr="switch">
            <a:extLst>
              <a:ext uri="{FF2B5EF4-FFF2-40B4-BE49-F238E27FC236}">
                <a16:creationId xmlns:a16="http://schemas.microsoft.com/office/drawing/2014/main" id="{CE9F5E15-F875-4DF3-85E8-9175B4FC87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3505200"/>
            <a:ext cx="3543300" cy="282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9975" name="Picture 6">
            <a:extLst>
              <a:ext uri="{FF2B5EF4-FFF2-40B4-BE49-F238E27FC236}">
                <a16:creationId xmlns:a16="http://schemas.microsoft.com/office/drawing/2014/main" id="{121616C5-2D82-4E7C-83E9-BB16655218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447800"/>
            <a:ext cx="4648200"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9976" name="Text Box 7">
            <a:extLst>
              <a:ext uri="{FF2B5EF4-FFF2-40B4-BE49-F238E27FC236}">
                <a16:creationId xmlns:a16="http://schemas.microsoft.com/office/drawing/2014/main" id="{F343BC3E-9170-424C-AFE2-4354BB4F9AE0}"/>
              </a:ext>
            </a:extLst>
          </p:cNvPr>
          <p:cNvSpPr txBox="1">
            <a:spLocks noChangeArrowheads="1"/>
          </p:cNvSpPr>
          <p:nvPr/>
        </p:nvSpPr>
        <p:spPr bwMode="auto">
          <a:xfrm>
            <a:off x="3200400" y="2667000"/>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cs typeface="Arial" panose="020B0604020202020204" pitchFamily="34" charset="0"/>
              </a:rPr>
              <a:t>Host or Router</a:t>
            </a:r>
          </a:p>
        </p:txBody>
      </p:sp>
      <p:sp>
        <p:nvSpPr>
          <p:cNvPr id="339977" name="Text Box 8">
            <a:extLst>
              <a:ext uri="{FF2B5EF4-FFF2-40B4-BE49-F238E27FC236}">
                <a16:creationId xmlns:a16="http://schemas.microsoft.com/office/drawing/2014/main" id="{214A1945-339F-477B-9C59-E67CC727A412}"/>
              </a:ext>
            </a:extLst>
          </p:cNvPr>
          <p:cNvSpPr txBox="1">
            <a:spLocks noChangeArrowheads="1"/>
          </p:cNvSpPr>
          <p:nvPr/>
        </p:nvSpPr>
        <p:spPr bwMode="auto">
          <a:xfrm>
            <a:off x="304800" y="2651125"/>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cs typeface="Arial" panose="020B0604020202020204" pitchFamily="34" charset="0"/>
              </a:rPr>
              <a:t>Hub or Switch</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Slide Number Placeholder 5">
            <a:extLst>
              <a:ext uri="{FF2B5EF4-FFF2-40B4-BE49-F238E27FC236}">
                <a16:creationId xmlns:a16="http://schemas.microsoft.com/office/drawing/2014/main" id="{F6713CFF-FB6A-49FA-9C99-5CA13F3D45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949783B0-F0D4-4262-A3F1-27CF9A7EE507}" type="slidenum">
              <a:rPr lang="en-US" altLang="en-US" sz="1400" smtClean="0">
                <a:latin typeface="Times New Roman" panose="02020603050405020304" pitchFamily="18" charset="0"/>
              </a:rPr>
              <a:pPr>
                <a:spcBef>
                  <a:spcPct val="0"/>
                </a:spcBef>
                <a:buClrTx/>
                <a:buSzTx/>
                <a:buFontTx/>
                <a:buNone/>
              </a:pPr>
              <a:t>52</a:t>
            </a:fld>
            <a:endParaRPr lang="en-US" altLang="en-US" sz="1400">
              <a:latin typeface="Times New Roman" panose="02020603050405020304" pitchFamily="18" charset="0"/>
            </a:endParaRPr>
          </a:p>
        </p:txBody>
      </p:sp>
      <p:sp>
        <p:nvSpPr>
          <p:cNvPr id="342019" name="Rectangle 2">
            <a:extLst>
              <a:ext uri="{FF2B5EF4-FFF2-40B4-BE49-F238E27FC236}">
                <a16:creationId xmlns:a16="http://schemas.microsoft.com/office/drawing/2014/main" id="{783EF6E6-C2C6-49D2-AADE-DD9FC283CDA2}"/>
              </a:ext>
            </a:extLst>
          </p:cNvPr>
          <p:cNvSpPr>
            <a:spLocks noGrp="1" noChangeArrowheads="1"/>
          </p:cNvSpPr>
          <p:nvPr>
            <p:ph type="title"/>
          </p:nvPr>
        </p:nvSpPr>
        <p:spPr/>
        <p:txBody>
          <a:bodyPr/>
          <a:lstStyle/>
          <a:p>
            <a:r>
              <a:rPr lang="en-US" altLang="en-US"/>
              <a:t>UTP Cross-over Cable</a:t>
            </a:r>
          </a:p>
        </p:txBody>
      </p:sp>
      <p:sp>
        <p:nvSpPr>
          <p:cNvPr id="342020" name="Rectangle 3">
            <a:extLst>
              <a:ext uri="{FF2B5EF4-FFF2-40B4-BE49-F238E27FC236}">
                <a16:creationId xmlns:a16="http://schemas.microsoft.com/office/drawing/2014/main" id="{054BD874-E24B-4AB2-BEC5-DD6B84019CCB}"/>
              </a:ext>
            </a:extLst>
          </p:cNvPr>
          <p:cNvSpPr>
            <a:spLocks noGrp="1" noChangeArrowheads="1"/>
          </p:cNvSpPr>
          <p:nvPr>
            <p:ph type="body" idx="1"/>
          </p:nvPr>
        </p:nvSpPr>
        <p:spPr>
          <a:xfrm>
            <a:off x="533400" y="5529263"/>
            <a:ext cx="8274050" cy="1328737"/>
          </a:xfrm>
        </p:spPr>
        <p:txBody>
          <a:bodyPr/>
          <a:lstStyle/>
          <a:p>
            <a:r>
              <a:rPr lang="en-US" altLang="en-US"/>
              <a:t>Để kết nối từ một cổng của Switch này đến một cổng của Switch khác ta dùng cáp chéo (crossover cable).</a:t>
            </a:r>
          </a:p>
        </p:txBody>
      </p:sp>
      <p:pic>
        <p:nvPicPr>
          <p:cNvPr id="342021" name="Picture 4">
            <a:extLst>
              <a:ext uri="{FF2B5EF4-FFF2-40B4-BE49-F238E27FC236}">
                <a16:creationId xmlns:a16="http://schemas.microsoft.com/office/drawing/2014/main" id="{DFEF302D-15E1-4D08-8B1A-D27F979F22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376363"/>
            <a:ext cx="47244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022" name="Picture 5">
            <a:extLst>
              <a:ext uri="{FF2B5EF4-FFF2-40B4-BE49-F238E27FC236}">
                <a16:creationId xmlns:a16="http://schemas.microsoft.com/office/drawing/2014/main" id="{59902C59-3F04-4E5A-8F79-95D62D9E81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124200"/>
            <a:ext cx="2695575"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023" name="Picture 6">
            <a:extLst>
              <a:ext uri="{FF2B5EF4-FFF2-40B4-BE49-F238E27FC236}">
                <a16:creationId xmlns:a16="http://schemas.microsoft.com/office/drawing/2014/main" id="{0C454DC8-8BD3-4C42-A3C7-6F81B4DE7C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2290763"/>
            <a:ext cx="487680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024" name="Picture 7" descr="14-g_small.gif">
            <a:extLst>
              <a:ext uri="{FF2B5EF4-FFF2-40B4-BE49-F238E27FC236}">
                <a16:creationId xmlns:a16="http://schemas.microsoft.com/office/drawing/2014/main" id="{2B177D2F-2939-4FB5-9CE8-1ED62D0CAF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2971800"/>
            <a:ext cx="3352800"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Slide Number Placeholder 5">
            <a:extLst>
              <a:ext uri="{FF2B5EF4-FFF2-40B4-BE49-F238E27FC236}">
                <a16:creationId xmlns:a16="http://schemas.microsoft.com/office/drawing/2014/main" id="{4F4A065B-D634-4980-A770-E2C748CD3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A80E4FB3-4888-4A28-9286-12B1F79C39E1}" type="slidenum">
              <a:rPr lang="en-US" altLang="en-US" sz="1400" smtClean="0">
                <a:latin typeface="Times New Roman" panose="02020603050405020304" pitchFamily="18" charset="0"/>
              </a:rPr>
              <a:pPr>
                <a:spcBef>
                  <a:spcPct val="0"/>
                </a:spcBef>
                <a:buClrTx/>
                <a:buSzTx/>
                <a:buFontTx/>
                <a:buNone/>
              </a:pPr>
              <a:t>53</a:t>
            </a:fld>
            <a:endParaRPr lang="en-US" altLang="en-US" sz="1400">
              <a:latin typeface="Times New Roman" panose="02020603050405020304" pitchFamily="18" charset="0"/>
            </a:endParaRPr>
          </a:p>
        </p:txBody>
      </p:sp>
      <p:sp>
        <p:nvSpPr>
          <p:cNvPr id="344067" name="Rectangle 2">
            <a:extLst>
              <a:ext uri="{FF2B5EF4-FFF2-40B4-BE49-F238E27FC236}">
                <a16:creationId xmlns:a16="http://schemas.microsoft.com/office/drawing/2014/main" id="{C0BDBDCE-CB6D-47B1-8C6D-488B6159DFCD}"/>
              </a:ext>
            </a:extLst>
          </p:cNvPr>
          <p:cNvSpPr>
            <a:spLocks noGrp="1" noChangeArrowheads="1"/>
          </p:cNvSpPr>
          <p:nvPr>
            <p:ph type="title"/>
          </p:nvPr>
        </p:nvSpPr>
        <p:spPr>
          <a:xfrm>
            <a:off x="587375" y="0"/>
            <a:ext cx="7772400" cy="1143000"/>
          </a:xfrm>
        </p:spPr>
        <p:txBody>
          <a:bodyPr/>
          <a:lstStyle/>
          <a:p>
            <a:r>
              <a:rPr lang="en-US" altLang="en-US"/>
              <a:t>UTP Cross-over Cable</a:t>
            </a:r>
          </a:p>
        </p:txBody>
      </p:sp>
      <p:pic>
        <p:nvPicPr>
          <p:cNvPr id="344068" name="Picture 3" descr="30055c">
            <a:extLst>
              <a:ext uri="{FF2B5EF4-FFF2-40B4-BE49-F238E27FC236}">
                <a16:creationId xmlns:a16="http://schemas.microsoft.com/office/drawing/2014/main" id="{AC2E51D4-0BF7-4798-BE55-4C32C340E1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7163" y="2193925"/>
            <a:ext cx="314325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4069" name="Picture 4">
            <a:extLst>
              <a:ext uri="{FF2B5EF4-FFF2-40B4-BE49-F238E27FC236}">
                <a16:creationId xmlns:a16="http://schemas.microsoft.com/office/drawing/2014/main" id="{C3476BAA-8ADD-4B7E-BE60-CCF4E1321F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912813"/>
            <a:ext cx="61722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4070" name="Text Box 5">
            <a:extLst>
              <a:ext uri="{FF2B5EF4-FFF2-40B4-BE49-F238E27FC236}">
                <a16:creationId xmlns:a16="http://schemas.microsoft.com/office/drawing/2014/main" id="{B2B658BD-E3D7-490A-8970-49415D13D9B6}"/>
              </a:ext>
            </a:extLst>
          </p:cNvPr>
          <p:cNvSpPr txBox="1">
            <a:spLocks noChangeArrowheads="1"/>
          </p:cNvSpPr>
          <p:nvPr/>
        </p:nvSpPr>
        <p:spPr bwMode="auto">
          <a:xfrm>
            <a:off x="0" y="4919663"/>
            <a:ext cx="91440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Times New Roman" panose="02020603050405020304" pitchFamily="18" charset="0"/>
              </a:rPr>
              <a:t>Để bấm cáp chéo ta đấu chân 1 (đầu này) với chân 3 (đầu kia); chân 2 với chân 6;</a:t>
            </a:r>
          </a:p>
          <a:p>
            <a:pPr>
              <a:spcBef>
                <a:spcPct val="0"/>
              </a:spcBef>
              <a:buClrTx/>
              <a:buSzTx/>
              <a:buFontTx/>
              <a:buNone/>
            </a:pPr>
            <a:r>
              <a:rPr lang="en-US" altLang="en-US" sz="2400">
                <a:latin typeface="Times New Roman" panose="02020603050405020304" pitchFamily="18" charset="0"/>
              </a:rPr>
              <a:t>Nếu dùng cho các tốc độ 10/100Mbps thì chân 4, 5, 7, 8 không dùng.</a:t>
            </a:r>
          </a:p>
          <a:p>
            <a:pPr>
              <a:spcBef>
                <a:spcPct val="0"/>
              </a:spcBef>
              <a:buClrTx/>
              <a:buSzTx/>
              <a:buFontTx/>
              <a:buNone/>
            </a:pPr>
            <a:r>
              <a:rPr lang="en-US" altLang="en-US" sz="2400">
                <a:latin typeface="Times New Roman" panose="02020603050405020304" pitchFamily="18" charset="0"/>
              </a:rPr>
              <a:t>Nếu muốn bấm cáp chéo cho tốc độ Gbps thì bấm như cáp chéo bình thường và đấu thêm chân 4 với chân 7; chân 5 đấu với chân 8.</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Slide Number Placeholder 6">
            <a:extLst>
              <a:ext uri="{FF2B5EF4-FFF2-40B4-BE49-F238E27FC236}">
                <a16:creationId xmlns:a16="http://schemas.microsoft.com/office/drawing/2014/main" id="{5DA17EDD-1A70-48B5-8447-18C1623729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6E9430C2-FEA2-4B8D-990B-8E8BEE1F3705}" type="slidenum">
              <a:rPr lang="en-US" altLang="en-US" sz="1400" smtClean="0">
                <a:latin typeface="Times New Roman" panose="02020603050405020304" pitchFamily="18" charset="0"/>
              </a:rPr>
              <a:pPr>
                <a:spcBef>
                  <a:spcPct val="0"/>
                </a:spcBef>
                <a:buClrTx/>
                <a:buSzTx/>
                <a:buFontTx/>
                <a:buNone/>
              </a:pPr>
              <a:t>54</a:t>
            </a:fld>
            <a:endParaRPr lang="en-US" altLang="en-US" sz="1400">
              <a:latin typeface="Times New Roman" panose="02020603050405020304" pitchFamily="18" charset="0"/>
            </a:endParaRPr>
          </a:p>
        </p:txBody>
      </p:sp>
      <p:sp>
        <p:nvSpPr>
          <p:cNvPr id="346115" name="Rectangle 2">
            <a:extLst>
              <a:ext uri="{FF2B5EF4-FFF2-40B4-BE49-F238E27FC236}">
                <a16:creationId xmlns:a16="http://schemas.microsoft.com/office/drawing/2014/main" id="{3AAD0E46-2947-4220-95F8-F9BC22F14426}"/>
              </a:ext>
            </a:extLst>
          </p:cNvPr>
          <p:cNvSpPr>
            <a:spLocks noGrp="1" noChangeArrowheads="1"/>
          </p:cNvSpPr>
          <p:nvPr>
            <p:ph type="title"/>
          </p:nvPr>
        </p:nvSpPr>
        <p:spPr/>
        <p:txBody>
          <a:bodyPr/>
          <a:lstStyle/>
          <a:p>
            <a:r>
              <a:rPr lang="en-US" altLang="en-US"/>
              <a:t>Kết nối các thiết bị</a:t>
            </a:r>
          </a:p>
        </p:txBody>
      </p:sp>
      <p:sp>
        <p:nvSpPr>
          <p:cNvPr id="346116" name="Rectangle 3">
            <a:extLst>
              <a:ext uri="{FF2B5EF4-FFF2-40B4-BE49-F238E27FC236}">
                <a16:creationId xmlns:a16="http://schemas.microsoft.com/office/drawing/2014/main" id="{DDA4BA34-8BD1-45ED-9248-1ADC6C74B452}"/>
              </a:ext>
            </a:extLst>
          </p:cNvPr>
          <p:cNvSpPr>
            <a:spLocks noGrp="1" noChangeArrowheads="1"/>
          </p:cNvSpPr>
          <p:nvPr>
            <p:ph type="body" sz="half" idx="1"/>
          </p:nvPr>
        </p:nvSpPr>
        <p:spPr>
          <a:xfrm>
            <a:off x="601663" y="5086350"/>
            <a:ext cx="8542337" cy="820738"/>
          </a:xfrm>
        </p:spPr>
        <p:txBody>
          <a:bodyPr/>
          <a:lstStyle/>
          <a:p>
            <a:r>
              <a:rPr lang="en-US" altLang="en-US" sz="2400"/>
              <a:t>Kết nối các thiết bị cùng nhóm thì ta dùng : </a:t>
            </a:r>
            <a:r>
              <a:rPr lang="en-US" altLang="en-US" sz="2400">
                <a:solidFill>
                  <a:srgbClr val="FF3300"/>
                </a:solidFill>
              </a:rPr>
              <a:t>cáp chéo</a:t>
            </a:r>
          </a:p>
          <a:p>
            <a:r>
              <a:rPr lang="en-US" altLang="en-US" sz="2400"/>
              <a:t>Kết nối các thiết bị khác nhóm thì ta dùng: </a:t>
            </a:r>
            <a:r>
              <a:rPr lang="en-US" altLang="en-US" sz="2400">
                <a:solidFill>
                  <a:srgbClr val="FF3300"/>
                </a:solidFill>
              </a:rPr>
              <a:t>cáp thẳng</a:t>
            </a:r>
          </a:p>
        </p:txBody>
      </p:sp>
      <p:graphicFrame>
        <p:nvGraphicFramePr>
          <p:cNvPr id="346117" name="Object 4">
            <a:extLst>
              <a:ext uri="{FF2B5EF4-FFF2-40B4-BE49-F238E27FC236}">
                <a16:creationId xmlns:a16="http://schemas.microsoft.com/office/drawing/2014/main" id="{D9471249-2E27-4FC5-B5FD-7BF58E498296}"/>
              </a:ext>
            </a:extLst>
          </p:cNvPr>
          <p:cNvGraphicFramePr>
            <a:graphicFrameLocks noGrp="1" noChangeAspect="1"/>
          </p:cNvGraphicFramePr>
          <p:nvPr>
            <p:ph sz="half" idx="2"/>
          </p:nvPr>
        </p:nvGraphicFramePr>
        <p:xfrm>
          <a:off x="1749425" y="1622425"/>
          <a:ext cx="5137150" cy="2781300"/>
        </p:xfrm>
        <a:graphic>
          <a:graphicData uri="http://schemas.openxmlformats.org/presentationml/2006/ole">
            <mc:AlternateContent xmlns:mc="http://schemas.openxmlformats.org/markup-compatibility/2006">
              <mc:Choice xmlns:v="urn:schemas-microsoft-com:vml" Requires="v">
                <p:oleObj spid="_x0000_s346135" name="Visio" r:id="rId3" imgW="4192524" imgH="2243772" progId="Visio.Drawing.6">
                  <p:embed/>
                </p:oleObj>
              </mc:Choice>
              <mc:Fallback>
                <p:oleObj name="Visio" r:id="rId3" imgW="4192524" imgH="2243772"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9425" y="1622425"/>
                        <a:ext cx="5137150" cy="278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6118" name="Text Box 5">
            <a:extLst>
              <a:ext uri="{FF2B5EF4-FFF2-40B4-BE49-F238E27FC236}">
                <a16:creationId xmlns:a16="http://schemas.microsoft.com/office/drawing/2014/main" id="{4D0CBAAA-B976-490C-BC20-9F4A283C7300}"/>
              </a:ext>
            </a:extLst>
          </p:cNvPr>
          <p:cNvSpPr txBox="1">
            <a:spLocks noChangeArrowheads="1"/>
          </p:cNvSpPr>
          <p:nvPr/>
        </p:nvSpPr>
        <p:spPr bwMode="auto">
          <a:xfrm>
            <a:off x="5618163" y="24257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cs typeface="Arial" panose="020B0604020202020204" pitchFamily="34" charset="0"/>
              </a:rPr>
              <a:t>Switch</a:t>
            </a:r>
          </a:p>
        </p:txBody>
      </p:sp>
      <p:sp>
        <p:nvSpPr>
          <p:cNvPr id="346119" name="Text Box 6">
            <a:extLst>
              <a:ext uri="{FF2B5EF4-FFF2-40B4-BE49-F238E27FC236}">
                <a16:creationId xmlns:a16="http://schemas.microsoft.com/office/drawing/2014/main" id="{5765CD2F-0698-451D-9EFA-12E48FCB5435}"/>
              </a:ext>
            </a:extLst>
          </p:cNvPr>
          <p:cNvSpPr txBox="1">
            <a:spLocks noChangeArrowheads="1"/>
          </p:cNvSpPr>
          <p:nvPr/>
        </p:nvSpPr>
        <p:spPr bwMode="auto">
          <a:xfrm>
            <a:off x="5734050" y="3833813"/>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cs typeface="Arial" panose="020B0604020202020204" pitchFamily="34" charset="0"/>
              </a:rPr>
              <a:t>Hub</a:t>
            </a:r>
          </a:p>
        </p:txBody>
      </p:sp>
      <p:sp>
        <p:nvSpPr>
          <p:cNvPr id="346120" name="Text Box 7">
            <a:extLst>
              <a:ext uri="{FF2B5EF4-FFF2-40B4-BE49-F238E27FC236}">
                <a16:creationId xmlns:a16="http://schemas.microsoft.com/office/drawing/2014/main" id="{A59D5280-8C0C-47E3-AF8F-18BB897F196E}"/>
              </a:ext>
            </a:extLst>
          </p:cNvPr>
          <p:cNvSpPr txBox="1">
            <a:spLocks noChangeArrowheads="1"/>
          </p:cNvSpPr>
          <p:nvPr/>
        </p:nvSpPr>
        <p:spPr bwMode="auto">
          <a:xfrm>
            <a:off x="1682750" y="2014538"/>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cs typeface="Arial" panose="020B0604020202020204" pitchFamily="34" charset="0"/>
              </a:rPr>
              <a:t>Router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Slide Number Placeholder 5">
            <a:extLst>
              <a:ext uri="{FF2B5EF4-FFF2-40B4-BE49-F238E27FC236}">
                <a16:creationId xmlns:a16="http://schemas.microsoft.com/office/drawing/2014/main" id="{4677ADDB-0943-448C-8217-750DFE408D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79FA0C9F-AC29-4AED-84E3-42036E2A683D}" type="slidenum">
              <a:rPr lang="en-US" altLang="en-US" sz="1400" smtClean="0">
                <a:latin typeface="Times New Roman" panose="02020603050405020304" pitchFamily="18" charset="0"/>
              </a:rPr>
              <a:pPr>
                <a:spcBef>
                  <a:spcPct val="0"/>
                </a:spcBef>
                <a:buClrTx/>
                <a:buSzTx/>
                <a:buFontTx/>
                <a:buNone/>
              </a:pPr>
              <a:t>55</a:t>
            </a:fld>
            <a:endParaRPr lang="en-US" altLang="en-US" sz="1400">
              <a:latin typeface="Times New Roman" panose="02020603050405020304" pitchFamily="18" charset="0"/>
            </a:endParaRPr>
          </a:p>
        </p:txBody>
      </p:sp>
      <p:sp>
        <p:nvSpPr>
          <p:cNvPr id="347139" name="Rectangle 2">
            <a:extLst>
              <a:ext uri="{FF2B5EF4-FFF2-40B4-BE49-F238E27FC236}">
                <a16:creationId xmlns:a16="http://schemas.microsoft.com/office/drawing/2014/main" id="{7B4AED87-1EE3-4376-9C8F-4B486F81415B}"/>
              </a:ext>
            </a:extLst>
          </p:cNvPr>
          <p:cNvSpPr>
            <a:spLocks noGrp="1" noChangeArrowheads="1"/>
          </p:cNvSpPr>
          <p:nvPr>
            <p:ph type="title"/>
          </p:nvPr>
        </p:nvSpPr>
        <p:spPr>
          <a:xfrm>
            <a:off x="195263" y="219075"/>
            <a:ext cx="7772400" cy="1143000"/>
          </a:xfrm>
        </p:spPr>
        <p:txBody>
          <a:bodyPr/>
          <a:lstStyle/>
          <a:p>
            <a:r>
              <a:rPr lang="en-US" altLang="en-US"/>
              <a:t>Mã hóa Manchester</a:t>
            </a:r>
          </a:p>
        </p:txBody>
      </p:sp>
      <p:sp>
        <p:nvSpPr>
          <p:cNvPr id="347140" name="Rectangle 3">
            <a:extLst>
              <a:ext uri="{FF2B5EF4-FFF2-40B4-BE49-F238E27FC236}">
                <a16:creationId xmlns:a16="http://schemas.microsoft.com/office/drawing/2014/main" id="{0A15880B-9AC5-4286-96FF-DDF0D4BCF365}"/>
              </a:ext>
            </a:extLst>
          </p:cNvPr>
          <p:cNvSpPr>
            <a:spLocks noGrp="1" noChangeArrowheads="1"/>
          </p:cNvSpPr>
          <p:nvPr>
            <p:ph type="body" idx="1"/>
          </p:nvPr>
        </p:nvSpPr>
        <p:spPr>
          <a:xfrm>
            <a:off x="485775" y="3883025"/>
            <a:ext cx="8310563" cy="2009775"/>
          </a:xfrm>
        </p:spPr>
        <p:txBody>
          <a:bodyPr/>
          <a:lstStyle/>
          <a:p>
            <a:r>
              <a:rPr lang="en-US" altLang="en-US" sz="2400"/>
              <a:t>Được sử dụng trong các chuẩn 10BaseT, 10Base2</a:t>
            </a:r>
          </a:p>
          <a:p>
            <a:r>
              <a:rPr lang="en-US" altLang="en-US" sz="2400"/>
              <a:t>Mỗi bit có một sự chuyển tiếp trạng thái</a:t>
            </a:r>
          </a:p>
          <a:p>
            <a:r>
              <a:rPr lang="en-US" altLang="en-US" sz="2400"/>
              <a:t>Cho phép đồng hồ giữa bên gởi và nhận đồng bộ hóa với nhau</a:t>
            </a:r>
          </a:p>
          <a:p>
            <a:pPr lvl="1"/>
            <a:r>
              <a:rPr lang="en-US" altLang="en-US" sz="2000"/>
              <a:t>không cần một đồng hồ toàn cục, tập trung giữa các nút!</a:t>
            </a:r>
          </a:p>
          <a:p>
            <a:r>
              <a:rPr lang="en-US" altLang="en-US" sz="2400"/>
              <a:t>Lưu ý, đây là “món” của tầng vật lý!</a:t>
            </a:r>
          </a:p>
        </p:txBody>
      </p:sp>
      <p:pic>
        <p:nvPicPr>
          <p:cNvPr id="347141" name="Picture 4" descr="manchester">
            <a:extLst>
              <a:ext uri="{FF2B5EF4-FFF2-40B4-BE49-F238E27FC236}">
                <a16:creationId xmlns:a16="http://schemas.microsoft.com/office/drawing/2014/main" id="{99C89A90-65E8-4391-AA75-8750CEB508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2563" y="1408113"/>
            <a:ext cx="5835650" cy="231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Slide Number Placeholder 5">
            <a:extLst>
              <a:ext uri="{FF2B5EF4-FFF2-40B4-BE49-F238E27FC236}">
                <a16:creationId xmlns:a16="http://schemas.microsoft.com/office/drawing/2014/main" id="{30879079-44FF-4C62-8F9E-9914D3301F8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E8A1B783-ECB5-47B0-8A5F-6925B3DA7879}" type="slidenum">
              <a:rPr lang="en-US" altLang="en-US" sz="1400" smtClean="0">
                <a:latin typeface="Times New Roman" panose="02020603050405020304" pitchFamily="18" charset="0"/>
              </a:rPr>
              <a:pPr>
                <a:spcBef>
                  <a:spcPct val="0"/>
                </a:spcBef>
                <a:buClrTx/>
                <a:buSzTx/>
                <a:buFontTx/>
                <a:buNone/>
              </a:pPr>
              <a:t>56</a:t>
            </a:fld>
            <a:endParaRPr lang="en-US" altLang="en-US" sz="1400">
              <a:latin typeface="Times New Roman" panose="02020603050405020304" pitchFamily="18" charset="0"/>
            </a:endParaRPr>
          </a:p>
        </p:txBody>
      </p:sp>
      <p:sp>
        <p:nvSpPr>
          <p:cNvPr id="349187" name="Rectangle 2">
            <a:extLst>
              <a:ext uri="{FF2B5EF4-FFF2-40B4-BE49-F238E27FC236}">
                <a16:creationId xmlns:a16="http://schemas.microsoft.com/office/drawing/2014/main" id="{751987B0-3150-49DF-9F90-5DE2DB1274A8}"/>
              </a:ext>
            </a:extLst>
          </p:cNvPr>
          <p:cNvSpPr>
            <a:spLocks noGrp="1" noChangeArrowheads="1"/>
          </p:cNvSpPr>
          <p:nvPr>
            <p:ph type="title"/>
          </p:nvPr>
        </p:nvSpPr>
        <p:spPr/>
        <p:txBody>
          <a:bodyPr/>
          <a:lstStyle/>
          <a:p>
            <a:r>
              <a:rPr lang="en-US" altLang="en-US"/>
              <a:t>Gbit Ethernet</a:t>
            </a:r>
          </a:p>
        </p:txBody>
      </p:sp>
      <p:sp>
        <p:nvSpPr>
          <p:cNvPr id="349188" name="Rectangle 3">
            <a:extLst>
              <a:ext uri="{FF2B5EF4-FFF2-40B4-BE49-F238E27FC236}">
                <a16:creationId xmlns:a16="http://schemas.microsoft.com/office/drawing/2014/main" id="{5C86F77D-AA55-4A43-AC56-EB100AC243E5}"/>
              </a:ext>
            </a:extLst>
          </p:cNvPr>
          <p:cNvSpPr>
            <a:spLocks noGrp="1" noChangeArrowheads="1"/>
          </p:cNvSpPr>
          <p:nvPr>
            <p:ph type="body" idx="1"/>
          </p:nvPr>
        </p:nvSpPr>
        <p:spPr>
          <a:xfrm>
            <a:off x="533400" y="1600200"/>
            <a:ext cx="8310563" cy="3914775"/>
          </a:xfrm>
        </p:spPr>
        <p:txBody>
          <a:bodyPr/>
          <a:lstStyle/>
          <a:p>
            <a:r>
              <a:rPr lang="en-US" altLang="en-US" sz="2400"/>
              <a:t>dùng khuôn dạng khung của Ethernet chuẩn</a:t>
            </a:r>
          </a:p>
          <a:p>
            <a:r>
              <a:rPr lang="en-US" altLang="en-US" sz="2400"/>
              <a:t>cho phép cả liên kết điểm – điểm và các kênh truyền chia sẻ</a:t>
            </a:r>
          </a:p>
          <a:p>
            <a:r>
              <a:rPr lang="en-US" altLang="en-US" sz="2400"/>
              <a:t>ở chế độ chia sẻ, CSMA/CD được sử dụng; để đạt hiệu quả cao thì khoảng cách giữa các nodes là ngắn</a:t>
            </a:r>
          </a:p>
          <a:p>
            <a:r>
              <a:rPr lang="en-US" altLang="en-US" sz="2400"/>
              <a:t>ở đây, hubs được gọi là “Buffered Distributors”</a:t>
            </a:r>
          </a:p>
          <a:p>
            <a:r>
              <a:rPr lang="en-US" altLang="en-US" sz="2400"/>
              <a:t>đạt tốc độ 1 Gbps ở chế độ truyền song công cho các liên kết điểm – điểm</a:t>
            </a:r>
          </a:p>
          <a:p>
            <a:r>
              <a:rPr lang="en-US" altLang="en-US" sz="2400"/>
              <a:t>hiện tại đã có 10 Gbps!</a:t>
            </a:r>
            <a:endParaRPr lang="en-US"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Slide Number Placeholder 6">
            <a:extLst>
              <a:ext uri="{FF2B5EF4-FFF2-40B4-BE49-F238E27FC236}">
                <a16:creationId xmlns:a16="http://schemas.microsoft.com/office/drawing/2014/main" id="{07044B34-F0C9-4686-9FEA-322D797830E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F295283C-473A-4AF1-BAE0-46807D45618C}" type="slidenum">
              <a:rPr lang="en-US" altLang="en-US" sz="1400" smtClean="0">
                <a:latin typeface="Times New Roman" panose="02020603050405020304" pitchFamily="18" charset="0"/>
              </a:rPr>
              <a:pPr>
                <a:spcBef>
                  <a:spcPct val="0"/>
                </a:spcBef>
                <a:buClrTx/>
                <a:buSzTx/>
                <a:buFontTx/>
                <a:buNone/>
              </a:pPr>
              <a:t>57</a:t>
            </a:fld>
            <a:endParaRPr lang="en-US" altLang="en-US" sz="1400">
              <a:latin typeface="Times New Roman" panose="02020603050405020304" pitchFamily="18" charset="0"/>
            </a:endParaRPr>
          </a:p>
        </p:txBody>
      </p:sp>
      <p:sp>
        <p:nvSpPr>
          <p:cNvPr id="350211" name="Rectangle 2">
            <a:extLst>
              <a:ext uri="{FF2B5EF4-FFF2-40B4-BE49-F238E27FC236}">
                <a16:creationId xmlns:a16="http://schemas.microsoft.com/office/drawing/2014/main" id="{3C573D44-9E07-4085-9577-B06FF8040931}"/>
              </a:ext>
            </a:extLst>
          </p:cNvPr>
          <p:cNvSpPr>
            <a:spLocks noGrp="1" noChangeArrowheads="1"/>
          </p:cNvSpPr>
          <p:nvPr>
            <p:ph type="title"/>
          </p:nvPr>
        </p:nvSpPr>
        <p:spPr>
          <a:xfrm>
            <a:off x="304800" y="228600"/>
            <a:ext cx="8229600" cy="990600"/>
          </a:xfrm>
        </p:spPr>
        <p:txBody>
          <a:bodyPr/>
          <a:lstStyle/>
          <a:p>
            <a:r>
              <a:rPr lang="en-US" altLang="en-US"/>
              <a:t>Tương lai của Ethernet</a:t>
            </a:r>
          </a:p>
        </p:txBody>
      </p:sp>
      <p:sp>
        <p:nvSpPr>
          <p:cNvPr id="350212" name="Rectangle 3">
            <a:extLst>
              <a:ext uri="{FF2B5EF4-FFF2-40B4-BE49-F238E27FC236}">
                <a16:creationId xmlns:a16="http://schemas.microsoft.com/office/drawing/2014/main" id="{DB60ED15-8297-47EB-9260-19611606A3BE}"/>
              </a:ext>
            </a:extLst>
          </p:cNvPr>
          <p:cNvSpPr>
            <a:spLocks noGrp="1" noChangeArrowheads="1"/>
          </p:cNvSpPr>
          <p:nvPr>
            <p:ph type="body" sz="half" idx="1"/>
          </p:nvPr>
        </p:nvSpPr>
        <p:spPr>
          <a:xfrm>
            <a:off x="0" y="3657600"/>
            <a:ext cx="9144000" cy="2667000"/>
          </a:xfrm>
        </p:spPr>
        <p:txBody>
          <a:bodyPr/>
          <a:lstStyle/>
          <a:p>
            <a:r>
              <a:rPr lang="en-US" altLang="en-US"/>
              <a:t>Ethernet đã và đang đi qua một cuộc cách mạng từ công nghệ Legacy → Fast → Gigabit → MultiGigabit. </a:t>
            </a:r>
          </a:p>
          <a:p>
            <a:r>
              <a:rPr lang="en-US" altLang="en-US"/>
              <a:t>Tương lai của môi trường mạng bao gồm: </a:t>
            </a:r>
          </a:p>
          <a:p>
            <a:pPr lvl="1"/>
            <a:r>
              <a:rPr lang="en-US" altLang="en-US" sz="2000"/>
              <a:t>Cáp đồng (tốc độ lên đến 1000 Mbps, có lẻ còn cao hơn) </a:t>
            </a:r>
          </a:p>
          <a:p>
            <a:pPr lvl="1"/>
            <a:r>
              <a:rPr lang="en-US" altLang="en-US" sz="2000"/>
              <a:t>Không dây (đang tiến đến 100 Mbps, có lẻ còn cao hơn) </a:t>
            </a:r>
          </a:p>
          <a:p>
            <a:pPr lvl="1"/>
            <a:r>
              <a:rPr lang="en-US" altLang="en-US" sz="2000"/>
              <a:t>Cáp quang (hiện tại là 10,000 Mbps và sẽ sớm được nâng cao hơn) </a:t>
            </a:r>
          </a:p>
          <a:p>
            <a:endParaRPr lang="en-US" altLang="en-US" sz="2400"/>
          </a:p>
        </p:txBody>
      </p:sp>
      <p:pic>
        <p:nvPicPr>
          <p:cNvPr id="350213" name="Picture 4">
            <a:extLst>
              <a:ext uri="{FF2B5EF4-FFF2-40B4-BE49-F238E27FC236}">
                <a16:creationId xmlns:a16="http://schemas.microsoft.com/office/drawing/2014/main" id="{884490BF-865A-4F51-B1F0-B7ACB54B962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895600" y="1066800"/>
            <a:ext cx="3962400" cy="2579688"/>
          </a:xfr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Slide Number Placeholder 5">
            <a:extLst>
              <a:ext uri="{FF2B5EF4-FFF2-40B4-BE49-F238E27FC236}">
                <a16:creationId xmlns:a16="http://schemas.microsoft.com/office/drawing/2014/main" id="{FCCE39F8-0DE3-4A30-A889-C7F663F8B75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0B1D023F-74E5-4E6F-8358-C55912BA99B8}" type="slidenum">
              <a:rPr lang="en-US" altLang="en-US" sz="1400" smtClean="0">
                <a:latin typeface="Times New Roman" panose="02020603050405020304" pitchFamily="18" charset="0"/>
              </a:rPr>
              <a:pPr>
                <a:spcBef>
                  <a:spcPct val="0"/>
                </a:spcBef>
                <a:buClrTx/>
                <a:buSzTx/>
                <a:buFontTx/>
                <a:buNone/>
              </a:pPr>
              <a:t>58</a:t>
            </a:fld>
            <a:endParaRPr lang="en-US" altLang="en-US" sz="1400">
              <a:latin typeface="Times New Roman" panose="02020603050405020304" pitchFamily="18" charset="0"/>
            </a:endParaRPr>
          </a:p>
        </p:txBody>
      </p:sp>
      <p:sp>
        <p:nvSpPr>
          <p:cNvPr id="351235" name="Rectangle 2">
            <a:extLst>
              <a:ext uri="{FF2B5EF4-FFF2-40B4-BE49-F238E27FC236}">
                <a16:creationId xmlns:a16="http://schemas.microsoft.com/office/drawing/2014/main" id="{50A6B947-AF0F-429A-939C-97113505B343}"/>
              </a:ext>
            </a:extLst>
          </p:cNvPr>
          <p:cNvSpPr>
            <a:spLocks noGrp="1" noChangeArrowheads="1"/>
          </p:cNvSpPr>
          <p:nvPr>
            <p:ph type="title"/>
          </p:nvPr>
        </p:nvSpPr>
        <p:spPr/>
        <p:txBody>
          <a:bodyPr/>
          <a:lstStyle/>
          <a:p>
            <a:r>
              <a:rPr lang="en-US" altLang="en-US"/>
              <a:t>Liên kết các đoạn mạng cục bộ</a:t>
            </a:r>
          </a:p>
        </p:txBody>
      </p:sp>
      <p:sp>
        <p:nvSpPr>
          <p:cNvPr id="351236" name="Rectangle 3">
            <a:extLst>
              <a:ext uri="{FF2B5EF4-FFF2-40B4-BE49-F238E27FC236}">
                <a16:creationId xmlns:a16="http://schemas.microsoft.com/office/drawing/2014/main" id="{5D5306EF-634A-4AB2-B08F-D3CFEF708F62}"/>
              </a:ext>
            </a:extLst>
          </p:cNvPr>
          <p:cNvSpPr>
            <a:spLocks noGrp="1" noChangeArrowheads="1"/>
          </p:cNvSpPr>
          <p:nvPr>
            <p:ph type="body" idx="1"/>
          </p:nvPr>
        </p:nvSpPr>
        <p:spPr>
          <a:xfrm>
            <a:off x="533400" y="1600200"/>
            <a:ext cx="8610600" cy="4648200"/>
          </a:xfrm>
        </p:spPr>
        <p:txBody>
          <a:bodyPr/>
          <a:lstStyle/>
          <a:p>
            <a:r>
              <a:rPr lang="en-US" altLang="en-US"/>
              <a:t>Repeaters</a:t>
            </a:r>
          </a:p>
          <a:p>
            <a:r>
              <a:rPr lang="en-US" altLang="en-US"/>
              <a:t>Hubs</a:t>
            </a:r>
          </a:p>
          <a:p>
            <a:r>
              <a:rPr lang="en-US" altLang="en-US"/>
              <a:t>Bridges</a:t>
            </a:r>
          </a:p>
          <a:p>
            <a:r>
              <a:rPr lang="en-US" altLang="en-US"/>
              <a:t>Switches</a:t>
            </a:r>
          </a:p>
          <a:p>
            <a:pPr lvl="1"/>
            <a:r>
              <a:rPr lang="en-US" altLang="en-US"/>
              <a:t>Nhận xét: switches về bản chất là bridges nhiều cổng.</a:t>
            </a:r>
          </a:p>
          <a:p>
            <a:pPr lvl="1"/>
            <a:r>
              <a:rPr lang="en-US" altLang="en-US"/>
              <a:t>Những gì ta nói về bridges cũng đúng cho switchs!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Slide Number Placeholder 5">
            <a:extLst>
              <a:ext uri="{FF2B5EF4-FFF2-40B4-BE49-F238E27FC236}">
                <a16:creationId xmlns:a16="http://schemas.microsoft.com/office/drawing/2014/main" id="{1B23E93B-5B67-4052-912B-143468EF89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9E9C19CB-9609-42C5-B235-D2864F14DE35}" type="slidenum">
              <a:rPr lang="en-US" altLang="en-US" sz="1400" smtClean="0">
                <a:latin typeface="Times New Roman" panose="02020603050405020304" pitchFamily="18" charset="0"/>
              </a:rPr>
              <a:pPr>
                <a:spcBef>
                  <a:spcPct val="0"/>
                </a:spcBef>
                <a:buClrTx/>
                <a:buSzTx/>
                <a:buFontTx/>
                <a:buNone/>
              </a:pPr>
              <a:t>59</a:t>
            </a:fld>
            <a:endParaRPr lang="en-US" altLang="en-US" sz="1400">
              <a:latin typeface="Times New Roman" panose="02020603050405020304" pitchFamily="18" charset="0"/>
            </a:endParaRPr>
          </a:p>
        </p:txBody>
      </p:sp>
      <p:sp>
        <p:nvSpPr>
          <p:cNvPr id="353283" name="Rectangle 2">
            <a:extLst>
              <a:ext uri="{FF2B5EF4-FFF2-40B4-BE49-F238E27FC236}">
                <a16:creationId xmlns:a16="http://schemas.microsoft.com/office/drawing/2014/main" id="{E4B9661C-C372-49D1-9FDA-5A3D0616FA2E}"/>
              </a:ext>
            </a:extLst>
          </p:cNvPr>
          <p:cNvSpPr>
            <a:spLocks noGrp="1" noChangeArrowheads="1"/>
          </p:cNvSpPr>
          <p:nvPr>
            <p:ph type="title"/>
          </p:nvPr>
        </p:nvSpPr>
        <p:spPr>
          <a:xfrm>
            <a:off x="533400" y="228600"/>
            <a:ext cx="8610600" cy="1143000"/>
          </a:xfrm>
        </p:spPr>
        <p:txBody>
          <a:bodyPr/>
          <a:lstStyle/>
          <a:p>
            <a:r>
              <a:rPr lang="en-US" altLang="en-US" sz="3600"/>
              <a:t>Liên kết các đoạn mạng với repeaters</a:t>
            </a:r>
          </a:p>
        </p:txBody>
      </p:sp>
      <p:sp>
        <p:nvSpPr>
          <p:cNvPr id="353284" name="Rectangle 3">
            <a:extLst>
              <a:ext uri="{FF2B5EF4-FFF2-40B4-BE49-F238E27FC236}">
                <a16:creationId xmlns:a16="http://schemas.microsoft.com/office/drawing/2014/main" id="{626FC8E7-0282-4B07-BC43-1C92BB137DBB}"/>
              </a:ext>
            </a:extLst>
          </p:cNvPr>
          <p:cNvSpPr>
            <a:spLocks noGrp="1" noChangeArrowheads="1"/>
          </p:cNvSpPr>
          <p:nvPr>
            <p:ph type="body" idx="1"/>
          </p:nvPr>
        </p:nvSpPr>
        <p:spPr>
          <a:xfrm>
            <a:off x="0" y="1600200"/>
            <a:ext cx="9144000" cy="4935538"/>
          </a:xfrm>
        </p:spPr>
        <p:txBody>
          <a:bodyPr/>
          <a:lstStyle/>
          <a:p>
            <a:pPr>
              <a:lnSpc>
                <a:spcPct val="90000"/>
              </a:lnSpc>
            </a:pPr>
            <a:r>
              <a:rPr lang="en-US" altLang="en-US" sz="2400">
                <a:solidFill>
                  <a:schemeClr val="accent2"/>
                </a:solidFill>
              </a:rPr>
              <a:t>Repeaters</a:t>
            </a:r>
          </a:p>
          <a:p>
            <a:pPr lvl="1">
              <a:lnSpc>
                <a:spcPct val="90000"/>
              </a:lnSpc>
            </a:pPr>
            <a:r>
              <a:rPr lang="en-US" altLang="en-US" sz="2000"/>
              <a:t>Là thiết bị tầng Vật lý, nhận bits/tín hiệu một đầu, tái tạo và chuyển tiếp ở đầu kia</a:t>
            </a:r>
          </a:p>
          <a:p>
            <a:pPr lvl="1">
              <a:lnSpc>
                <a:spcPct val="90000"/>
              </a:lnSpc>
            </a:pPr>
            <a:r>
              <a:rPr lang="en-US" altLang="en-US" sz="2000"/>
              <a:t>Liên kết các đoạn mạng Ethernet</a:t>
            </a:r>
          </a:p>
          <a:p>
            <a:pPr>
              <a:lnSpc>
                <a:spcPct val="90000"/>
              </a:lnSpc>
            </a:pPr>
            <a:r>
              <a:rPr lang="en-US" altLang="en-US" sz="2400"/>
              <a:t>Miền xung đột</a:t>
            </a:r>
          </a:p>
          <a:p>
            <a:pPr lvl="1">
              <a:lnSpc>
                <a:spcPct val="90000"/>
              </a:lnSpc>
            </a:pPr>
            <a:r>
              <a:rPr lang="en-US" altLang="en-US" sz="2000"/>
              <a:t>Bao gồm một tập các trạm mà nếu có 2 trạm truyền dữ liệu đồng thời thì sẽ có một xung đột</a:t>
            </a:r>
          </a:p>
          <a:p>
            <a:pPr>
              <a:lnSpc>
                <a:spcPct val="90000"/>
              </a:lnSpc>
            </a:pPr>
            <a:r>
              <a:rPr lang="en-US" altLang="en-US" sz="2400"/>
              <a:t>Repeaters mở rộng mạng nhưng đồng thời cũng mở rộng miền xung đột</a:t>
            </a:r>
          </a:p>
          <a:p>
            <a:pPr>
              <a:lnSpc>
                <a:spcPct val="90000"/>
              </a:lnSpc>
            </a:pPr>
            <a:r>
              <a:rPr lang="en-US" altLang="en-US" sz="2400"/>
              <a:t>Mạng Ethernet có đường kính bị giới hạn (thời gian) là 51.2 </a:t>
            </a:r>
            <a:r>
              <a:rPr lang="en-US" altLang="en-US" sz="2400">
                <a:sym typeface="Symbol" panose="05050102010706020507" pitchFamily="18" charset="2"/>
              </a:rPr>
              <a:t>s</a:t>
            </a:r>
          </a:p>
          <a:p>
            <a:pPr lvl="1">
              <a:lnSpc>
                <a:spcPct val="90000"/>
              </a:lnSpc>
            </a:pPr>
            <a:r>
              <a:rPr lang="en-US" altLang="en-US" sz="2000">
                <a:sym typeface="Symbol" panose="05050102010706020507" pitchFamily="18" charset="2"/>
              </a:rPr>
              <a:t>Tối đa chỉ được 4 repeaters</a:t>
            </a:r>
          </a:p>
          <a:p>
            <a:pPr lvl="1">
              <a:lnSpc>
                <a:spcPct val="90000"/>
              </a:lnSpc>
            </a:pPr>
            <a:r>
              <a:rPr lang="en-US" altLang="en-US" sz="2000"/>
              <a:t>Đường kính tối đa </a:t>
            </a:r>
            <a:r>
              <a:rPr lang="en-US" altLang="en-US" sz="2000">
                <a:sym typeface="Symbol" panose="05050102010706020507" pitchFamily="18" charset="2"/>
              </a:rPr>
              <a:t> 2,500 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Slide Number Placeholder 5">
            <a:extLst>
              <a:ext uri="{FF2B5EF4-FFF2-40B4-BE49-F238E27FC236}">
                <a16:creationId xmlns:a16="http://schemas.microsoft.com/office/drawing/2014/main" id="{4E9A3E44-0EDE-40B0-86E6-50496BA178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2E997588-B9DB-4621-9EAC-3E8753751A15}" type="slidenum">
              <a:rPr lang="en-US" altLang="en-US" sz="1400" smtClean="0">
                <a:latin typeface="Times New Roman" panose="02020603050405020304" pitchFamily="18" charset="0"/>
              </a:rPr>
              <a:pPr>
                <a:spcBef>
                  <a:spcPct val="0"/>
                </a:spcBef>
                <a:buClrTx/>
                <a:buSzTx/>
                <a:buFontTx/>
                <a:buNone/>
              </a:pPr>
              <a:t>60</a:t>
            </a:fld>
            <a:endParaRPr lang="en-US" altLang="en-US" sz="1400">
              <a:latin typeface="Times New Roman" panose="02020603050405020304" pitchFamily="18" charset="0"/>
            </a:endParaRPr>
          </a:p>
        </p:txBody>
      </p:sp>
      <p:sp>
        <p:nvSpPr>
          <p:cNvPr id="355331" name="Rectangle 2">
            <a:extLst>
              <a:ext uri="{FF2B5EF4-FFF2-40B4-BE49-F238E27FC236}">
                <a16:creationId xmlns:a16="http://schemas.microsoft.com/office/drawing/2014/main" id="{85AABBF6-E378-449A-BE31-21924786EBAD}"/>
              </a:ext>
            </a:extLst>
          </p:cNvPr>
          <p:cNvSpPr>
            <a:spLocks noGrp="1" noChangeArrowheads="1"/>
          </p:cNvSpPr>
          <p:nvPr>
            <p:ph type="title"/>
          </p:nvPr>
        </p:nvSpPr>
        <p:spPr>
          <a:xfrm>
            <a:off x="508000" y="0"/>
            <a:ext cx="7772400" cy="1143000"/>
          </a:xfrm>
        </p:spPr>
        <p:txBody>
          <a:bodyPr/>
          <a:lstStyle/>
          <a:p>
            <a:r>
              <a:rPr lang="en-US" altLang="en-US"/>
              <a:t>Liên kết các đoạn mạng với hubs</a:t>
            </a:r>
          </a:p>
        </p:txBody>
      </p:sp>
      <p:sp>
        <p:nvSpPr>
          <p:cNvPr id="355332" name="Rectangle 3">
            <a:extLst>
              <a:ext uri="{FF2B5EF4-FFF2-40B4-BE49-F238E27FC236}">
                <a16:creationId xmlns:a16="http://schemas.microsoft.com/office/drawing/2014/main" id="{E708FD62-4205-4007-9398-E33E717747E6}"/>
              </a:ext>
            </a:extLst>
          </p:cNvPr>
          <p:cNvSpPr>
            <a:spLocks noGrp="1" noChangeArrowheads="1"/>
          </p:cNvSpPr>
          <p:nvPr>
            <p:ph type="body" idx="1"/>
          </p:nvPr>
        </p:nvSpPr>
        <p:spPr>
          <a:xfrm>
            <a:off x="239713" y="1246188"/>
            <a:ext cx="8383587" cy="1828800"/>
          </a:xfrm>
        </p:spPr>
        <p:txBody>
          <a:bodyPr/>
          <a:lstStyle/>
          <a:p>
            <a:r>
              <a:rPr lang="en-US" altLang="en-US" sz="2400"/>
              <a:t>Dùng hubs làm xương sống liên kết các đoạn mạng cục bộ</a:t>
            </a:r>
          </a:p>
          <a:p>
            <a:r>
              <a:rPr lang="en-US" altLang="en-US" sz="2400"/>
              <a:t>Mở rộng khoảng cách tối đa giữa các nodes</a:t>
            </a:r>
          </a:p>
          <a:p>
            <a:r>
              <a:rPr lang="en-US" altLang="en-US" sz="2400"/>
              <a:t>Nhưng đồng thời cũng mở rộng miền xung đột</a:t>
            </a:r>
          </a:p>
          <a:p>
            <a:pPr lvl="1"/>
            <a:r>
              <a:rPr lang="en-US" altLang="en-US" sz="2000"/>
              <a:t>Nếu một nút ở CS và một nút ở EE truyền đồng thời: xung đột</a:t>
            </a:r>
          </a:p>
          <a:p>
            <a:r>
              <a:rPr lang="en-US" altLang="en-US" sz="2400"/>
              <a:t>Không thể liên kết 10BaseT &amp; 100BaseT</a:t>
            </a:r>
            <a:endParaRPr lang="en-US" altLang="en-US"/>
          </a:p>
        </p:txBody>
      </p:sp>
      <p:pic>
        <p:nvPicPr>
          <p:cNvPr id="355333" name="Picture 4" descr="561 hubTier">
            <a:extLst>
              <a:ext uri="{FF2B5EF4-FFF2-40B4-BE49-F238E27FC236}">
                <a16:creationId xmlns:a16="http://schemas.microsoft.com/office/drawing/2014/main" id="{E6684E3E-A881-4177-80BA-4906BEAE4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600" y="3927475"/>
            <a:ext cx="6402388"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Slide Number Placeholder 5">
            <a:extLst>
              <a:ext uri="{FF2B5EF4-FFF2-40B4-BE49-F238E27FC236}">
                <a16:creationId xmlns:a16="http://schemas.microsoft.com/office/drawing/2014/main" id="{5DF801B3-E2FF-4BA7-B261-F693AC99DD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E4BE8BC5-4985-4AA3-ABE4-12C885F0B394}" type="slidenum">
              <a:rPr lang="en-US" altLang="en-US" sz="1400" smtClean="0">
                <a:latin typeface="Times New Roman" panose="02020603050405020304" pitchFamily="18" charset="0"/>
              </a:rPr>
              <a:pPr>
                <a:spcBef>
                  <a:spcPct val="0"/>
                </a:spcBef>
                <a:buClrTx/>
                <a:buSzTx/>
                <a:buFontTx/>
                <a:buNone/>
              </a:pPr>
              <a:t>61</a:t>
            </a:fld>
            <a:endParaRPr lang="en-US" altLang="en-US" sz="1400">
              <a:latin typeface="Times New Roman" panose="02020603050405020304" pitchFamily="18" charset="0"/>
            </a:endParaRPr>
          </a:p>
        </p:txBody>
      </p:sp>
      <p:sp>
        <p:nvSpPr>
          <p:cNvPr id="356355" name="Rectangle 2">
            <a:extLst>
              <a:ext uri="{FF2B5EF4-FFF2-40B4-BE49-F238E27FC236}">
                <a16:creationId xmlns:a16="http://schemas.microsoft.com/office/drawing/2014/main" id="{ED97C748-C8A9-4840-A961-F3B9FDADA69B}"/>
              </a:ext>
            </a:extLst>
          </p:cNvPr>
          <p:cNvSpPr>
            <a:spLocks noGrp="1" noChangeArrowheads="1"/>
          </p:cNvSpPr>
          <p:nvPr>
            <p:ph type="title"/>
          </p:nvPr>
        </p:nvSpPr>
        <p:spPr>
          <a:xfrm>
            <a:off x="546100" y="0"/>
            <a:ext cx="7772400" cy="1143000"/>
          </a:xfrm>
        </p:spPr>
        <p:txBody>
          <a:bodyPr/>
          <a:lstStyle/>
          <a:p>
            <a:r>
              <a:rPr lang="en-US" altLang="en-US"/>
              <a:t>Bridges</a:t>
            </a:r>
          </a:p>
        </p:txBody>
      </p:sp>
      <p:sp>
        <p:nvSpPr>
          <p:cNvPr id="356356" name="Rectangle 3">
            <a:extLst>
              <a:ext uri="{FF2B5EF4-FFF2-40B4-BE49-F238E27FC236}">
                <a16:creationId xmlns:a16="http://schemas.microsoft.com/office/drawing/2014/main" id="{A74102B3-2235-4708-B052-DC206937D671}"/>
              </a:ext>
            </a:extLst>
          </p:cNvPr>
          <p:cNvSpPr>
            <a:spLocks noGrp="1" noChangeArrowheads="1"/>
          </p:cNvSpPr>
          <p:nvPr>
            <p:ph type="body" idx="1"/>
          </p:nvPr>
        </p:nvSpPr>
        <p:spPr>
          <a:xfrm>
            <a:off x="0" y="1231900"/>
            <a:ext cx="9144000" cy="3803650"/>
          </a:xfrm>
        </p:spPr>
        <p:txBody>
          <a:bodyPr/>
          <a:lstStyle/>
          <a:p>
            <a:r>
              <a:rPr lang="en-US" altLang="en-US" sz="2400">
                <a:solidFill>
                  <a:srgbClr val="FF0000"/>
                </a:solidFill>
              </a:rPr>
              <a:t>Là thiết bị ở tầng liên kết dữ liệu</a:t>
            </a:r>
          </a:p>
          <a:p>
            <a:pPr lvl="1"/>
            <a:r>
              <a:rPr lang="en-US" altLang="en-US"/>
              <a:t>lưu giữ và chuyển tiếp các khung Ethernet</a:t>
            </a:r>
          </a:p>
          <a:p>
            <a:pPr lvl="1"/>
            <a:r>
              <a:rPr lang="en-US" altLang="en-US"/>
              <a:t>kiểm tra phần thông tin điều khiển của khung và chuyển tiếp có </a:t>
            </a:r>
            <a:r>
              <a:rPr lang="en-US" altLang="en-US">
                <a:solidFill>
                  <a:srgbClr val="FF0000"/>
                </a:solidFill>
              </a:rPr>
              <a:t>lựa chọn</a:t>
            </a:r>
            <a:r>
              <a:rPr lang="en-US" altLang="en-US"/>
              <a:t> các khung dựa trên địa chỉ MAC đích</a:t>
            </a:r>
          </a:p>
          <a:p>
            <a:pPr lvl="1"/>
            <a:r>
              <a:rPr lang="en-US" altLang="en-US"/>
              <a:t>khi khung sẽ được chuyển tiếp trên một đoạn mạng nào đó, sử dụng CSMA/CD để truy cập đoạn mạng đó</a:t>
            </a:r>
            <a:endParaRPr lang="en-US" altLang="en-US" sz="2000"/>
          </a:p>
          <a:p>
            <a:r>
              <a:rPr lang="en-US" altLang="en-US" sz="2400"/>
              <a:t>Trong suốt</a:t>
            </a:r>
          </a:p>
          <a:p>
            <a:pPr lvl="1"/>
            <a:r>
              <a:rPr lang="en-US" altLang="en-US"/>
              <a:t>các trạm không biết đến có sự hiện diện của bridges</a:t>
            </a:r>
            <a:endParaRPr lang="en-US" altLang="en-US" sz="2000"/>
          </a:p>
          <a:p>
            <a:r>
              <a:rPr lang="en-US" altLang="en-US" sz="2400"/>
              <a:t>Cắm vào là chạy, tự học</a:t>
            </a:r>
          </a:p>
          <a:p>
            <a:pPr lvl="1"/>
            <a:r>
              <a:rPr lang="en-US" altLang="en-US"/>
              <a:t>bridges không cần phải được cấu hình</a:t>
            </a:r>
          </a:p>
          <a:p>
            <a:endParaRPr lang="en-US" altLang="en-US"/>
          </a:p>
          <a:p>
            <a:endParaRPr lang="en-US" altLang="en-US" sz="2400"/>
          </a:p>
          <a:p>
            <a:endParaRPr lang="en-US" altLang="en-US" sz="2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Slide Number Placeholder 5">
            <a:extLst>
              <a:ext uri="{FF2B5EF4-FFF2-40B4-BE49-F238E27FC236}">
                <a16:creationId xmlns:a16="http://schemas.microsoft.com/office/drawing/2014/main" id="{04B873D1-2CED-43A2-AC0D-16CF2129E42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73255BFF-493B-4FAC-BC83-DCBFF3747AA3}" type="slidenum">
              <a:rPr lang="en-US" altLang="en-US" sz="1400" smtClean="0">
                <a:latin typeface="Times New Roman" panose="02020603050405020304" pitchFamily="18" charset="0"/>
              </a:rPr>
              <a:pPr>
                <a:spcBef>
                  <a:spcPct val="0"/>
                </a:spcBef>
                <a:buClrTx/>
                <a:buSzTx/>
                <a:buFontTx/>
                <a:buNone/>
              </a:pPr>
              <a:t>62</a:t>
            </a:fld>
            <a:endParaRPr lang="en-US" altLang="en-US" sz="1400">
              <a:latin typeface="Times New Roman" panose="02020603050405020304" pitchFamily="18" charset="0"/>
            </a:endParaRPr>
          </a:p>
        </p:txBody>
      </p:sp>
      <p:sp>
        <p:nvSpPr>
          <p:cNvPr id="358403" name="Rectangle 2">
            <a:extLst>
              <a:ext uri="{FF2B5EF4-FFF2-40B4-BE49-F238E27FC236}">
                <a16:creationId xmlns:a16="http://schemas.microsoft.com/office/drawing/2014/main" id="{C168E652-AE17-4661-BF50-9E2A3C497492}"/>
              </a:ext>
            </a:extLst>
          </p:cNvPr>
          <p:cNvSpPr>
            <a:spLocks noGrp="1" noChangeArrowheads="1"/>
          </p:cNvSpPr>
          <p:nvPr>
            <p:ph type="title"/>
          </p:nvPr>
        </p:nvSpPr>
        <p:spPr>
          <a:xfrm>
            <a:off x="546100" y="0"/>
            <a:ext cx="7772400" cy="1143000"/>
          </a:xfrm>
        </p:spPr>
        <p:txBody>
          <a:bodyPr/>
          <a:lstStyle/>
          <a:p>
            <a:r>
              <a:rPr lang="en-US" altLang="en-US"/>
              <a:t>Bridges: tách biệt lưu lượng</a:t>
            </a:r>
          </a:p>
        </p:txBody>
      </p:sp>
      <p:sp>
        <p:nvSpPr>
          <p:cNvPr id="358404" name="Rectangle 3">
            <a:extLst>
              <a:ext uri="{FF2B5EF4-FFF2-40B4-BE49-F238E27FC236}">
                <a16:creationId xmlns:a16="http://schemas.microsoft.com/office/drawing/2014/main" id="{CE3F3313-F1A9-403E-B59C-D4A779C8C562}"/>
              </a:ext>
            </a:extLst>
          </p:cNvPr>
          <p:cNvSpPr>
            <a:spLocks noGrp="1" noChangeArrowheads="1"/>
          </p:cNvSpPr>
          <p:nvPr>
            <p:ph type="body" idx="1"/>
          </p:nvPr>
        </p:nvSpPr>
        <p:spPr>
          <a:xfrm>
            <a:off x="0" y="1219200"/>
            <a:ext cx="9144000" cy="2351088"/>
          </a:xfrm>
        </p:spPr>
        <p:txBody>
          <a:bodyPr/>
          <a:lstStyle/>
          <a:p>
            <a:pPr>
              <a:lnSpc>
                <a:spcPct val="90000"/>
              </a:lnSpc>
            </a:pPr>
            <a:r>
              <a:rPr lang="en-US" altLang="en-US" sz="2400"/>
              <a:t>Việc lắp đặt bridge sẽ chia cắt mạng LAN ra thành nhiều đoạn</a:t>
            </a:r>
          </a:p>
          <a:p>
            <a:pPr>
              <a:lnSpc>
                <a:spcPct val="90000"/>
              </a:lnSpc>
            </a:pPr>
            <a:r>
              <a:rPr lang="en-US" altLang="en-US" sz="2400"/>
              <a:t>bridges sẽ </a:t>
            </a:r>
            <a:r>
              <a:rPr lang="en-US" altLang="en-US" sz="2400">
                <a:solidFill>
                  <a:srgbClr val="FF0000"/>
                </a:solidFill>
              </a:rPr>
              <a:t>lọc</a:t>
            </a:r>
            <a:r>
              <a:rPr lang="en-US" altLang="en-US" sz="2400"/>
              <a:t> các khung dữ liệu:</a:t>
            </a:r>
            <a:r>
              <a:rPr lang="en-US" altLang="en-US"/>
              <a:t> </a:t>
            </a:r>
          </a:p>
          <a:p>
            <a:pPr lvl="1">
              <a:lnSpc>
                <a:spcPct val="90000"/>
              </a:lnSpc>
            </a:pPr>
            <a:r>
              <a:rPr lang="en-US" altLang="en-US"/>
              <a:t>Những frames được gởi cho các nút trong cùng một đoạn mạng cục bộ thường thì không được chuyển tiếp đến các đoạn mạng cục bộ khác</a:t>
            </a:r>
          </a:p>
          <a:p>
            <a:pPr lvl="1">
              <a:lnSpc>
                <a:spcPct val="90000"/>
              </a:lnSpc>
            </a:pPr>
            <a:r>
              <a:rPr lang="en-US" altLang="en-US"/>
              <a:t>Các đoạn trở thành </a:t>
            </a:r>
            <a:r>
              <a:rPr lang="en-US" altLang="en-US">
                <a:solidFill>
                  <a:srgbClr val="FF0000"/>
                </a:solidFill>
              </a:rPr>
              <a:t>các</a:t>
            </a:r>
            <a:r>
              <a:rPr lang="en-US" altLang="en-US"/>
              <a:t> </a:t>
            </a:r>
            <a:r>
              <a:rPr lang="en-US" altLang="en-US">
                <a:solidFill>
                  <a:srgbClr val="FF0000"/>
                </a:solidFill>
              </a:rPr>
              <a:t>miền xung đột </a:t>
            </a:r>
            <a:r>
              <a:rPr lang="en-US" altLang="en-US"/>
              <a:t>tách biệt</a:t>
            </a:r>
            <a:endParaRPr lang="en-US" altLang="en-US" sz="2000"/>
          </a:p>
        </p:txBody>
      </p:sp>
      <p:grpSp>
        <p:nvGrpSpPr>
          <p:cNvPr id="358405" name="Group 4">
            <a:extLst>
              <a:ext uri="{FF2B5EF4-FFF2-40B4-BE49-F238E27FC236}">
                <a16:creationId xmlns:a16="http://schemas.microsoft.com/office/drawing/2014/main" id="{6F2C0729-548F-4AF5-82CC-1305327AD12F}"/>
              </a:ext>
            </a:extLst>
          </p:cNvPr>
          <p:cNvGrpSpPr>
            <a:grpSpLocks/>
          </p:cNvGrpSpPr>
          <p:nvPr/>
        </p:nvGrpSpPr>
        <p:grpSpPr bwMode="auto">
          <a:xfrm>
            <a:off x="1004888" y="3905250"/>
            <a:ext cx="7056437" cy="1423988"/>
            <a:chOff x="872" y="2977"/>
            <a:chExt cx="4445" cy="897"/>
          </a:xfrm>
        </p:grpSpPr>
        <p:grpSp>
          <p:nvGrpSpPr>
            <p:cNvPr id="358417" name="Group 5">
              <a:extLst>
                <a:ext uri="{FF2B5EF4-FFF2-40B4-BE49-F238E27FC236}">
                  <a16:creationId xmlns:a16="http://schemas.microsoft.com/office/drawing/2014/main" id="{1BC9F896-57C1-4F7C-8622-AB7CE819E953}"/>
                </a:ext>
              </a:extLst>
            </p:cNvPr>
            <p:cNvGrpSpPr>
              <a:grpSpLocks/>
            </p:cNvGrpSpPr>
            <p:nvPr/>
          </p:nvGrpSpPr>
          <p:grpSpPr bwMode="auto">
            <a:xfrm>
              <a:off x="872" y="2977"/>
              <a:ext cx="3518" cy="897"/>
              <a:chOff x="1065" y="1754"/>
              <a:chExt cx="3518" cy="897"/>
            </a:xfrm>
          </p:grpSpPr>
          <p:sp>
            <p:nvSpPr>
              <p:cNvPr id="358423" name="Oval 6">
                <a:extLst>
                  <a:ext uri="{FF2B5EF4-FFF2-40B4-BE49-F238E27FC236}">
                    <a16:creationId xmlns:a16="http://schemas.microsoft.com/office/drawing/2014/main" id="{A8B629B1-BE2F-4209-92CF-E22F9AAC172B}"/>
                  </a:ext>
                </a:extLst>
              </p:cNvPr>
              <p:cNvSpPr>
                <a:spLocks noChangeArrowheads="1"/>
              </p:cNvSpPr>
              <p:nvPr/>
            </p:nvSpPr>
            <p:spPr bwMode="auto">
              <a:xfrm>
                <a:off x="1065" y="1758"/>
                <a:ext cx="1446" cy="893"/>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1800"/>
              </a:p>
            </p:txBody>
          </p:sp>
          <p:sp>
            <p:nvSpPr>
              <p:cNvPr id="358424" name="Oval 7">
                <a:extLst>
                  <a:ext uri="{FF2B5EF4-FFF2-40B4-BE49-F238E27FC236}">
                    <a16:creationId xmlns:a16="http://schemas.microsoft.com/office/drawing/2014/main" id="{441FD2E2-A517-4EC3-B3C8-494329009765}"/>
                  </a:ext>
                </a:extLst>
              </p:cNvPr>
              <p:cNvSpPr>
                <a:spLocks noChangeArrowheads="1"/>
              </p:cNvSpPr>
              <p:nvPr/>
            </p:nvSpPr>
            <p:spPr bwMode="auto">
              <a:xfrm>
                <a:off x="3123" y="1754"/>
                <a:ext cx="1446" cy="893"/>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1800"/>
              </a:p>
            </p:txBody>
          </p:sp>
          <p:sp>
            <p:nvSpPr>
              <p:cNvPr id="358425" name="Rectangle 8">
                <a:extLst>
                  <a:ext uri="{FF2B5EF4-FFF2-40B4-BE49-F238E27FC236}">
                    <a16:creationId xmlns:a16="http://schemas.microsoft.com/office/drawing/2014/main" id="{BDC95350-2A40-4024-8480-D7AA3769C3CF}"/>
                  </a:ext>
                </a:extLst>
              </p:cNvPr>
              <p:cNvSpPr>
                <a:spLocks noChangeArrowheads="1"/>
              </p:cNvSpPr>
              <p:nvPr/>
            </p:nvSpPr>
            <p:spPr bwMode="auto">
              <a:xfrm>
                <a:off x="2509" y="2065"/>
                <a:ext cx="624" cy="271"/>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bridge</a:t>
                </a:r>
              </a:p>
            </p:txBody>
          </p:sp>
          <p:sp>
            <p:nvSpPr>
              <p:cNvPr id="358426" name="Rectangle 9">
                <a:extLst>
                  <a:ext uri="{FF2B5EF4-FFF2-40B4-BE49-F238E27FC236}">
                    <a16:creationId xmlns:a16="http://schemas.microsoft.com/office/drawing/2014/main" id="{7C7C8395-8684-4998-B8F0-90134218605E}"/>
                  </a:ext>
                </a:extLst>
              </p:cNvPr>
              <p:cNvSpPr>
                <a:spLocks noChangeArrowheads="1"/>
              </p:cNvSpPr>
              <p:nvPr/>
            </p:nvSpPr>
            <p:spPr bwMode="auto">
              <a:xfrm>
                <a:off x="2124" y="2137"/>
                <a:ext cx="98" cy="12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58427" name="Oval 10">
                <a:extLst>
                  <a:ext uri="{FF2B5EF4-FFF2-40B4-BE49-F238E27FC236}">
                    <a16:creationId xmlns:a16="http://schemas.microsoft.com/office/drawing/2014/main" id="{A4311215-7178-4D6E-A55B-072409A77512}"/>
                  </a:ext>
                </a:extLst>
              </p:cNvPr>
              <p:cNvSpPr>
                <a:spLocks noChangeArrowheads="1"/>
              </p:cNvSpPr>
              <p:nvPr/>
            </p:nvSpPr>
            <p:spPr bwMode="auto">
              <a:xfrm>
                <a:off x="1874" y="1875"/>
                <a:ext cx="80" cy="91"/>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58428" name="Oval 11">
                <a:extLst>
                  <a:ext uri="{FF2B5EF4-FFF2-40B4-BE49-F238E27FC236}">
                    <a16:creationId xmlns:a16="http://schemas.microsoft.com/office/drawing/2014/main" id="{22108C1F-0056-4378-9AE1-ADCC9CAE5670}"/>
                  </a:ext>
                </a:extLst>
              </p:cNvPr>
              <p:cNvSpPr>
                <a:spLocks noChangeArrowheads="1"/>
              </p:cNvSpPr>
              <p:nvPr/>
            </p:nvSpPr>
            <p:spPr bwMode="auto">
              <a:xfrm>
                <a:off x="1719" y="2200"/>
                <a:ext cx="80" cy="91"/>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58429" name="Oval 12">
                <a:extLst>
                  <a:ext uri="{FF2B5EF4-FFF2-40B4-BE49-F238E27FC236}">
                    <a16:creationId xmlns:a16="http://schemas.microsoft.com/office/drawing/2014/main" id="{E4D19876-A387-4B92-895E-E8C230E7FC05}"/>
                  </a:ext>
                </a:extLst>
              </p:cNvPr>
              <p:cNvSpPr>
                <a:spLocks noChangeArrowheads="1"/>
              </p:cNvSpPr>
              <p:nvPr/>
            </p:nvSpPr>
            <p:spPr bwMode="auto">
              <a:xfrm>
                <a:off x="1833" y="2481"/>
                <a:ext cx="80" cy="91"/>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58430" name="Oval 13">
                <a:extLst>
                  <a:ext uri="{FF2B5EF4-FFF2-40B4-BE49-F238E27FC236}">
                    <a16:creationId xmlns:a16="http://schemas.microsoft.com/office/drawing/2014/main" id="{2163424E-BFC5-4573-8E12-35E29CB55908}"/>
                  </a:ext>
                </a:extLst>
              </p:cNvPr>
              <p:cNvSpPr>
                <a:spLocks noChangeArrowheads="1"/>
              </p:cNvSpPr>
              <p:nvPr/>
            </p:nvSpPr>
            <p:spPr bwMode="auto">
              <a:xfrm>
                <a:off x="3653" y="1828"/>
                <a:ext cx="80" cy="91"/>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58431" name="Oval 14">
                <a:extLst>
                  <a:ext uri="{FF2B5EF4-FFF2-40B4-BE49-F238E27FC236}">
                    <a16:creationId xmlns:a16="http://schemas.microsoft.com/office/drawing/2014/main" id="{D100F2D6-8C3A-4EB8-8F11-006958ADE82C}"/>
                  </a:ext>
                </a:extLst>
              </p:cNvPr>
              <p:cNvSpPr>
                <a:spLocks noChangeArrowheads="1"/>
              </p:cNvSpPr>
              <p:nvPr/>
            </p:nvSpPr>
            <p:spPr bwMode="auto">
              <a:xfrm>
                <a:off x="3819" y="2215"/>
                <a:ext cx="80" cy="91"/>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58432" name="Rectangle 15">
                <a:extLst>
                  <a:ext uri="{FF2B5EF4-FFF2-40B4-BE49-F238E27FC236}">
                    <a16:creationId xmlns:a16="http://schemas.microsoft.com/office/drawing/2014/main" id="{787DCDAB-615C-4239-998D-858D7DC82F5A}"/>
                  </a:ext>
                </a:extLst>
              </p:cNvPr>
              <p:cNvSpPr>
                <a:spLocks noChangeArrowheads="1"/>
              </p:cNvSpPr>
              <p:nvPr/>
            </p:nvSpPr>
            <p:spPr bwMode="auto">
              <a:xfrm>
                <a:off x="3395" y="2130"/>
                <a:ext cx="98" cy="12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58433" name="Oval 16">
                <a:extLst>
                  <a:ext uri="{FF2B5EF4-FFF2-40B4-BE49-F238E27FC236}">
                    <a16:creationId xmlns:a16="http://schemas.microsoft.com/office/drawing/2014/main" id="{F426EB5B-35DA-4332-BA02-0D3AE251C14C}"/>
                  </a:ext>
                </a:extLst>
              </p:cNvPr>
              <p:cNvSpPr>
                <a:spLocks noChangeArrowheads="1"/>
              </p:cNvSpPr>
              <p:nvPr/>
            </p:nvSpPr>
            <p:spPr bwMode="auto">
              <a:xfrm>
                <a:off x="3738" y="2468"/>
                <a:ext cx="80" cy="91"/>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58434" name="Line 17">
                <a:extLst>
                  <a:ext uri="{FF2B5EF4-FFF2-40B4-BE49-F238E27FC236}">
                    <a16:creationId xmlns:a16="http://schemas.microsoft.com/office/drawing/2014/main" id="{F768446C-0683-49F0-8A07-90399DCCC464}"/>
                  </a:ext>
                </a:extLst>
              </p:cNvPr>
              <p:cNvSpPr>
                <a:spLocks noChangeShapeType="1"/>
              </p:cNvSpPr>
              <p:nvPr/>
            </p:nvSpPr>
            <p:spPr bwMode="auto">
              <a:xfrm>
                <a:off x="2232" y="2196"/>
                <a:ext cx="2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35" name="Line 18">
                <a:extLst>
                  <a:ext uri="{FF2B5EF4-FFF2-40B4-BE49-F238E27FC236}">
                    <a16:creationId xmlns:a16="http://schemas.microsoft.com/office/drawing/2014/main" id="{C5D333BC-3B55-48F6-844C-D6B5C781607C}"/>
                  </a:ext>
                </a:extLst>
              </p:cNvPr>
              <p:cNvSpPr>
                <a:spLocks noChangeShapeType="1"/>
              </p:cNvSpPr>
              <p:nvPr/>
            </p:nvSpPr>
            <p:spPr bwMode="auto">
              <a:xfrm>
                <a:off x="3142" y="2196"/>
                <a:ext cx="2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36" name="Line 19">
                <a:extLst>
                  <a:ext uri="{FF2B5EF4-FFF2-40B4-BE49-F238E27FC236}">
                    <a16:creationId xmlns:a16="http://schemas.microsoft.com/office/drawing/2014/main" id="{0F098021-996F-477F-973E-A5AD225B3E2E}"/>
                  </a:ext>
                </a:extLst>
              </p:cNvPr>
              <p:cNvSpPr>
                <a:spLocks noChangeShapeType="1"/>
              </p:cNvSpPr>
              <p:nvPr/>
            </p:nvSpPr>
            <p:spPr bwMode="auto">
              <a:xfrm flipH="1" flipV="1">
                <a:off x="1937" y="1945"/>
                <a:ext cx="188" cy="2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37" name="Line 20">
                <a:extLst>
                  <a:ext uri="{FF2B5EF4-FFF2-40B4-BE49-F238E27FC236}">
                    <a16:creationId xmlns:a16="http://schemas.microsoft.com/office/drawing/2014/main" id="{E5DAE7CB-EF54-4517-9B98-72EF2ADDD6D4}"/>
                  </a:ext>
                </a:extLst>
              </p:cNvPr>
              <p:cNvSpPr>
                <a:spLocks noChangeShapeType="1"/>
              </p:cNvSpPr>
              <p:nvPr/>
            </p:nvSpPr>
            <p:spPr bwMode="auto">
              <a:xfrm flipH="1">
                <a:off x="1758" y="2206"/>
                <a:ext cx="375" cy="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38" name="Line 21">
                <a:extLst>
                  <a:ext uri="{FF2B5EF4-FFF2-40B4-BE49-F238E27FC236}">
                    <a16:creationId xmlns:a16="http://schemas.microsoft.com/office/drawing/2014/main" id="{223010A2-5759-486C-A9B4-E88334F53B31}"/>
                  </a:ext>
                </a:extLst>
              </p:cNvPr>
              <p:cNvSpPr>
                <a:spLocks noChangeShapeType="1"/>
              </p:cNvSpPr>
              <p:nvPr/>
            </p:nvSpPr>
            <p:spPr bwMode="auto">
              <a:xfrm flipH="1">
                <a:off x="1883" y="2246"/>
                <a:ext cx="269" cy="2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39" name="Line 22">
                <a:extLst>
                  <a:ext uri="{FF2B5EF4-FFF2-40B4-BE49-F238E27FC236}">
                    <a16:creationId xmlns:a16="http://schemas.microsoft.com/office/drawing/2014/main" id="{E53755F7-C204-46C3-B4F8-985768827315}"/>
                  </a:ext>
                </a:extLst>
              </p:cNvPr>
              <p:cNvSpPr>
                <a:spLocks noChangeShapeType="1"/>
              </p:cNvSpPr>
              <p:nvPr/>
            </p:nvSpPr>
            <p:spPr bwMode="auto">
              <a:xfrm flipV="1">
                <a:off x="3480" y="1885"/>
                <a:ext cx="196" cy="2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40" name="Line 23">
                <a:extLst>
                  <a:ext uri="{FF2B5EF4-FFF2-40B4-BE49-F238E27FC236}">
                    <a16:creationId xmlns:a16="http://schemas.microsoft.com/office/drawing/2014/main" id="{C282EBAE-AB4F-4157-96EB-BF9960B2AC05}"/>
                  </a:ext>
                </a:extLst>
              </p:cNvPr>
              <p:cNvSpPr>
                <a:spLocks noChangeShapeType="1"/>
              </p:cNvSpPr>
              <p:nvPr/>
            </p:nvSpPr>
            <p:spPr bwMode="auto">
              <a:xfrm>
                <a:off x="3480" y="2196"/>
                <a:ext cx="392"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41" name="Line 24">
                <a:extLst>
                  <a:ext uri="{FF2B5EF4-FFF2-40B4-BE49-F238E27FC236}">
                    <a16:creationId xmlns:a16="http://schemas.microsoft.com/office/drawing/2014/main" id="{F69387EF-23CB-4AA8-B5B0-5A7A955DB593}"/>
                  </a:ext>
                </a:extLst>
              </p:cNvPr>
              <p:cNvSpPr>
                <a:spLocks noChangeShapeType="1"/>
              </p:cNvSpPr>
              <p:nvPr/>
            </p:nvSpPr>
            <p:spPr bwMode="auto">
              <a:xfrm>
                <a:off x="3483" y="2226"/>
                <a:ext cx="296" cy="2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42" name="Text Box 25">
                <a:extLst>
                  <a:ext uri="{FF2B5EF4-FFF2-40B4-BE49-F238E27FC236}">
                    <a16:creationId xmlns:a16="http://schemas.microsoft.com/office/drawing/2014/main" id="{427A5101-0AF3-4D19-9ECB-EB1EA2DEDCD0}"/>
                  </a:ext>
                </a:extLst>
              </p:cNvPr>
              <p:cNvSpPr txBox="1">
                <a:spLocks noChangeArrowheads="1"/>
              </p:cNvSpPr>
              <p:nvPr/>
            </p:nvSpPr>
            <p:spPr bwMode="auto">
              <a:xfrm>
                <a:off x="3895" y="2003"/>
                <a:ext cx="68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collision </a:t>
                </a:r>
              </a:p>
              <a:p>
                <a:pPr>
                  <a:spcBef>
                    <a:spcPct val="0"/>
                  </a:spcBef>
                  <a:buClrTx/>
                  <a:buSzTx/>
                  <a:buFontTx/>
                  <a:buNone/>
                </a:pPr>
                <a:r>
                  <a:rPr lang="en-US" altLang="en-US" sz="1800"/>
                  <a:t>domain</a:t>
                </a:r>
              </a:p>
            </p:txBody>
          </p:sp>
          <p:sp>
            <p:nvSpPr>
              <p:cNvPr id="358443" name="Text Box 26">
                <a:extLst>
                  <a:ext uri="{FF2B5EF4-FFF2-40B4-BE49-F238E27FC236}">
                    <a16:creationId xmlns:a16="http://schemas.microsoft.com/office/drawing/2014/main" id="{CA722EFA-0F5D-4B17-BB36-0D6735F7B5CD}"/>
                  </a:ext>
                </a:extLst>
              </p:cNvPr>
              <p:cNvSpPr txBox="1">
                <a:spLocks noChangeArrowheads="1"/>
              </p:cNvSpPr>
              <p:nvPr/>
            </p:nvSpPr>
            <p:spPr bwMode="auto">
              <a:xfrm>
                <a:off x="1145" y="1984"/>
                <a:ext cx="68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collision </a:t>
                </a:r>
              </a:p>
              <a:p>
                <a:pPr>
                  <a:spcBef>
                    <a:spcPct val="0"/>
                  </a:spcBef>
                  <a:buClrTx/>
                  <a:buSzTx/>
                  <a:buFontTx/>
                  <a:buNone/>
                </a:pPr>
                <a:r>
                  <a:rPr lang="en-US" altLang="en-US" sz="1800"/>
                  <a:t>domain</a:t>
                </a:r>
              </a:p>
            </p:txBody>
          </p:sp>
        </p:grpSp>
        <p:grpSp>
          <p:nvGrpSpPr>
            <p:cNvPr id="358418" name="Group 27">
              <a:extLst>
                <a:ext uri="{FF2B5EF4-FFF2-40B4-BE49-F238E27FC236}">
                  <a16:creationId xmlns:a16="http://schemas.microsoft.com/office/drawing/2014/main" id="{8CE184CC-261F-496C-A2E6-B060E473B88F}"/>
                </a:ext>
              </a:extLst>
            </p:cNvPr>
            <p:cNvGrpSpPr>
              <a:grpSpLocks/>
            </p:cNvGrpSpPr>
            <p:nvPr/>
          </p:nvGrpSpPr>
          <p:grpSpPr bwMode="auto">
            <a:xfrm>
              <a:off x="4676" y="3164"/>
              <a:ext cx="641" cy="485"/>
              <a:chOff x="4715" y="2103"/>
              <a:chExt cx="641" cy="485"/>
            </a:xfrm>
          </p:grpSpPr>
          <p:sp>
            <p:nvSpPr>
              <p:cNvPr id="358419" name="Rectangle 28">
                <a:extLst>
                  <a:ext uri="{FF2B5EF4-FFF2-40B4-BE49-F238E27FC236}">
                    <a16:creationId xmlns:a16="http://schemas.microsoft.com/office/drawing/2014/main" id="{FD4D587C-3DE4-4724-A159-9F104B347570}"/>
                  </a:ext>
                </a:extLst>
              </p:cNvPr>
              <p:cNvSpPr>
                <a:spLocks noChangeArrowheads="1"/>
              </p:cNvSpPr>
              <p:nvPr/>
            </p:nvSpPr>
            <p:spPr bwMode="auto">
              <a:xfrm>
                <a:off x="4715" y="2146"/>
                <a:ext cx="123" cy="13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58420" name="Oval 29">
                <a:extLst>
                  <a:ext uri="{FF2B5EF4-FFF2-40B4-BE49-F238E27FC236}">
                    <a16:creationId xmlns:a16="http://schemas.microsoft.com/office/drawing/2014/main" id="{23BE833A-E6E2-4994-B74C-A283A2F15D75}"/>
                  </a:ext>
                </a:extLst>
              </p:cNvPr>
              <p:cNvSpPr>
                <a:spLocks noChangeArrowheads="1"/>
              </p:cNvSpPr>
              <p:nvPr/>
            </p:nvSpPr>
            <p:spPr bwMode="auto">
              <a:xfrm>
                <a:off x="4746" y="2438"/>
                <a:ext cx="84" cy="77"/>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58421" name="Text Box 30">
                <a:extLst>
                  <a:ext uri="{FF2B5EF4-FFF2-40B4-BE49-F238E27FC236}">
                    <a16:creationId xmlns:a16="http://schemas.microsoft.com/office/drawing/2014/main" id="{FC0F1B8A-FFC6-402E-95EE-3C68A428FF35}"/>
                  </a:ext>
                </a:extLst>
              </p:cNvPr>
              <p:cNvSpPr txBox="1">
                <a:spLocks noChangeArrowheads="1"/>
              </p:cNvSpPr>
              <p:nvPr/>
            </p:nvSpPr>
            <p:spPr bwMode="auto">
              <a:xfrm>
                <a:off x="4842" y="2103"/>
                <a:ext cx="4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 hub</a:t>
                </a:r>
              </a:p>
            </p:txBody>
          </p:sp>
          <p:sp>
            <p:nvSpPr>
              <p:cNvPr id="358422" name="Text Box 31">
                <a:extLst>
                  <a:ext uri="{FF2B5EF4-FFF2-40B4-BE49-F238E27FC236}">
                    <a16:creationId xmlns:a16="http://schemas.microsoft.com/office/drawing/2014/main" id="{35B169E1-1784-4178-A625-2044706FA1D0}"/>
                  </a:ext>
                </a:extLst>
              </p:cNvPr>
              <p:cNvSpPr txBox="1">
                <a:spLocks noChangeArrowheads="1"/>
              </p:cNvSpPr>
              <p:nvPr/>
            </p:nvSpPr>
            <p:spPr bwMode="auto">
              <a:xfrm>
                <a:off x="4827" y="2357"/>
                <a:ext cx="5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 host</a:t>
                </a:r>
              </a:p>
            </p:txBody>
          </p:sp>
        </p:grpSp>
      </p:grpSp>
      <p:sp>
        <p:nvSpPr>
          <p:cNvPr id="358406" name="Text Box 32">
            <a:extLst>
              <a:ext uri="{FF2B5EF4-FFF2-40B4-BE49-F238E27FC236}">
                <a16:creationId xmlns:a16="http://schemas.microsoft.com/office/drawing/2014/main" id="{07B95B20-A6BE-421D-823F-827C17E64C44}"/>
              </a:ext>
            </a:extLst>
          </p:cNvPr>
          <p:cNvSpPr txBox="1">
            <a:spLocks noChangeArrowheads="1"/>
          </p:cNvSpPr>
          <p:nvPr/>
        </p:nvSpPr>
        <p:spPr bwMode="auto">
          <a:xfrm>
            <a:off x="2973388" y="6062663"/>
            <a:ext cx="20716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LAN (IP network)</a:t>
            </a:r>
          </a:p>
        </p:txBody>
      </p:sp>
      <p:sp>
        <p:nvSpPr>
          <p:cNvPr id="358407" name="Line 33">
            <a:extLst>
              <a:ext uri="{FF2B5EF4-FFF2-40B4-BE49-F238E27FC236}">
                <a16:creationId xmlns:a16="http://schemas.microsoft.com/office/drawing/2014/main" id="{9478C7A6-D60F-4EF1-BF4C-BE82B32A0251}"/>
              </a:ext>
            </a:extLst>
          </p:cNvPr>
          <p:cNvSpPr>
            <a:spLocks noChangeShapeType="1"/>
          </p:cNvSpPr>
          <p:nvPr/>
        </p:nvSpPr>
        <p:spPr bwMode="auto">
          <a:xfrm flipH="1" flipV="1">
            <a:off x="1195388" y="6202363"/>
            <a:ext cx="17335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408" name="Line 34">
            <a:extLst>
              <a:ext uri="{FF2B5EF4-FFF2-40B4-BE49-F238E27FC236}">
                <a16:creationId xmlns:a16="http://schemas.microsoft.com/office/drawing/2014/main" id="{703B8978-393F-4C0B-9F3B-B6E0F99AAB53}"/>
              </a:ext>
            </a:extLst>
          </p:cNvPr>
          <p:cNvSpPr>
            <a:spLocks noChangeShapeType="1"/>
          </p:cNvSpPr>
          <p:nvPr/>
        </p:nvSpPr>
        <p:spPr bwMode="auto">
          <a:xfrm flipV="1">
            <a:off x="5151438" y="6213475"/>
            <a:ext cx="1392237"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358409" name="Group 35">
            <a:extLst>
              <a:ext uri="{FF2B5EF4-FFF2-40B4-BE49-F238E27FC236}">
                <a16:creationId xmlns:a16="http://schemas.microsoft.com/office/drawing/2014/main" id="{D83DDC00-2299-46BC-89D8-D13DFEF58B9F}"/>
              </a:ext>
            </a:extLst>
          </p:cNvPr>
          <p:cNvGrpSpPr>
            <a:grpSpLocks/>
          </p:cNvGrpSpPr>
          <p:nvPr/>
        </p:nvGrpSpPr>
        <p:grpSpPr bwMode="auto">
          <a:xfrm>
            <a:off x="1184275" y="5511800"/>
            <a:ext cx="2405063" cy="366713"/>
            <a:chOff x="746" y="3326"/>
            <a:chExt cx="1515" cy="231"/>
          </a:xfrm>
        </p:grpSpPr>
        <p:sp>
          <p:nvSpPr>
            <p:cNvPr id="358414" name="Text Box 36">
              <a:extLst>
                <a:ext uri="{FF2B5EF4-FFF2-40B4-BE49-F238E27FC236}">
                  <a16:creationId xmlns:a16="http://schemas.microsoft.com/office/drawing/2014/main" id="{B8E8C16C-2D63-4481-8BC8-3A00EE6B65BC}"/>
                </a:ext>
              </a:extLst>
            </p:cNvPr>
            <p:cNvSpPr txBox="1">
              <a:spLocks noChangeArrowheads="1"/>
            </p:cNvSpPr>
            <p:nvPr/>
          </p:nvSpPr>
          <p:spPr bwMode="auto">
            <a:xfrm>
              <a:off x="988" y="3326"/>
              <a:ext cx="10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LAN segment</a:t>
              </a:r>
            </a:p>
          </p:txBody>
        </p:sp>
        <p:sp>
          <p:nvSpPr>
            <p:cNvPr id="358415" name="Line 37">
              <a:extLst>
                <a:ext uri="{FF2B5EF4-FFF2-40B4-BE49-F238E27FC236}">
                  <a16:creationId xmlns:a16="http://schemas.microsoft.com/office/drawing/2014/main" id="{54FF232B-3D97-4EA8-A981-E1AD426B9F39}"/>
                </a:ext>
              </a:extLst>
            </p:cNvPr>
            <p:cNvSpPr>
              <a:spLocks noChangeShapeType="1"/>
            </p:cNvSpPr>
            <p:nvPr/>
          </p:nvSpPr>
          <p:spPr bwMode="auto">
            <a:xfrm>
              <a:off x="2023" y="3446"/>
              <a:ext cx="2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416" name="Line 38">
              <a:extLst>
                <a:ext uri="{FF2B5EF4-FFF2-40B4-BE49-F238E27FC236}">
                  <a16:creationId xmlns:a16="http://schemas.microsoft.com/office/drawing/2014/main" id="{6AD891B2-B2A5-49C2-B3A4-DD62489686C3}"/>
                </a:ext>
              </a:extLst>
            </p:cNvPr>
            <p:cNvSpPr>
              <a:spLocks noChangeShapeType="1"/>
            </p:cNvSpPr>
            <p:nvPr/>
          </p:nvSpPr>
          <p:spPr bwMode="auto">
            <a:xfrm flipH="1">
              <a:off x="746" y="3430"/>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410" name="Group 39">
            <a:extLst>
              <a:ext uri="{FF2B5EF4-FFF2-40B4-BE49-F238E27FC236}">
                <a16:creationId xmlns:a16="http://schemas.microsoft.com/office/drawing/2014/main" id="{042D94CB-4DE2-41A4-90A7-BA7E4621497A}"/>
              </a:ext>
            </a:extLst>
          </p:cNvPr>
          <p:cNvGrpSpPr>
            <a:grpSpLocks/>
          </p:cNvGrpSpPr>
          <p:nvPr/>
        </p:nvGrpSpPr>
        <p:grpSpPr bwMode="auto">
          <a:xfrm>
            <a:off x="4062413" y="5554663"/>
            <a:ext cx="2405062" cy="366712"/>
            <a:chOff x="746" y="3326"/>
            <a:chExt cx="1515" cy="231"/>
          </a:xfrm>
        </p:grpSpPr>
        <p:sp>
          <p:nvSpPr>
            <p:cNvPr id="358411" name="Text Box 40">
              <a:extLst>
                <a:ext uri="{FF2B5EF4-FFF2-40B4-BE49-F238E27FC236}">
                  <a16:creationId xmlns:a16="http://schemas.microsoft.com/office/drawing/2014/main" id="{6ADCF400-6793-4BF5-9B1F-2A7BA17BDB80}"/>
                </a:ext>
              </a:extLst>
            </p:cNvPr>
            <p:cNvSpPr txBox="1">
              <a:spLocks noChangeArrowheads="1"/>
            </p:cNvSpPr>
            <p:nvPr/>
          </p:nvSpPr>
          <p:spPr bwMode="auto">
            <a:xfrm>
              <a:off x="988" y="3326"/>
              <a:ext cx="10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LAN segment</a:t>
              </a:r>
            </a:p>
          </p:txBody>
        </p:sp>
        <p:sp>
          <p:nvSpPr>
            <p:cNvPr id="358412" name="Line 41">
              <a:extLst>
                <a:ext uri="{FF2B5EF4-FFF2-40B4-BE49-F238E27FC236}">
                  <a16:creationId xmlns:a16="http://schemas.microsoft.com/office/drawing/2014/main" id="{20814917-35AD-48CD-8A47-4B530D1953D5}"/>
                </a:ext>
              </a:extLst>
            </p:cNvPr>
            <p:cNvSpPr>
              <a:spLocks noChangeShapeType="1"/>
            </p:cNvSpPr>
            <p:nvPr/>
          </p:nvSpPr>
          <p:spPr bwMode="auto">
            <a:xfrm>
              <a:off x="2023" y="3446"/>
              <a:ext cx="2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413" name="Line 42">
              <a:extLst>
                <a:ext uri="{FF2B5EF4-FFF2-40B4-BE49-F238E27FC236}">
                  <a16:creationId xmlns:a16="http://schemas.microsoft.com/office/drawing/2014/main" id="{4BEDEE2E-7886-4596-9A92-54176478A13D}"/>
                </a:ext>
              </a:extLst>
            </p:cNvPr>
            <p:cNvSpPr>
              <a:spLocks noChangeShapeType="1"/>
            </p:cNvSpPr>
            <p:nvPr/>
          </p:nvSpPr>
          <p:spPr bwMode="auto">
            <a:xfrm flipH="1">
              <a:off x="746" y="3430"/>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Slide Number Placeholder 5">
            <a:extLst>
              <a:ext uri="{FF2B5EF4-FFF2-40B4-BE49-F238E27FC236}">
                <a16:creationId xmlns:a16="http://schemas.microsoft.com/office/drawing/2014/main" id="{FF6006E0-F4CB-4BD0-B0FB-4CA59EA333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35812084-4A61-4CDA-99B9-43B481FBFC9F}" type="slidenum">
              <a:rPr lang="en-US" altLang="en-US" sz="1400" smtClean="0">
                <a:latin typeface="Times New Roman" panose="02020603050405020304" pitchFamily="18" charset="0"/>
              </a:rPr>
              <a:pPr>
                <a:spcBef>
                  <a:spcPct val="0"/>
                </a:spcBef>
                <a:buClrTx/>
                <a:buSzTx/>
                <a:buFontTx/>
                <a:buNone/>
              </a:pPr>
              <a:t>63</a:t>
            </a:fld>
            <a:endParaRPr lang="en-US" altLang="en-US" sz="1400">
              <a:latin typeface="Times New Roman" panose="02020603050405020304" pitchFamily="18" charset="0"/>
            </a:endParaRPr>
          </a:p>
        </p:txBody>
      </p:sp>
      <p:sp>
        <p:nvSpPr>
          <p:cNvPr id="359427" name="Rectangle 2">
            <a:extLst>
              <a:ext uri="{FF2B5EF4-FFF2-40B4-BE49-F238E27FC236}">
                <a16:creationId xmlns:a16="http://schemas.microsoft.com/office/drawing/2014/main" id="{9D05FD57-2FC7-40F8-B97B-2FD1C450190C}"/>
              </a:ext>
            </a:extLst>
          </p:cNvPr>
          <p:cNvSpPr>
            <a:spLocks noGrp="1" noChangeArrowheads="1"/>
          </p:cNvSpPr>
          <p:nvPr>
            <p:ph type="title"/>
          </p:nvPr>
        </p:nvSpPr>
        <p:spPr/>
        <p:txBody>
          <a:bodyPr/>
          <a:lstStyle/>
          <a:p>
            <a:r>
              <a:rPr lang="en-US" altLang="en-US"/>
              <a:t>Segmentation (Sự phân đoạn)</a:t>
            </a:r>
          </a:p>
        </p:txBody>
      </p:sp>
      <p:graphicFrame>
        <p:nvGraphicFramePr>
          <p:cNvPr id="359428" name="Object 3">
            <a:extLst>
              <a:ext uri="{FF2B5EF4-FFF2-40B4-BE49-F238E27FC236}">
                <a16:creationId xmlns:a16="http://schemas.microsoft.com/office/drawing/2014/main" id="{E6C713D4-41DA-4FFB-ABC9-A1618AFEAAFF}"/>
              </a:ext>
            </a:extLst>
          </p:cNvPr>
          <p:cNvGraphicFramePr>
            <a:graphicFrameLocks noGrp="1" noChangeAspect="1"/>
          </p:cNvGraphicFramePr>
          <p:nvPr>
            <p:ph idx="1"/>
          </p:nvPr>
        </p:nvGraphicFramePr>
        <p:xfrm>
          <a:off x="938213" y="1782763"/>
          <a:ext cx="6892925" cy="3644900"/>
        </p:xfrm>
        <a:graphic>
          <a:graphicData uri="http://schemas.openxmlformats.org/presentationml/2006/ole">
            <mc:AlternateContent xmlns:mc="http://schemas.openxmlformats.org/markup-compatibility/2006">
              <mc:Choice xmlns:v="urn:schemas-microsoft-com:vml" Requires="v">
                <p:oleObj spid="_x0000_s359443" name="Image" r:id="rId3" imgW="7771429" imgH="4063492" progId="Photoshop.Image.6">
                  <p:embed/>
                </p:oleObj>
              </mc:Choice>
              <mc:Fallback>
                <p:oleObj name="Image" r:id="rId3" imgW="7771429" imgH="4063492" progId="Photoshop.Image.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213" y="1782763"/>
                        <a:ext cx="6892925" cy="364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Slide Number Placeholder 5">
            <a:extLst>
              <a:ext uri="{FF2B5EF4-FFF2-40B4-BE49-F238E27FC236}">
                <a16:creationId xmlns:a16="http://schemas.microsoft.com/office/drawing/2014/main" id="{E4605418-0CFA-4283-8274-91CB6E416F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DDC6544A-BA15-478A-BF2F-002F39AE3F2A}" type="slidenum">
              <a:rPr lang="en-US" altLang="en-US" sz="1400" smtClean="0">
                <a:latin typeface="Times New Roman" panose="02020603050405020304" pitchFamily="18" charset="0"/>
              </a:rPr>
              <a:pPr>
                <a:spcBef>
                  <a:spcPct val="0"/>
                </a:spcBef>
                <a:buClrTx/>
                <a:buSzTx/>
                <a:buFontTx/>
                <a:buNone/>
              </a:pPr>
              <a:t>64</a:t>
            </a:fld>
            <a:endParaRPr lang="en-US" altLang="en-US" sz="1400">
              <a:latin typeface="Times New Roman" panose="02020603050405020304" pitchFamily="18" charset="0"/>
            </a:endParaRPr>
          </a:p>
        </p:txBody>
      </p:sp>
      <p:sp>
        <p:nvSpPr>
          <p:cNvPr id="360451" name="Rectangle 2">
            <a:extLst>
              <a:ext uri="{FF2B5EF4-FFF2-40B4-BE49-F238E27FC236}">
                <a16:creationId xmlns:a16="http://schemas.microsoft.com/office/drawing/2014/main" id="{DF49C377-0D97-4B3E-9652-33241C1C1702}"/>
              </a:ext>
            </a:extLst>
          </p:cNvPr>
          <p:cNvSpPr>
            <a:spLocks noGrp="1" noChangeArrowheads="1"/>
          </p:cNvSpPr>
          <p:nvPr>
            <p:ph type="title"/>
          </p:nvPr>
        </p:nvSpPr>
        <p:spPr/>
        <p:txBody>
          <a:bodyPr/>
          <a:lstStyle/>
          <a:p>
            <a:r>
              <a:rPr lang="en-US" altLang="en-US"/>
              <a:t>Quyết định chuyển tiếp</a:t>
            </a:r>
          </a:p>
        </p:txBody>
      </p:sp>
      <p:pic>
        <p:nvPicPr>
          <p:cNvPr id="360452" name="Picture 3" descr="562 Bridge">
            <a:extLst>
              <a:ext uri="{FF2B5EF4-FFF2-40B4-BE49-F238E27FC236}">
                <a16:creationId xmlns:a16="http://schemas.microsoft.com/office/drawing/2014/main" id="{5E372B15-5CC9-425F-B368-E7D594199D6A}"/>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630238" y="1509713"/>
            <a:ext cx="7772400" cy="2801937"/>
          </a:xfrm>
        </p:spPr>
      </p:pic>
      <p:sp>
        <p:nvSpPr>
          <p:cNvPr id="360453" name="Text Box 4">
            <a:extLst>
              <a:ext uri="{FF2B5EF4-FFF2-40B4-BE49-F238E27FC236}">
                <a16:creationId xmlns:a16="http://schemas.microsoft.com/office/drawing/2014/main" id="{018CFA60-4962-4D4B-AE5C-2E52DD1589D1}"/>
              </a:ext>
            </a:extLst>
          </p:cNvPr>
          <p:cNvSpPr txBox="1">
            <a:spLocks noChangeArrowheads="1"/>
          </p:cNvSpPr>
          <p:nvPr/>
        </p:nvSpPr>
        <p:spPr bwMode="auto">
          <a:xfrm>
            <a:off x="712788" y="4672013"/>
            <a:ext cx="82137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Char char="•"/>
            </a:pPr>
            <a:r>
              <a:rPr lang="en-US" altLang="en-US" sz="2400"/>
              <a:t> Làm thế nào để xác định chuyển tiếp khung dữ liệu đến đoạn mạng nào?</a:t>
            </a:r>
          </a:p>
          <a:p>
            <a:pPr>
              <a:spcBef>
                <a:spcPct val="0"/>
              </a:spcBef>
              <a:buClrTx/>
              <a:buSzTx/>
              <a:buFontTx/>
              <a:buChar char="•"/>
            </a:pPr>
            <a:r>
              <a:rPr lang="en-US" altLang="en-US" sz="2400"/>
              <a:t> Một vấn đề tựa như định tuyến...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Slide Number Placeholder 5">
            <a:extLst>
              <a:ext uri="{FF2B5EF4-FFF2-40B4-BE49-F238E27FC236}">
                <a16:creationId xmlns:a16="http://schemas.microsoft.com/office/drawing/2014/main" id="{C605215D-D6A9-4864-878A-CF86D318A9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EA1CC3B1-E137-4A41-877E-4861AFE55BF2}" type="slidenum">
              <a:rPr lang="en-US" altLang="en-US" sz="1400" smtClean="0">
                <a:latin typeface="Times New Roman" panose="02020603050405020304" pitchFamily="18" charset="0"/>
              </a:rPr>
              <a:pPr>
                <a:spcBef>
                  <a:spcPct val="0"/>
                </a:spcBef>
                <a:buClrTx/>
                <a:buSzTx/>
                <a:buFontTx/>
                <a:buNone/>
              </a:pPr>
              <a:t>65</a:t>
            </a:fld>
            <a:endParaRPr lang="en-US" altLang="en-US" sz="1400">
              <a:latin typeface="Times New Roman" panose="02020603050405020304" pitchFamily="18" charset="0"/>
            </a:endParaRPr>
          </a:p>
        </p:txBody>
      </p:sp>
      <p:sp>
        <p:nvSpPr>
          <p:cNvPr id="361475" name="Rectangle 2">
            <a:extLst>
              <a:ext uri="{FF2B5EF4-FFF2-40B4-BE49-F238E27FC236}">
                <a16:creationId xmlns:a16="http://schemas.microsoft.com/office/drawing/2014/main" id="{44A8AEC0-0AA8-4F63-8C71-434CF5234A87}"/>
              </a:ext>
            </a:extLst>
          </p:cNvPr>
          <p:cNvSpPr>
            <a:spLocks noGrp="1" noChangeArrowheads="1"/>
          </p:cNvSpPr>
          <p:nvPr>
            <p:ph type="title"/>
          </p:nvPr>
        </p:nvSpPr>
        <p:spPr/>
        <p:txBody>
          <a:bodyPr/>
          <a:lstStyle/>
          <a:p>
            <a:r>
              <a:rPr lang="en-US" altLang="en-US"/>
              <a:t>Xây dựng bảng cầu nối</a:t>
            </a:r>
          </a:p>
        </p:txBody>
      </p:sp>
      <p:sp>
        <p:nvSpPr>
          <p:cNvPr id="361476" name="Rectangle 3">
            <a:extLst>
              <a:ext uri="{FF2B5EF4-FFF2-40B4-BE49-F238E27FC236}">
                <a16:creationId xmlns:a16="http://schemas.microsoft.com/office/drawing/2014/main" id="{0D995EB8-1C30-4210-B833-17CE00C15064}"/>
              </a:ext>
            </a:extLst>
          </p:cNvPr>
          <p:cNvSpPr>
            <a:spLocks noGrp="1" noChangeArrowheads="1"/>
          </p:cNvSpPr>
          <p:nvPr>
            <p:ph type="body" idx="1"/>
          </p:nvPr>
        </p:nvSpPr>
        <p:spPr>
          <a:xfrm>
            <a:off x="0" y="1547813"/>
            <a:ext cx="8870950" cy="5011737"/>
          </a:xfrm>
        </p:spPr>
        <p:txBody>
          <a:bodyPr/>
          <a:lstStyle/>
          <a:p>
            <a:r>
              <a:rPr lang="en-US" altLang="en-US" sz="2400"/>
              <a:t>Một bridge có một </a:t>
            </a:r>
            <a:r>
              <a:rPr lang="en-US" altLang="en-US" sz="2400">
                <a:solidFill>
                  <a:srgbClr val="FF0000"/>
                </a:solidFill>
              </a:rPr>
              <a:t>bridge table</a:t>
            </a:r>
            <a:endParaRPr lang="en-US" altLang="en-US" sz="2400"/>
          </a:p>
          <a:p>
            <a:r>
              <a:rPr lang="en-US" altLang="en-US" sz="2400"/>
              <a:t>Một mục trong bridge table bao gồm: </a:t>
            </a:r>
          </a:p>
          <a:p>
            <a:pPr lvl="1"/>
            <a:r>
              <a:rPr lang="en-US" altLang="en-US"/>
              <a:t>(Địa chỉ của nút trong LAN, Mạch giao tiếp của Bridge, Thời gian cập nhật vào)</a:t>
            </a:r>
          </a:p>
          <a:p>
            <a:pPr lvl="1"/>
            <a:r>
              <a:rPr lang="en-US" altLang="en-US"/>
              <a:t>Những mục cũ sẽ bị bỏ đi (thời gian sống có thể là 60 phút) </a:t>
            </a:r>
          </a:p>
          <a:p>
            <a:r>
              <a:rPr lang="en-US" altLang="en-US" sz="2400"/>
              <a:t>bridges </a:t>
            </a:r>
            <a:r>
              <a:rPr lang="en-US" altLang="en-US" sz="2400" i="1">
                <a:solidFill>
                  <a:srgbClr val="FF0000"/>
                </a:solidFill>
              </a:rPr>
              <a:t>học</a:t>
            </a:r>
            <a:r>
              <a:rPr lang="en-US" altLang="en-US" sz="2400"/>
              <a:t> những trạm có thể vươn tới được thông qua những mạch giao tiếp nào</a:t>
            </a:r>
          </a:p>
          <a:p>
            <a:pPr lvl="1"/>
            <a:r>
              <a:rPr lang="en-US" altLang="en-US"/>
              <a:t>khi nhận được một khung, bridge “học”  vị trí của nơi gởi: đoạn mạng cục bộ đi vào</a:t>
            </a:r>
          </a:p>
          <a:p>
            <a:pPr lvl="1"/>
            <a:r>
              <a:rPr lang="en-US" altLang="en-US"/>
              <a:t>ghi nhận cặp nút gởi/vị trí trong bảng cầu nối</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Slide Number Placeholder 5">
            <a:extLst>
              <a:ext uri="{FF2B5EF4-FFF2-40B4-BE49-F238E27FC236}">
                <a16:creationId xmlns:a16="http://schemas.microsoft.com/office/drawing/2014/main" id="{3E27528C-1D1C-490D-BFF6-0AA4F9F62A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DEA78513-5384-40A7-83F0-D23C924DD2FA}" type="slidenum">
              <a:rPr lang="en-US" altLang="en-US" sz="1400" smtClean="0">
                <a:latin typeface="Times New Roman" panose="02020603050405020304" pitchFamily="18" charset="0"/>
              </a:rPr>
              <a:pPr>
                <a:spcBef>
                  <a:spcPct val="0"/>
                </a:spcBef>
                <a:buClrTx/>
                <a:buSzTx/>
                <a:buFontTx/>
                <a:buNone/>
              </a:pPr>
              <a:t>66</a:t>
            </a:fld>
            <a:endParaRPr lang="en-US" altLang="en-US" sz="1400">
              <a:latin typeface="Times New Roman" panose="02020603050405020304" pitchFamily="18" charset="0"/>
            </a:endParaRPr>
          </a:p>
        </p:txBody>
      </p:sp>
      <p:sp>
        <p:nvSpPr>
          <p:cNvPr id="362499" name="Rectangle 2">
            <a:extLst>
              <a:ext uri="{FF2B5EF4-FFF2-40B4-BE49-F238E27FC236}">
                <a16:creationId xmlns:a16="http://schemas.microsoft.com/office/drawing/2014/main" id="{8201FB78-393E-4731-BA37-74CAA906F26B}"/>
              </a:ext>
            </a:extLst>
          </p:cNvPr>
          <p:cNvSpPr>
            <a:spLocks noGrp="1" noChangeArrowheads="1"/>
          </p:cNvSpPr>
          <p:nvPr>
            <p:ph type="title"/>
          </p:nvPr>
        </p:nvSpPr>
        <p:spPr>
          <a:xfrm>
            <a:off x="509588" y="0"/>
            <a:ext cx="7772400" cy="1143000"/>
          </a:xfrm>
        </p:spPr>
        <p:txBody>
          <a:bodyPr/>
          <a:lstStyle/>
          <a:p>
            <a:r>
              <a:rPr lang="en-US" altLang="en-US"/>
              <a:t>Lọc/Chuyển tiếp khung dữ liệu</a:t>
            </a:r>
          </a:p>
        </p:txBody>
      </p:sp>
      <p:sp>
        <p:nvSpPr>
          <p:cNvPr id="362500" name="Rectangle 3">
            <a:extLst>
              <a:ext uri="{FF2B5EF4-FFF2-40B4-BE49-F238E27FC236}">
                <a16:creationId xmlns:a16="http://schemas.microsoft.com/office/drawing/2014/main" id="{11042EC1-45A4-4B26-9400-928A838E2FFF}"/>
              </a:ext>
            </a:extLst>
          </p:cNvPr>
          <p:cNvSpPr>
            <a:spLocks noGrp="1" noChangeArrowheads="1"/>
          </p:cNvSpPr>
          <p:nvPr>
            <p:ph type="body" idx="1"/>
          </p:nvPr>
        </p:nvSpPr>
        <p:spPr>
          <a:xfrm>
            <a:off x="0" y="1150938"/>
            <a:ext cx="9039828" cy="3748087"/>
          </a:xfrm>
        </p:spPr>
        <p:txBody>
          <a:bodyPr/>
          <a:lstStyle/>
          <a:p>
            <a:pPr>
              <a:buFont typeface="ZapfDingbats" pitchFamily="82" charset="2"/>
              <a:buNone/>
            </a:pPr>
            <a:r>
              <a:rPr lang="en-US" altLang="en-US" sz="2400" u="sng">
                <a:solidFill>
                  <a:srgbClr val="FF0000"/>
                </a:solidFill>
              </a:rPr>
              <a:t>Khi bridge nhận một khung dữ liệu:</a:t>
            </a:r>
            <a:br>
              <a:rPr lang="en-US" altLang="en-US" sz="2400" u="sng">
                <a:solidFill>
                  <a:srgbClr val="FF0000"/>
                </a:solidFill>
              </a:rPr>
            </a:br>
            <a:endParaRPr lang="en-US" altLang="en-US" sz="2400" u="sng">
              <a:solidFill>
                <a:srgbClr val="FF0000"/>
              </a:solidFill>
            </a:endParaRPr>
          </a:p>
          <a:p>
            <a:pPr>
              <a:buFont typeface="ZapfDingbats" pitchFamily="82" charset="2"/>
              <a:buNone/>
            </a:pPr>
            <a:r>
              <a:rPr lang="en-US" altLang="en-US" sz="2400"/>
              <a:t>Tìm kiếm địa chỉ MAC đích trong bridge table</a:t>
            </a:r>
            <a:endParaRPr lang="en-US" altLang="en-US" sz="2400" b="1">
              <a:solidFill>
                <a:schemeClr val="accent2"/>
              </a:solidFill>
            </a:endParaRPr>
          </a:p>
          <a:p>
            <a:pPr>
              <a:buFont typeface="ZapfDingbats" pitchFamily="82" charset="2"/>
              <a:buNone/>
            </a:pPr>
            <a:r>
              <a:rPr lang="en-US" altLang="en-US" sz="2400" b="1">
                <a:solidFill>
                  <a:schemeClr val="accent2"/>
                </a:solidFill>
              </a:rPr>
              <a:t>Nếu </a:t>
            </a:r>
            <a:r>
              <a:rPr lang="en-US" altLang="en-US" sz="2400"/>
              <a:t>một mục được tìm thấy cho địa chỉ đích đó</a:t>
            </a:r>
            <a:br>
              <a:rPr lang="en-US" altLang="en-US" sz="2400"/>
            </a:br>
            <a:r>
              <a:rPr lang="en-US" altLang="en-US" sz="2400" b="1">
                <a:solidFill>
                  <a:schemeClr val="accent2"/>
                </a:solidFill>
              </a:rPr>
              <a:t>thì{</a:t>
            </a:r>
          </a:p>
          <a:p>
            <a:pPr>
              <a:buFont typeface="ZapfDingbats" pitchFamily="82" charset="2"/>
              <a:buNone/>
            </a:pPr>
            <a:r>
              <a:rPr lang="en-US" altLang="en-US" sz="2400" b="1">
                <a:solidFill>
                  <a:schemeClr val="accent2"/>
                </a:solidFill>
              </a:rPr>
              <a:t>      nếu </a:t>
            </a:r>
            <a:r>
              <a:rPr lang="en-US" altLang="en-US" sz="2400"/>
              <a:t>đích đến nằm trên cùng đoạn mạng nhận được frame</a:t>
            </a:r>
            <a:br>
              <a:rPr lang="en-US" altLang="en-US" sz="2400"/>
            </a:br>
            <a:r>
              <a:rPr lang="en-US" altLang="en-US" sz="2400"/>
              <a:t>     </a:t>
            </a:r>
            <a:r>
              <a:rPr lang="en-US" altLang="en-US" sz="2400" b="1">
                <a:solidFill>
                  <a:schemeClr val="accent2"/>
                </a:solidFill>
              </a:rPr>
              <a:t>thì</a:t>
            </a:r>
            <a:r>
              <a:rPr lang="en-US" altLang="en-US" sz="2400"/>
              <a:t> hủy bỏ frame đó</a:t>
            </a:r>
          </a:p>
          <a:p>
            <a:pPr>
              <a:buFont typeface="ZapfDingbats" pitchFamily="82" charset="2"/>
              <a:buNone/>
            </a:pPr>
            <a:r>
              <a:rPr lang="en-US" altLang="en-US" sz="2400"/>
              <a:t>         </a:t>
            </a:r>
            <a:r>
              <a:rPr lang="en-US" altLang="en-US" sz="2400" b="1">
                <a:solidFill>
                  <a:schemeClr val="accent2"/>
                </a:solidFill>
              </a:rPr>
              <a:t>ngược lại</a:t>
            </a:r>
            <a:r>
              <a:rPr lang="en-US" altLang="en-US" sz="2400"/>
              <a:t> chuyển tiếp frame đó đến mạch giao tiếp </a:t>
            </a:r>
          </a:p>
          <a:p>
            <a:pPr>
              <a:buFont typeface="ZapfDingbats" pitchFamily="82" charset="2"/>
              <a:buNone/>
            </a:pPr>
            <a:r>
              <a:rPr lang="en-US" altLang="en-US" sz="2400"/>
              <a:t>                        (cổng) được chỉ trong mục tìm được</a:t>
            </a:r>
          </a:p>
          <a:p>
            <a:pPr>
              <a:buFont typeface="ZapfDingbats" pitchFamily="82" charset="2"/>
              <a:buNone/>
            </a:pPr>
            <a:r>
              <a:rPr lang="en-US" altLang="en-US" sz="2400"/>
              <a:t>     </a:t>
            </a:r>
            <a:r>
              <a:rPr lang="en-US" altLang="en-US" sz="2400" b="1">
                <a:solidFill>
                  <a:schemeClr val="accent2"/>
                </a:solidFill>
              </a:rPr>
              <a:t>  }</a:t>
            </a:r>
            <a:endParaRPr lang="en-US" altLang="en-US" sz="2400"/>
          </a:p>
          <a:p>
            <a:pPr>
              <a:buFont typeface="ZapfDingbats" pitchFamily="82" charset="2"/>
              <a:buNone/>
            </a:pPr>
            <a:r>
              <a:rPr lang="en-US" altLang="en-US" sz="2400" b="1">
                <a:solidFill>
                  <a:schemeClr val="accent2"/>
                </a:solidFill>
              </a:rPr>
              <a:t>ngược lại</a:t>
            </a:r>
            <a:r>
              <a:rPr lang="en-US" altLang="en-US" sz="2400"/>
              <a:t> làm lụt</a:t>
            </a:r>
            <a:r>
              <a:rPr lang="en-US" altLang="en-US"/>
              <a:t>  </a:t>
            </a:r>
          </a:p>
        </p:txBody>
      </p:sp>
      <p:sp>
        <p:nvSpPr>
          <p:cNvPr id="362501" name="Text Box 4">
            <a:extLst>
              <a:ext uri="{FF2B5EF4-FFF2-40B4-BE49-F238E27FC236}">
                <a16:creationId xmlns:a16="http://schemas.microsoft.com/office/drawing/2014/main" id="{1381245D-17B8-4083-8567-8DD8D95AED87}"/>
              </a:ext>
            </a:extLst>
          </p:cNvPr>
          <p:cNvSpPr txBox="1">
            <a:spLocks noChangeArrowheads="1"/>
          </p:cNvSpPr>
          <p:nvPr/>
        </p:nvSpPr>
        <p:spPr bwMode="auto">
          <a:xfrm>
            <a:off x="3178175" y="5654675"/>
            <a:ext cx="5205413" cy="835025"/>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i="1">
                <a:solidFill>
                  <a:schemeClr val="accent2"/>
                </a:solidFill>
              </a:rPr>
              <a:t>Chuyển tiếp đến tất cả các cổng trừ </a:t>
            </a:r>
          </a:p>
          <a:p>
            <a:pPr>
              <a:spcBef>
                <a:spcPct val="0"/>
              </a:spcBef>
              <a:buClrTx/>
              <a:buSzTx/>
              <a:buFontTx/>
              <a:buNone/>
            </a:pPr>
            <a:r>
              <a:rPr lang="en-US" altLang="en-US" sz="2400" i="1">
                <a:solidFill>
                  <a:schemeClr val="accent2"/>
                </a:solidFill>
              </a:rPr>
              <a:t>cổng đã nhận được frame đó</a:t>
            </a:r>
            <a:endParaRPr lang="en-US" altLang="en-US" sz="2000" i="1">
              <a:solidFill>
                <a:schemeClr val="accent2"/>
              </a:solidFill>
              <a:latin typeface="Times New Roman" panose="02020603050405020304" pitchFamily="18" charset="0"/>
            </a:endParaRPr>
          </a:p>
        </p:txBody>
      </p:sp>
      <p:sp>
        <p:nvSpPr>
          <p:cNvPr id="362502" name="Line 5">
            <a:extLst>
              <a:ext uri="{FF2B5EF4-FFF2-40B4-BE49-F238E27FC236}">
                <a16:creationId xmlns:a16="http://schemas.microsoft.com/office/drawing/2014/main" id="{66C4F497-D2C0-40BF-89A9-D6DA9EB3B1CF}"/>
              </a:ext>
            </a:extLst>
          </p:cNvPr>
          <p:cNvSpPr>
            <a:spLocks noChangeShapeType="1"/>
          </p:cNvSpPr>
          <p:nvPr/>
        </p:nvSpPr>
        <p:spPr bwMode="auto">
          <a:xfrm flipH="1" flipV="1">
            <a:off x="2522538" y="5718175"/>
            <a:ext cx="525462" cy="317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Slide Number Placeholder 5">
            <a:extLst>
              <a:ext uri="{FF2B5EF4-FFF2-40B4-BE49-F238E27FC236}">
                <a16:creationId xmlns:a16="http://schemas.microsoft.com/office/drawing/2014/main" id="{6160F9B5-5F25-4E7F-9AA9-B8F0F0B5D4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B9F7BA9A-AB32-4EE1-A47E-03B3FA486E76}" type="slidenum">
              <a:rPr lang="en-US" altLang="en-US" sz="1400" smtClean="0">
                <a:latin typeface="Times New Roman" panose="02020603050405020304" pitchFamily="18" charset="0"/>
              </a:rPr>
              <a:pPr>
                <a:spcBef>
                  <a:spcPct val="0"/>
                </a:spcBef>
                <a:buClrTx/>
                <a:buSzTx/>
                <a:buFontTx/>
                <a:buNone/>
              </a:pPr>
              <a:t>67</a:t>
            </a:fld>
            <a:endParaRPr lang="en-US" altLang="en-US" sz="1400">
              <a:latin typeface="Times New Roman" panose="02020603050405020304" pitchFamily="18" charset="0"/>
            </a:endParaRPr>
          </a:p>
        </p:txBody>
      </p:sp>
      <p:sp>
        <p:nvSpPr>
          <p:cNvPr id="363523" name="Rectangle 2">
            <a:extLst>
              <a:ext uri="{FF2B5EF4-FFF2-40B4-BE49-F238E27FC236}">
                <a16:creationId xmlns:a16="http://schemas.microsoft.com/office/drawing/2014/main" id="{33F56CE3-786C-4D4C-B2B9-0B70CF307252}"/>
              </a:ext>
            </a:extLst>
          </p:cNvPr>
          <p:cNvSpPr>
            <a:spLocks noGrp="1" noChangeArrowheads="1"/>
          </p:cNvSpPr>
          <p:nvPr>
            <p:ph type="title"/>
          </p:nvPr>
        </p:nvSpPr>
        <p:spPr>
          <a:xfrm>
            <a:off x="533400" y="123825"/>
            <a:ext cx="8185150" cy="1143000"/>
          </a:xfrm>
        </p:spPr>
        <p:txBody>
          <a:bodyPr/>
          <a:lstStyle/>
          <a:p>
            <a:r>
              <a:rPr lang="en-US" altLang="en-US" sz="3600"/>
              <a:t>Ví dụ về hoạt động của Bridge</a:t>
            </a:r>
            <a:endParaRPr lang="en-US" altLang="en-US"/>
          </a:p>
        </p:txBody>
      </p:sp>
      <p:sp>
        <p:nvSpPr>
          <p:cNvPr id="363524" name="Rectangle 3">
            <a:extLst>
              <a:ext uri="{FF2B5EF4-FFF2-40B4-BE49-F238E27FC236}">
                <a16:creationId xmlns:a16="http://schemas.microsoft.com/office/drawing/2014/main" id="{41E8E95E-8A58-4A3A-9E9A-AE9A58A6BC91}"/>
              </a:ext>
            </a:extLst>
          </p:cNvPr>
          <p:cNvSpPr>
            <a:spLocks noGrp="1" noChangeArrowheads="1"/>
          </p:cNvSpPr>
          <p:nvPr>
            <p:ph type="body" idx="1"/>
          </p:nvPr>
        </p:nvSpPr>
        <p:spPr>
          <a:xfrm>
            <a:off x="0" y="1306513"/>
            <a:ext cx="9144000" cy="4648200"/>
          </a:xfrm>
        </p:spPr>
        <p:txBody>
          <a:bodyPr/>
          <a:lstStyle/>
          <a:p>
            <a:pPr>
              <a:buFont typeface="ZapfDingbats" pitchFamily="82" charset="2"/>
              <a:buNone/>
            </a:pPr>
            <a:r>
              <a:rPr lang="en-US" altLang="en-US" sz="2400"/>
              <a:t>Giả sử C gởi frame đến D và D hồi đáp với một frame đến C. </a:t>
            </a:r>
            <a:endParaRPr lang="en-US" altLang="en-US"/>
          </a:p>
          <a:p>
            <a:endParaRPr lang="en-US" altLang="en-US"/>
          </a:p>
        </p:txBody>
      </p:sp>
      <p:pic>
        <p:nvPicPr>
          <p:cNvPr id="363525" name="Picture 4" descr="IMG00085">
            <a:extLst>
              <a:ext uri="{FF2B5EF4-FFF2-40B4-BE49-F238E27FC236}">
                <a16:creationId xmlns:a16="http://schemas.microsoft.com/office/drawing/2014/main" id="{CDAC10E1-B625-4744-AC68-9C8691583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130425"/>
            <a:ext cx="5057775"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3526" name="Rectangle 5">
            <a:extLst>
              <a:ext uri="{FF2B5EF4-FFF2-40B4-BE49-F238E27FC236}">
                <a16:creationId xmlns:a16="http://schemas.microsoft.com/office/drawing/2014/main" id="{9FE98246-FCB5-4D24-B952-3E2F69D70D81}"/>
              </a:ext>
            </a:extLst>
          </p:cNvPr>
          <p:cNvSpPr>
            <a:spLocks noChangeArrowheads="1"/>
          </p:cNvSpPr>
          <p:nvPr/>
        </p:nvSpPr>
        <p:spPr bwMode="auto">
          <a:xfrm>
            <a:off x="0" y="4664075"/>
            <a:ext cx="8486775" cy="184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Char char="r"/>
            </a:pPr>
            <a:r>
              <a:rPr lang="en-US" altLang="en-US" sz="2400"/>
              <a:t>Bridge nhận frame từ C</a:t>
            </a:r>
          </a:p>
          <a:p>
            <a:pPr lvl="1"/>
            <a:r>
              <a:rPr lang="en-US" altLang="en-US" sz="2000"/>
              <a:t>lưu lại trong bridge table rằng C là ở cổng 1</a:t>
            </a:r>
          </a:p>
          <a:p>
            <a:pPr lvl="1"/>
            <a:r>
              <a:rPr lang="en-US" altLang="en-US" sz="2000"/>
              <a:t>vì D chưa có trong bảng, bridge gởi frame đó đến cổng 2 và 3</a:t>
            </a:r>
          </a:p>
          <a:p>
            <a:pPr>
              <a:buFont typeface="ZapfDingbats" pitchFamily="82" charset="2"/>
              <a:buChar char="r"/>
            </a:pPr>
            <a:r>
              <a:rPr lang="en-US" altLang="en-US" sz="2400"/>
              <a:t>frame được nhận bởi D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Slide Number Placeholder 5">
            <a:extLst>
              <a:ext uri="{FF2B5EF4-FFF2-40B4-BE49-F238E27FC236}">
                <a16:creationId xmlns:a16="http://schemas.microsoft.com/office/drawing/2014/main" id="{92C6E0AC-E680-4BCC-B152-704C2094B3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9896BCDA-0AB2-4A8E-9D6F-31A2C0BA662A}" type="slidenum">
              <a:rPr lang="en-US" altLang="en-US" sz="1400" smtClean="0">
                <a:latin typeface="Times New Roman" panose="02020603050405020304" pitchFamily="18" charset="0"/>
              </a:rPr>
              <a:pPr>
                <a:spcBef>
                  <a:spcPct val="0"/>
                </a:spcBef>
                <a:buClrTx/>
                <a:buSzTx/>
                <a:buFontTx/>
                <a:buNone/>
              </a:pPr>
              <a:t>68</a:t>
            </a:fld>
            <a:endParaRPr lang="en-US" altLang="en-US" sz="1400">
              <a:latin typeface="Times New Roman" panose="02020603050405020304" pitchFamily="18" charset="0"/>
            </a:endParaRPr>
          </a:p>
        </p:txBody>
      </p:sp>
      <p:pic>
        <p:nvPicPr>
          <p:cNvPr id="364547" name="Picture 3" descr="IMG00085">
            <a:extLst>
              <a:ext uri="{FF2B5EF4-FFF2-40B4-BE49-F238E27FC236}">
                <a16:creationId xmlns:a16="http://schemas.microsoft.com/office/drawing/2014/main" id="{DD833C65-923F-455C-B0EF-586C0CBEAA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588" y="1293813"/>
            <a:ext cx="5057775"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548" name="Rectangle 4">
            <a:extLst>
              <a:ext uri="{FF2B5EF4-FFF2-40B4-BE49-F238E27FC236}">
                <a16:creationId xmlns:a16="http://schemas.microsoft.com/office/drawing/2014/main" id="{23F21175-2314-4CAD-B3A7-F910EA10B186}"/>
              </a:ext>
            </a:extLst>
          </p:cNvPr>
          <p:cNvSpPr>
            <a:spLocks noChangeArrowheads="1"/>
          </p:cNvSpPr>
          <p:nvPr/>
        </p:nvSpPr>
        <p:spPr bwMode="auto">
          <a:xfrm>
            <a:off x="757238" y="3908425"/>
            <a:ext cx="77724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Char char="r"/>
            </a:pPr>
            <a:r>
              <a:rPr lang="en-US" altLang="en-US" sz="2400"/>
              <a:t>D tạo ra một frame hồi đáp cho C và gởi đi</a:t>
            </a:r>
          </a:p>
          <a:p>
            <a:pPr>
              <a:buFont typeface="ZapfDingbats" pitchFamily="82" charset="2"/>
              <a:buChar char="r"/>
            </a:pPr>
            <a:r>
              <a:rPr lang="en-US" altLang="en-US" sz="2400"/>
              <a:t>bridge nhận được frame</a:t>
            </a:r>
            <a:r>
              <a:rPr lang="en-US" altLang="en-US"/>
              <a:t> đó</a:t>
            </a:r>
          </a:p>
          <a:p>
            <a:pPr lvl="1"/>
            <a:r>
              <a:rPr lang="en-US" altLang="en-US" sz="2000"/>
              <a:t>lưu lại trong bridge table rằng D là ở cổng 2</a:t>
            </a:r>
            <a:r>
              <a:rPr lang="en-US" altLang="en-US"/>
              <a:t> </a:t>
            </a:r>
          </a:p>
          <a:p>
            <a:pPr lvl="1"/>
            <a:r>
              <a:rPr lang="en-US" altLang="en-US" sz="2000"/>
              <a:t>bridge biết C là ở cổng 1, do đó nó </a:t>
            </a:r>
            <a:r>
              <a:rPr lang="en-US" altLang="en-US" sz="2000" i="1">
                <a:solidFill>
                  <a:srgbClr val="FF0000"/>
                </a:solidFill>
              </a:rPr>
              <a:t>chỉ</a:t>
            </a:r>
            <a:r>
              <a:rPr lang="en-US" altLang="en-US" sz="2000"/>
              <a:t> chuyển tiếp frame đó đến cổng 1</a:t>
            </a:r>
            <a:r>
              <a:rPr lang="en-US" altLang="en-US"/>
              <a:t> </a:t>
            </a:r>
          </a:p>
        </p:txBody>
      </p:sp>
      <p:sp>
        <p:nvSpPr>
          <p:cNvPr id="364549" name="Rectangle 6">
            <a:extLst>
              <a:ext uri="{FF2B5EF4-FFF2-40B4-BE49-F238E27FC236}">
                <a16:creationId xmlns:a16="http://schemas.microsoft.com/office/drawing/2014/main" id="{1204EB19-F136-4A17-A065-5081D617A001}"/>
              </a:ext>
            </a:extLst>
          </p:cNvPr>
          <p:cNvSpPr>
            <a:spLocks noGrp="1" noChangeArrowheads="1"/>
          </p:cNvSpPr>
          <p:nvPr>
            <p:ph type="title"/>
          </p:nvPr>
        </p:nvSpPr>
        <p:spPr>
          <a:xfrm>
            <a:off x="533400" y="123825"/>
            <a:ext cx="8185150" cy="1143000"/>
          </a:xfrm>
          <a:noFill/>
        </p:spPr>
        <p:txBody>
          <a:bodyPr/>
          <a:lstStyle/>
          <a:p>
            <a:r>
              <a:rPr lang="en-US" altLang="en-US"/>
              <a:t>Ví dụ về hoạt động của Bridge </a:t>
            </a:r>
            <a:r>
              <a:rPr lang="en-US" altLang="en-US" sz="3200"/>
              <a:t>(tt)</a:t>
            </a:r>
          </a:p>
        </p:txBody>
      </p:sp>
      <p:sp>
        <p:nvSpPr>
          <p:cNvPr id="364550" name="Text Box 7">
            <a:extLst>
              <a:ext uri="{FF2B5EF4-FFF2-40B4-BE49-F238E27FC236}">
                <a16:creationId xmlns:a16="http://schemas.microsoft.com/office/drawing/2014/main" id="{0C90E989-404E-462A-BCF9-366264252ED6}"/>
              </a:ext>
            </a:extLst>
          </p:cNvPr>
          <p:cNvSpPr txBox="1">
            <a:spLocks noChangeArrowheads="1"/>
          </p:cNvSpPr>
          <p:nvPr/>
        </p:nvSpPr>
        <p:spPr bwMode="auto">
          <a:xfrm>
            <a:off x="5795963" y="3481388"/>
            <a:ext cx="9683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200" b="1">
                <a:latin typeface="Times New Roman" panose="02020603050405020304" pitchFamily="18" charset="0"/>
              </a:rPr>
              <a:t>C | 1</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Slide Number Placeholder 5">
            <a:extLst>
              <a:ext uri="{FF2B5EF4-FFF2-40B4-BE49-F238E27FC236}">
                <a16:creationId xmlns:a16="http://schemas.microsoft.com/office/drawing/2014/main" id="{DF54B98B-1647-47B5-B8F8-32AA4EB1F2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ED9D5BCB-8951-413B-B4D9-9D83FF71540B}" type="slidenum">
              <a:rPr lang="en-US" altLang="en-US" sz="1400" smtClean="0">
                <a:latin typeface="Times New Roman" panose="02020603050405020304" pitchFamily="18" charset="0"/>
              </a:rPr>
              <a:pPr>
                <a:spcBef>
                  <a:spcPct val="0"/>
                </a:spcBef>
                <a:buClrTx/>
                <a:buSzTx/>
                <a:buFontTx/>
                <a:buNone/>
              </a:pPr>
              <a:t>69</a:t>
            </a:fld>
            <a:endParaRPr lang="en-US" altLang="en-US" sz="1400">
              <a:latin typeface="Times New Roman" panose="02020603050405020304" pitchFamily="18" charset="0"/>
            </a:endParaRPr>
          </a:p>
        </p:txBody>
      </p:sp>
      <p:sp>
        <p:nvSpPr>
          <p:cNvPr id="366595" name="Rectangle 2">
            <a:extLst>
              <a:ext uri="{FF2B5EF4-FFF2-40B4-BE49-F238E27FC236}">
                <a16:creationId xmlns:a16="http://schemas.microsoft.com/office/drawing/2014/main" id="{2C5E4915-CEC2-4BC4-8292-CD85548C4E44}"/>
              </a:ext>
            </a:extLst>
          </p:cNvPr>
          <p:cNvSpPr>
            <a:spLocks noGrp="1" noChangeArrowheads="1"/>
          </p:cNvSpPr>
          <p:nvPr>
            <p:ph type="title"/>
          </p:nvPr>
        </p:nvSpPr>
        <p:spPr>
          <a:xfrm>
            <a:off x="533400" y="123825"/>
            <a:ext cx="7772400" cy="1143000"/>
          </a:xfrm>
        </p:spPr>
        <p:txBody>
          <a:bodyPr/>
          <a:lstStyle/>
          <a:p>
            <a:r>
              <a:rPr lang="en-US" altLang="en-US"/>
              <a:t>Liên kết không xương sống</a:t>
            </a:r>
            <a:endParaRPr lang="en-US" altLang="en-US" sz="4400"/>
          </a:p>
        </p:txBody>
      </p:sp>
      <p:sp>
        <p:nvSpPr>
          <p:cNvPr id="366596" name="Rectangle 3">
            <a:extLst>
              <a:ext uri="{FF2B5EF4-FFF2-40B4-BE49-F238E27FC236}">
                <a16:creationId xmlns:a16="http://schemas.microsoft.com/office/drawing/2014/main" id="{872BE669-5D37-48C2-BAA5-B7920C2A5FC1}"/>
              </a:ext>
            </a:extLst>
          </p:cNvPr>
          <p:cNvSpPr>
            <a:spLocks noGrp="1" noChangeArrowheads="1"/>
          </p:cNvSpPr>
          <p:nvPr>
            <p:ph type="body" idx="1"/>
          </p:nvPr>
        </p:nvSpPr>
        <p:spPr>
          <a:xfrm>
            <a:off x="247650" y="4014788"/>
            <a:ext cx="8610600" cy="1646237"/>
          </a:xfrm>
        </p:spPr>
        <p:txBody>
          <a:bodyPr/>
          <a:lstStyle/>
          <a:p>
            <a:r>
              <a:rPr lang="en-US" altLang="en-US"/>
              <a:t>Không được khuyến nghị do hai lý do:</a:t>
            </a:r>
          </a:p>
          <a:p>
            <a:pPr lvl="1">
              <a:buFont typeface="ZapfDingbats" pitchFamily="82" charset="2"/>
              <a:buNone/>
            </a:pPr>
            <a:r>
              <a:rPr lang="en-US" altLang="en-US"/>
              <a:t>- nếu hub ở Computer Science bị hỏng thì mạng bị sập</a:t>
            </a:r>
          </a:p>
          <a:p>
            <a:pPr lvl="1">
              <a:buFont typeface="ZapfDingbats" pitchFamily="82" charset="2"/>
              <a:buNone/>
            </a:pPr>
            <a:r>
              <a:rPr lang="en-US" altLang="en-US"/>
              <a:t>- tất cả mọi lưu lượng giữa EE và SE phải đi qua đoạn CS</a:t>
            </a:r>
          </a:p>
        </p:txBody>
      </p:sp>
      <p:pic>
        <p:nvPicPr>
          <p:cNvPr id="366597" name="Picture 4" descr="567 noBackbone">
            <a:extLst>
              <a:ext uri="{FF2B5EF4-FFF2-40B4-BE49-F238E27FC236}">
                <a16:creationId xmlns:a16="http://schemas.microsoft.com/office/drawing/2014/main" id="{6C150E48-234A-4843-B609-35659DBD3D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676400"/>
            <a:ext cx="640238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Slide Number Placeholder 5">
            <a:extLst>
              <a:ext uri="{FF2B5EF4-FFF2-40B4-BE49-F238E27FC236}">
                <a16:creationId xmlns:a16="http://schemas.microsoft.com/office/drawing/2014/main" id="{76392F13-BEE0-4DD3-A1A3-5515D423DD0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461B184E-37D5-4496-856B-FB9E8860F591}" type="slidenum">
              <a:rPr lang="en-US" altLang="en-US" sz="1400" smtClean="0">
                <a:latin typeface="Times New Roman" panose="02020603050405020304" pitchFamily="18" charset="0"/>
              </a:rPr>
              <a:pPr>
                <a:spcBef>
                  <a:spcPct val="0"/>
                </a:spcBef>
                <a:buClrTx/>
                <a:buSzTx/>
                <a:buFontTx/>
                <a:buNone/>
              </a:pPr>
              <a:t>70</a:t>
            </a:fld>
            <a:endParaRPr lang="en-US" altLang="en-US" sz="1400">
              <a:latin typeface="Times New Roman" panose="02020603050405020304" pitchFamily="18" charset="0"/>
            </a:endParaRPr>
          </a:p>
        </p:txBody>
      </p:sp>
      <p:sp>
        <p:nvSpPr>
          <p:cNvPr id="367619" name="Rectangle 2">
            <a:extLst>
              <a:ext uri="{FF2B5EF4-FFF2-40B4-BE49-F238E27FC236}">
                <a16:creationId xmlns:a16="http://schemas.microsoft.com/office/drawing/2014/main" id="{D2D42A0A-E40D-46F8-9786-0DA366CFDEFB}"/>
              </a:ext>
            </a:extLst>
          </p:cNvPr>
          <p:cNvSpPr>
            <a:spLocks noGrp="1" noChangeArrowheads="1"/>
          </p:cNvSpPr>
          <p:nvPr>
            <p:ph type="title"/>
          </p:nvPr>
        </p:nvSpPr>
        <p:spPr>
          <a:xfrm>
            <a:off x="0" y="228600"/>
            <a:ext cx="9144000" cy="1143000"/>
          </a:xfrm>
        </p:spPr>
        <p:txBody>
          <a:bodyPr/>
          <a:lstStyle/>
          <a:p>
            <a:r>
              <a:rPr lang="en-US" altLang="en-US" sz="3600"/>
              <a:t>Backbone configuration </a:t>
            </a:r>
            <a:br>
              <a:rPr lang="en-US" altLang="en-US" sz="3600"/>
            </a:br>
            <a:r>
              <a:rPr lang="en-US" altLang="en-US" sz="3600"/>
              <a:t>(cấu hình đường trục)</a:t>
            </a:r>
          </a:p>
        </p:txBody>
      </p:sp>
      <p:pic>
        <p:nvPicPr>
          <p:cNvPr id="367620" name="Picture 3" descr="562 Bridge">
            <a:extLst>
              <a:ext uri="{FF2B5EF4-FFF2-40B4-BE49-F238E27FC236}">
                <a16:creationId xmlns:a16="http://schemas.microsoft.com/office/drawing/2014/main" id="{29C50576-5A4F-4CB9-9323-1A0390128CEA}"/>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630238" y="1911350"/>
            <a:ext cx="7772400" cy="2801938"/>
          </a:xfrm>
        </p:spPr>
      </p:pic>
      <p:sp>
        <p:nvSpPr>
          <p:cNvPr id="367621" name="Text Box 4">
            <a:extLst>
              <a:ext uri="{FF2B5EF4-FFF2-40B4-BE49-F238E27FC236}">
                <a16:creationId xmlns:a16="http://schemas.microsoft.com/office/drawing/2014/main" id="{416CBE03-6D0F-41A0-9FD2-32E0EFBE9BCF}"/>
              </a:ext>
            </a:extLst>
          </p:cNvPr>
          <p:cNvSpPr txBox="1">
            <a:spLocks noChangeArrowheads="1"/>
          </p:cNvSpPr>
          <p:nvPr/>
        </p:nvSpPr>
        <p:spPr bwMode="auto">
          <a:xfrm>
            <a:off x="712788" y="4846638"/>
            <a:ext cx="7712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Recommended !</a:t>
            </a:r>
          </a:p>
          <a:p>
            <a:pPr>
              <a:spcBef>
                <a:spcPct val="0"/>
              </a:spcBef>
              <a:buClrTx/>
              <a:buSzTx/>
              <a:buFontTx/>
              <a:buNone/>
            </a:pPr>
            <a:r>
              <a:rPr lang="en-US" altLang="en-US" sz="2400">
                <a:solidFill>
                  <a:srgbClr val="FF0000"/>
                </a:solidFill>
              </a:rPr>
              <a:t>Khuyến nghị!</a:t>
            </a:r>
            <a:endParaRPr lang="en-US" altLang="en-US" sz="24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Slide Number Placeholder 5">
            <a:extLst>
              <a:ext uri="{FF2B5EF4-FFF2-40B4-BE49-F238E27FC236}">
                <a16:creationId xmlns:a16="http://schemas.microsoft.com/office/drawing/2014/main" id="{248FCF23-D848-448A-9646-2E99933189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7F455D57-0A70-495C-9924-ED0E68330CEA}" type="slidenum">
              <a:rPr lang="en-US" altLang="en-US" sz="1400" smtClean="0">
                <a:latin typeface="Times New Roman" panose="02020603050405020304" pitchFamily="18" charset="0"/>
              </a:rPr>
              <a:pPr>
                <a:spcBef>
                  <a:spcPct val="0"/>
                </a:spcBef>
                <a:buClrTx/>
                <a:buSzTx/>
                <a:buFontTx/>
                <a:buNone/>
              </a:pPr>
              <a:t>71</a:t>
            </a:fld>
            <a:endParaRPr lang="en-US" altLang="en-US" sz="1400">
              <a:latin typeface="Times New Roman" panose="02020603050405020304" pitchFamily="18" charset="0"/>
            </a:endParaRPr>
          </a:p>
        </p:txBody>
      </p:sp>
      <p:sp>
        <p:nvSpPr>
          <p:cNvPr id="368643" name="Rectangle 2">
            <a:extLst>
              <a:ext uri="{FF2B5EF4-FFF2-40B4-BE49-F238E27FC236}">
                <a16:creationId xmlns:a16="http://schemas.microsoft.com/office/drawing/2014/main" id="{0F45725A-A889-47EC-82DE-06D2FBD1A7D2}"/>
              </a:ext>
            </a:extLst>
          </p:cNvPr>
          <p:cNvSpPr>
            <a:spLocks noGrp="1" noChangeArrowheads="1"/>
          </p:cNvSpPr>
          <p:nvPr>
            <p:ph type="title"/>
          </p:nvPr>
        </p:nvSpPr>
        <p:spPr/>
        <p:txBody>
          <a:bodyPr/>
          <a:lstStyle/>
          <a:p>
            <a:r>
              <a:rPr lang="en-US" altLang="en-US"/>
              <a:t>Bridges và cây trải rộng</a:t>
            </a:r>
          </a:p>
        </p:txBody>
      </p:sp>
      <p:sp>
        <p:nvSpPr>
          <p:cNvPr id="368644" name="Rectangle 3">
            <a:extLst>
              <a:ext uri="{FF2B5EF4-FFF2-40B4-BE49-F238E27FC236}">
                <a16:creationId xmlns:a16="http://schemas.microsoft.com/office/drawing/2014/main" id="{7CDB8EC1-4382-4751-8C26-9A642804702D}"/>
              </a:ext>
            </a:extLst>
          </p:cNvPr>
          <p:cNvSpPr>
            <a:spLocks noGrp="1" noChangeArrowheads="1"/>
          </p:cNvSpPr>
          <p:nvPr>
            <p:ph type="body" idx="1"/>
          </p:nvPr>
        </p:nvSpPr>
        <p:spPr>
          <a:xfrm>
            <a:off x="0" y="1349375"/>
            <a:ext cx="9144000" cy="2074863"/>
          </a:xfrm>
        </p:spPr>
        <p:txBody>
          <a:bodyPr/>
          <a:lstStyle/>
          <a:p>
            <a:r>
              <a:rPr lang="en-US" altLang="en-US" sz="2400"/>
              <a:t>để tăng độ tin cậy, thiết yếu phải có nhiều đường dẫn luân phiên, dư từ nguồn đến đích</a:t>
            </a:r>
          </a:p>
          <a:p>
            <a:r>
              <a:rPr lang="en-US" altLang="en-US" sz="2400"/>
              <a:t>với nhiều đường dẫn, kết quả là dễ tạo ra vòng lặp - bridges có thể nhận và chuyển tiếp một frame mãi mãi</a:t>
            </a:r>
          </a:p>
          <a:p>
            <a:r>
              <a:rPr lang="en-US" altLang="en-US" sz="2400"/>
              <a:t>giải pháp: tổ chức các bridges vào một cây trải rộng bằng cách tạm thời vô hiệu hóa một tập con các cổng nào đó</a:t>
            </a:r>
          </a:p>
        </p:txBody>
      </p:sp>
      <p:grpSp>
        <p:nvGrpSpPr>
          <p:cNvPr id="368645" name="Group 4">
            <a:extLst>
              <a:ext uri="{FF2B5EF4-FFF2-40B4-BE49-F238E27FC236}">
                <a16:creationId xmlns:a16="http://schemas.microsoft.com/office/drawing/2014/main" id="{FB4816EA-7E8D-4C25-9870-194D3C2469BA}"/>
              </a:ext>
            </a:extLst>
          </p:cNvPr>
          <p:cNvGrpSpPr>
            <a:grpSpLocks/>
          </p:cNvGrpSpPr>
          <p:nvPr/>
        </p:nvGrpSpPr>
        <p:grpSpPr bwMode="auto">
          <a:xfrm>
            <a:off x="784225" y="3898900"/>
            <a:ext cx="6402388" cy="2628900"/>
            <a:chOff x="576" y="2160"/>
            <a:chExt cx="4033" cy="1656"/>
          </a:xfrm>
        </p:grpSpPr>
        <p:pic>
          <p:nvPicPr>
            <p:cNvPr id="368646" name="Picture 5" descr="565 Bridges SpanningTree">
              <a:extLst>
                <a:ext uri="{FF2B5EF4-FFF2-40B4-BE49-F238E27FC236}">
                  <a16:creationId xmlns:a16="http://schemas.microsoft.com/office/drawing/2014/main" id="{B203922A-39A4-415E-B442-D8D9809106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 y="2208"/>
              <a:ext cx="4033"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47" name="AutoShape 6">
              <a:extLst>
                <a:ext uri="{FF2B5EF4-FFF2-40B4-BE49-F238E27FC236}">
                  <a16:creationId xmlns:a16="http://schemas.microsoft.com/office/drawing/2014/main" id="{E4042964-55C6-4CBB-BB5E-F729FEDBC70D}"/>
                </a:ext>
              </a:extLst>
            </p:cNvPr>
            <p:cNvSpPr>
              <a:spLocks noChangeArrowheads="1"/>
            </p:cNvSpPr>
            <p:nvPr/>
          </p:nvSpPr>
          <p:spPr bwMode="auto">
            <a:xfrm>
              <a:off x="2064" y="2496"/>
              <a:ext cx="336" cy="240"/>
            </a:xfrm>
            <a:prstGeom prst="irregularSeal1">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68648" name="AutoShape 7">
              <a:extLst>
                <a:ext uri="{FF2B5EF4-FFF2-40B4-BE49-F238E27FC236}">
                  <a16:creationId xmlns:a16="http://schemas.microsoft.com/office/drawing/2014/main" id="{7A0C9BCE-1468-4C7F-9BC5-634B36A12A45}"/>
                </a:ext>
              </a:extLst>
            </p:cNvPr>
            <p:cNvSpPr>
              <a:spLocks noChangeArrowheads="1"/>
            </p:cNvSpPr>
            <p:nvPr/>
          </p:nvSpPr>
          <p:spPr bwMode="auto">
            <a:xfrm>
              <a:off x="3648" y="3264"/>
              <a:ext cx="336" cy="240"/>
            </a:xfrm>
            <a:prstGeom prst="irregularSeal1">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68649" name="Line 8">
              <a:extLst>
                <a:ext uri="{FF2B5EF4-FFF2-40B4-BE49-F238E27FC236}">
                  <a16:creationId xmlns:a16="http://schemas.microsoft.com/office/drawing/2014/main" id="{8747D358-4CE5-42C0-8095-D472EC1FF3F7}"/>
                </a:ext>
              </a:extLst>
            </p:cNvPr>
            <p:cNvSpPr>
              <a:spLocks noChangeShapeType="1"/>
            </p:cNvSpPr>
            <p:nvPr/>
          </p:nvSpPr>
          <p:spPr bwMode="auto">
            <a:xfrm>
              <a:off x="1632" y="2352"/>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8650" name="Text Box 9">
              <a:extLst>
                <a:ext uri="{FF2B5EF4-FFF2-40B4-BE49-F238E27FC236}">
                  <a16:creationId xmlns:a16="http://schemas.microsoft.com/office/drawing/2014/main" id="{F8B97419-2680-49A7-BC10-1F56A4A65CC3}"/>
                </a:ext>
              </a:extLst>
            </p:cNvPr>
            <p:cNvSpPr txBox="1">
              <a:spLocks noChangeArrowheads="1"/>
            </p:cNvSpPr>
            <p:nvPr/>
          </p:nvSpPr>
          <p:spPr bwMode="auto">
            <a:xfrm>
              <a:off x="1248" y="2160"/>
              <a:ext cx="6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latin typeface="Times New Roman" panose="02020603050405020304" pitchFamily="18" charset="0"/>
                </a:rPr>
                <a:t>Disabled</a:t>
              </a:r>
              <a:endParaRPr lang="en-US" altLang="en-US" sz="3200">
                <a:latin typeface="Times New Roman" panose="02020603050405020304" pitchFamily="18" charset="0"/>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Slide Number Placeholder 5">
            <a:extLst>
              <a:ext uri="{FF2B5EF4-FFF2-40B4-BE49-F238E27FC236}">
                <a16:creationId xmlns:a16="http://schemas.microsoft.com/office/drawing/2014/main" id="{1527DF92-D00A-40D6-83BF-B914787E21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BC8A779E-EF6D-4002-A403-1E1B0664F46D}" type="slidenum">
              <a:rPr lang="en-US" altLang="en-US" sz="1400" smtClean="0">
                <a:latin typeface="Times New Roman" panose="02020603050405020304" pitchFamily="18" charset="0"/>
              </a:rPr>
              <a:pPr>
                <a:spcBef>
                  <a:spcPct val="0"/>
                </a:spcBef>
                <a:buClrTx/>
                <a:buSzTx/>
                <a:buFontTx/>
                <a:buNone/>
              </a:pPr>
              <a:t>72</a:t>
            </a:fld>
            <a:endParaRPr lang="en-US" altLang="en-US" sz="1400">
              <a:latin typeface="Times New Roman" panose="02020603050405020304" pitchFamily="18" charset="0"/>
            </a:endParaRPr>
          </a:p>
        </p:txBody>
      </p:sp>
      <p:sp>
        <p:nvSpPr>
          <p:cNvPr id="369667" name="Rectangle 2">
            <a:extLst>
              <a:ext uri="{FF2B5EF4-FFF2-40B4-BE49-F238E27FC236}">
                <a16:creationId xmlns:a16="http://schemas.microsoft.com/office/drawing/2014/main" id="{30D1B849-9761-4578-B0FD-B6459884B38D}"/>
              </a:ext>
            </a:extLst>
          </p:cNvPr>
          <p:cNvSpPr>
            <a:spLocks noGrp="1" noChangeArrowheads="1"/>
          </p:cNvSpPr>
          <p:nvPr>
            <p:ph type="title"/>
          </p:nvPr>
        </p:nvSpPr>
        <p:spPr/>
        <p:txBody>
          <a:bodyPr/>
          <a:lstStyle/>
          <a:p>
            <a:r>
              <a:rPr lang="en-US" altLang="en-US" sz="3600"/>
              <a:t>Một số điểm đặc trưng của bridge</a:t>
            </a:r>
          </a:p>
        </p:txBody>
      </p:sp>
      <p:sp>
        <p:nvSpPr>
          <p:cNvPr id="369668" name="Rectangle 3">
            <a:extLst>
              <a:ext uri="{FF2B5EF4-FFF2-40B4-BE49-F238E27FC236}">
                <a16:creationId xmlns:a16="http://schemas.microsoft.com/office/drawing/2014/main" id="{BCF05E9E-C6BE-4538-8B73-BE6BC94E04D8}"/>
              </a:ext>
            </a:extLst>
          </p:cNvPr>
          <p:cNvSpPr>
            <a:spLocks noGrp="1" noChangeArrowheads="1"/>
          </p:cNvSpPr>
          <p:nvPr>
            <p:ph type="body" idx="1"/>
          </p:nvPr>
        </p:nvSpPr>
        <p:spPr>
          <a:xfrm>
            <a:off x="496888" y="1768475"/>
            <a:ext cx="8647112" cy="4648200"/>
          </a:xfrm>
        </p:spPr>
        <p:txBody>
          <a:bodyPr/>
          <a:lstStyle/>
          <a:p>
            <a:r>
              <a:rPr lang="en-US" altLang="en-US" sz="3200"/>
              <a:t>Tách được các miền xung đột nên làm cho thông lượng tối đa của mạng tăng lên</a:t>
            </a:r>
          </a:p>
          <a:p>
            <a:r>
              <a:rPr lang="en-US" altLang="en-US" sz="3200"/>
              <a:t>Không bị giới hạn bởi số nút và tầm bao phủ địa lý</a:t>
            </a:r>
          </a:p>
          <a:p>
            <a:r>
              <a:rPr lang="en-US" altLang="en-US" sz="3200"/>
              <a:t>Có thể kết nối với nhiều loại Ethernet khác nhau</a:t>
            </a:r>
          </a:p>
          <a:p>
            <a:r>
              <a:rPr lang="en-US" altLang="en-US" sz="3200"/>
              <a:t>Trong suốt (“cắm là chạy”): không cần thiết phải cấu hình</a:t>
            </a:r>
            <a:endParaRPr lang="en-US" altLang="en-US" sz="36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Slide Number Placeholder 5">
            <a:extLst>
              <a:ext uri="{FF2B5EF4-FFF2-40B4-BE49-F238E27FC236}">
                <a16:creationId xmlns:a16="http://schemas.microsoft.com/office/drawing/2014/main" id="{0196E258-AB31-4849-8536-C2F4B45FA2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734909E6-6DC8-4058-AE7E-6B415339C6A7}" type="slidenum">
              <a:rPr lang="en-US" altLang="en-US" sz="1400" smtClean="0">
                <a:latin typeface="Times New Roman" panose="02020603050405020304" pitchFamily="18" charset="0"/>
              </a:rPr>
              <a:pPr>
                <a:spcBef>
                  <a:spcPct val="0"/>
                </a:spcBef>
                <a:buClrTx/>
                <a:buSzTx/>
                <a:buFontTx/>
                <a:buNone/>
              </a:pPr>
              <a:t>73</a:t>
            </a:fld>
            <a:endParaRPr lang="en-US" altLang="en-US" sz="1400">
              <a:latin typeface="Times New Roman" panose="02020603050405020304" pitchFamily="18" charset="0"/>
            </a:endParaRPr>
          </a:p>
        </p:txBody>
      </p:sp>
      <p:sp>
        <p:nvSpPr>
          <p:cNvPr id="370691" name="Rectangle 2">
            <a:extLst>
              <a:ext uri="{FF2B5EF4-FFF2-40B4-BE49-F238E27FC236}">
                <a16:creationId xmlns:a16="http://schemas.microsoft.com/office/drawing/2014/main" id="{DD869454-A266-4F47-8B4C-71851B470379}"/>
              </a:ext>
            </a:extLst>
          </p:cNvPr>
          <p:cNvSpPr>
            <a:spLocks noGrp="1" noChangeArrowheads="1"/>
          </p:cNvSpPr>
          <p:nvPr>
            <p:ph type="title"/>
          </p:nvPr>
        </p:nvSpPr>
        <p:spPr>
          <a:xfrm>
            <a:off x="533400" y="0"/>
            <a:ext cx="7772400" cy="1143000"/>
          </a:xfrm>
        </p:spPr>
        <p:txBody>
          <a:bodyPr/>
          <a:lstStyle/>
          <a:p>
            <a:r>
              <a:rPr lang="en-US" altLang="en-US"/>
              <a:t>Ethernet Switches</a:t>
            </a:r>
          </a:p>
        </p:txBody>
      </p:sp>
      <p:sp>
        <p:nvSpPr>
          <p:cNvPr id="370692" name="Rectangle 3">
            <a:extLst>
              <a:ext uri="{FF2B5EF4-FFF2-40B4-BE49-F238E27FC236}">
                <a16:creationId xmlns:a16="http://schemas.microsoft.com/office/drawing/2014/main" id="{BA3AFFF8-D649-4E93-9BC5-7D82C547116F}"/>
              </a:ext>
            </a:extLst>
          </p:cNvPr>
          <p:cNvSpPr>
            <a:spLocks noGrp="1" noChangeArrowheads="1"/>
          </p:cNvSpPr>
          <p:nvPr>
            <p:ph type="body" idx="1"/>
          </p:nvPr>
        </p:nvSpPr>
        <p:spPr>
          <a:xfrm>
            <a:off x="0" y="1147763"/>
            <a:ext cx="4987925" cy="4576762"/>
          </a:xfrm>
        </p:spPr>
        <p:txBody>
          <a:bodyPr/>
          <a:lstStyle/>
          <a:p>
            <a:r>
              <a:rPr lang="en-US" altLang="en-US" sz="2400"/>
              <a:t>thực chất là bridge nhiều cổng</a:t>
            </a:r>
          </a:p>
          <a:p>
            <a:r>
              <a:rPr lang="en-US" altLang="en-US" sz="2400"/>
              <a:t>lọc và chuyển tiếp frame dữ liệu sử dụng địa chỉ vật lý</a:t>
            </a:r>
          </a:p>
          <a:p>
            <a:r>
              <a:rPr lang="en-US" altLang="en-US" sz="2400">
                <a:solidFill>
                  <a:schemeClr val="accent2"/>
                </a:solidFill>
              </a:rPr>
              <a:t>Switching: </a:t>
            </a:r>
            <a:r>
              <a:rPr lang="en-US" altLang="en-US" sz="2400"/>
              <a:t>A-to-A’ và B-to-B’ truyền dữ liệu đồng thời mà không bị xung đột</a:t>
            </a:r>
          </a:p>
          <a:p>
            <a:r>
              <a:rPr lang="en-US" altLang="en-US" sz="2400"/>
              <a:t>có nhiều mạch giao tiếp (cổng)</a:t>
            </a:r>
          </a:p>
          <a:p>
            <a:r>
              <a:rPr lang="en-US" altLang="en-US" sz="2400"/>
              <a:t>thông thường thì các trạm kết nối dạng hình sao đến switch</a:t>
            </a:r>
          </a:p>
          <a:p>
            <a:pPr lvl="1"/>
            <a:r>
              <a:rPr lang="en-US" altLang="en-US"/>
              <a:t>Ethernet, nhưng không xung đột!</a:t>
            </a:r>
          </a:p>
          <a:p>
            <a:endParaRPr lang="en-US" altLang="en-US" sz="2400"/>
          </a:p>
        </p:txBody>
      </p:sp>
      <p:pic>
        <p:nvPicPr>
          <p:cNvPr id="370693" name="Picture 4" descr="05-35">
            <a:extLst>
              <a:ext uri="{FF2B5EF4-FFF2-40B4-BE49-F238E27FC236}">
                <a16:creationId xmlns:a16="http://schemas.microsoft.com/office/drawing/2014/main" id="{A8043D5D-19DD-4217-A0AB-05737DC0E5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0300" y="1789113"/>
            <a:ext cx="3875088" cy="402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Slide Number Placeholder 7">
            <a:extLst>
              <a:ext uri="{FF2B5EF4-FFF2-40B4-BE49-F238E27FC236}">
                <a16:creationId xmlns:a16="http://schemas.microsoft.com/office/drawing/2014/main" id="{172441A6-DED4-4041-AD73-68D3AEA458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319C6B64-814B-487D-90FB-02D3F711D88A}" type="slidenum">
              <a:rPr lang="en-US" altLang="en-US" sz="1400" smtClean="0">
                <a:latin typeface="Times New Roman" panose="02020603050405020304" pitchFamily="18" charset="0"/>
              </a:rPr>
              <a:pPr>
                <a:spcBef>
                  <a:spcPct val="0"/>
                </a:spcBef>
                <a:buClrTx/>
                <a:buSzTx/>
                <a:buFontTx/>
                <a:buNone/>
              </a:pPr>
              <a:t>74</a:t>
            </a:fld>
            <a:endParaRPr lang="en-US" altLang="en-US" sz="1400">
              <a:latin typeface="Times New Roman" panose="02020603050405020304" pitchFamily="18" charset="0"/>
            </a:endParaRPr>
          </a:p>
        </p:txBody>
      </p:sp>
      <p:sp>
        <p:nvSpPr>
          <p:cNvPr id="371715" name="Rectangle 2">
            <a:extLst>
              <a:ext uri="{FF2B5EF4-FFF2-40B4-BE49-F238E27FC236}">
                <a16:creationId xmlns:a16="http://schemas.microsoft.com/office/drawing/2014/main" id="{2CFBC7F9-36B2-4F67-84A8-F11B8AE50FD6}"/>
              </a:ext>
            </a:extLst>
          </p:cNvPr>
          <p:cNvSpPr>
            <a:spLocks noGrp="1" noChangeArrowheads="1"/>
          </p:cNvSpPr>
          <p:nvPr>
            <p:ph type="title"/>
          </p:nvPr>
        </p:nvSpPr>
        <p:spPr/>
        <p:txBody>
          <a:bodyPr/>
          <a:lstStyle/>
          <a:p>
            <a:r>
              <a:rPr lang="en-US" altLang="en-US"/>
              <a:t>Các lợi ích của Switch</a:t>
            </a:r>
          </a:p>
        </p:txBody>
      </p:sp>
      <p:sp>
        <p:nvSpPr>
          <p:cNvPr id="371716" name="Rectangle 3">
            <a:extLst>
              <a:ext uri="{FF2B5EF4-FFF2-40B4-BE49-F238E27FC236}">
                <a16:creationId xmlns:a16="http://schemas.microsoft.com/office/drawing/2014/main" id="{1F3CA0B3-4110-494C-8B7C-4A342E1DDD00}"/>
              </a:ext>
            </a:extLst>
          </p:cNvPr>
          <p:cNvSpPr>
            <a:spLocks noGrp="1" noChangeArrowheads="1"/>
          </p:cNvSpPr>
          <p:nvPr>
            <p:ph type="body" sz="half" idx="1"/>
          </p:nvPr>
        </p:nvSpPr>
        <p:spPr>
          <a:xfrm>
            <a:off x="336550" y="1778000"/>
            <a:ext cx="4400550" cy="4692650"/>
          </a:xfrm>
        </p:spPr>
        <p:txBody>
          <a:bodyPr/>
          <a:lstStyle/>
          <a:p>
            <a:pPr>
              <a:lnSpc>
                <a:spcPct val="90000"/>
              </a:lnSpc>
            </a:pPr>
            <a:r>
              <a:rPr lang="en-US" altLang="en-US" sz="2400"/>
              <a:t>Cung cấp sự phân đoạn</a:t>
            </a:r>
          </a:p>
          <a:p>
            <a:pPr>
              <a:lnSpc>
                <a:spcPct val="90000"/>
              </a:lnSpc>
            </a:pPr>
            <a:r>
              <a:rPr lang="en-US" altLang="en-US" sz="2400"/>
              <a:t>Tăng gấp đôi dải thông giữa các nút</a:t>
            </a:r>
          </a:p>
          <a:p>
            <a:pPr>
              <a:lnSpc>
                <a:spcPct val="90000"/>
              </a:lnSpc>
            </a:pPr>
            <a:r>
              <a:rPr lang="en-US" altLang="en-US" sz="2400"/>
              <a:t>Truyền dữ liệu không xung đột</a:t>
            </a:r>
          </a:p>
          <a:p>
            <a:pPr>
              <a:lnSpc>
                <a:spcPct val="90000"/>
              </a:lnSpc>
            </a:pPr>
            <a:r>
              <a:rPr lang="en-US" altLang="en-US" sz="2400"/>
              <a:t>Kết hợp nhiều cổng với tốc độ khác nhau (10/100/1000 Mbps) và các cổng này có thể được chia sẻ hoặc dành riêng</a:t>
            </a:r>
            <a:endParaRPr lang="en-US" altLang="en-US" sz="2400" b="1"/>
          </a:p>
          <a:p>
            <a:pPr>
              <a:lnSpc>
                <a:spcPct val="90000"/>
              </a:lnSpc>
            </a:pPr>
            <a:r>
              <a:rPr lang="en-US" altLang="en-US" sz="2400"/>
              <a:t>Cho phép nhiều mạch hoạt động đồng thời</a:t>
            </a:r>
          </a:p>
        </p:txBody>
      </p:sp>
      <p:graphicFrame>
        <p:nvGraphicFramePr>
          <p:cNvPr id="371717" name="Object 4">
            <a:extLst>
              <a:ext uri="{FF2B5EF4-FFF2-40B4-BE49-F238E27FC236}">
                <a16:creationId xmlns:a16="http://schemas.microsoft.com/office/drawing/2014/main" id="{FAD56691-9A08-4A83-8F48-B24E274182BA}"/>
              </a:ext>
            </a:extLst>
          </p:cNvPr>
          <p:cNvGraphicFramePr>
            <a:graphicFrameLocks noGrp="1" noChangeAspect="1"/>
          </p:cNvGraphicFramePr>
          <p:nvPr>
            <p:ph sz="quarter" idx="2"/>
          </p:nvPr>
        </p:nvGraphicFramePr>
        <p:xfrm>
          <a:off x="4768850" y="1979613"/>
          <a:ext cx="4298950" cy="1139825"/>
        </p:xfrm>
        <a:graphic>
          <a:graphicData uri="http://schemas.openxmlformats.org/presentationml/2006/ole">
            <mc:AlternateContent xmlns:mc="http://schemas.openxmlformats.org/markup-compatibility/2006">
              <mc:Choice xmlns:v="urn:schemas-microsoft-com:vml" Requires="v">
                <p:oleObj spid="_x0000_s371733" name="Image" r:id="rId3" imgW="6539683" imgH="1752381" progId="Photoshop.Image.6">
                  <p:embed/>
                </p:oleObj>
              </mc:Choice>
              <mc:Fallback>
                <p:oleObj name="Image" r:id="rId3" imgW="6539683" imgH="1752381" progId="Photoshop.Image.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8850" y="1979613"/>
                        <a:ext cx="429895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71718" name="Picture 5">
            <a:extLst>
              <a:ext uri="{FF2B5EF4-FFF2-40B4-BE49-F238E27FC236}">
                <a16:creationId xmlns:a16="http://schemas.microsoft.com/office/drawing/2014/main" id="{0C32BF5C-6385-4A54-B675-7A24183BE6DF}"/>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4883150" y="3725863"/>
            <a:ext cx="3032125" cy="2054225"/>
          </a:xfr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Slide Number Placeholder 5">
            <a:extLst>
              <a:ext uri="{FF2B5EF4-FFF2-40B4-BE49-F238E27FC236}">
                <a16:creationId xmlns:a16="http://schemas.microsoft.com/office/drawing/2014/main" id="{201394E4-E3DC-4858-ADFC-AAE6A07905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BFF10E7D-330C-4A61-AFAC-5118DC91A0DC}" type="slidenum">
              <a:rPr lang="en-US" altLang="en-US" sz="1400" smtClean="0">
                <a:latin typeface="Times New Roman" panose="02020603050405020304" pitchFamily="18" charset="0"/>
              </a:rPr>
              <a:pPr>
                <a:spcBef>
                  <a:spcPct val="0"/>
                </a:spcBef>
                <a:buClrTx/>
                <a:buSzTx/>
                <a:buFontTx/>
                <a:buNone/>
              </a:pPr>
              <a:t>75</a:t>
            </a:fld>
            <a:endParaRPr lang="en-US" altLang="en-US" sz="1400">
              <a:latin typeface="Times New Roman" panose="02020603050405020304" pitchFamily="18" charset="0"/>
            </a:endParaRPr>
          </a:p>
        </p:txBody>
      </p:sp>
      <p:sp>
        <p:nvSpPr>
          <p:cNvPr id="372739" name="Rectangle 2">
            <a:extLst>
              <a:ext uri="{FF2B5EF4-FFF2-40B4-BE49-F238E27FC236}">
                <a16:creationId xmlns:a16="http://schemas.microsoft.com/office/drawing/2014/main" id="{3C7BE4B3-8411-48A5-8EC9-08AA525DCCA0}"/>
              </a:ext>
            </a:extLst>
          </p:cNvPr>
          <p:cNvSpPr>
            <a:spLocks noGrp="1" noChangeArrowheads="1"/>
          </p:cNvSpPr>
          <p:nvPr>
            <p:ph type="title"/>
          </p:nvPr>
        </p:nvSpPr>
        <p:spPr/>
        <p:txBody>
          <a:bodyPr/>
          <a:lstStyle/>
          <a:p>
            <a:r>
              <a:rPr lang="en-US" altLang="en-US"/>
              <a:t>Các cách thức chuyển mạch</a:t>
            </a:r>
          </a:p>
        </p:txBody>
      </p:sp>
      <p:sp>
        <p:nvSpPr>
          <p:cNvPr id="372740" name="Rectangle 3">
            <a:extLst>
              <a:ext uri="{FF2B5EF4-FFF2-40B4-BE49-F238E27FC236}">
                <a16:creationId xmlns:a16="http://schemas.microsoft.com/office/drawing/2014/main" id="{787C70D8-FC44-414F-BE84-5EB11A94BA98}"/>
              </a:ext>
            </a:extLst>
          </p:cNvPr>
          <p:cNvSpPr>
            <a:spLocks noGrp="1" noChangeArrowheads="1"/>
          </p:cNvSpPr>
          <p:nvPr>
            <p:ph type="body" idx="1"/>
          </p:nvPr>
        </p:nvSpPr>
        <p:spPr>
          <a:xfrm>
            <a:off x="609600" y="1219200"/>
            <a:ext cx="8534400" cy="4191000"/>
          </a:xfrm>
          <a:noFill/>
        </p:spPr>
        <p:txBody>
          <a:bodyPr anchor="ctr"/>
          <a:lstStyle/>
          <a:p>
            <a:pPr marL="349250" indent="-349250">
              <a:lnSpc>
                <a:spcPct val="90000"/>
              </a:lnSpc>
              <a:spcBef>
                <a:spcPct val="30000"/>
              </a:spcBef>
            </a:pPr>
            <a:r>
              <a:rPr lang="en-US" altLang="en-US" sz="2400" b="1">
                <a:solidFill>
                  <a:srgbClr val="FF3300"/>
                </a:solidFill>
              </a:rPr>
              <a:t>Store-and-forward</a:t>
            </a:r>
            <a:r>
              <a:rPr lang="en-US" altLang="en-US" sz="2400" b="1"/>
              <a:t>:</a:t>
            </a:r>
            <a:r>
              <a:rPr lang="en-US" altLang="en-US" sz="2400"/>
              <a:t> </a:t>
            </a:r>
          </a:p>
          <a:p>
            <a:pPr marL="914400" lvl="1" indent="-447675">
              <a:lnSpc>
                <a:spcPct val="90000"/>
              </a:lnSpc>
              <a:spcBef>
                <a:spcPct val="30000"/>
              </a:spcBef>
            </a:pPr>
            <a:r>
              <a:rPr lang="en-US" altLang="en-US" sz="2000"/>
              <a:t>Toàn bộ frame được nhận trước khi nó được chuyển tiếp đi.</a:t>
            </a:r>
          </a:p>
          <a:p>
            <a:pPr marL="914400" lvl="1" indent="-447675">
              <a:lnSpc>
                <a:spcPct val="90000"/>
              </a:lnSpc>
              <a:spcBef>
                <a:spcPct val="30000"/>
              </a:spcBef>
            </a:pPr>
            <a:r>
              <a:rPr lang="en-US" altLang="en-US" sz="2000"/>
              <a:t>Độ trễ tăng lên đối với các frame lớn. </a:t>
            </a:r>
          </a:p>
          <a:p>
            <a:pPr marL="914400" lvl="1" indent="-447675">
              <a:lnSpc>
                <a:spcPct val="90000"/>
              </a:lnSpc>
              <a:spcBef>
                <a:spcPct val="30000"/>
              </a:spcBef>
            </a:pPr>
            <a:r>
              <a:rPr lang="en-US" altLang="en-US" sz="2000"/>
              <a:t>Khả năng dò tìm lỗi là cao.</a:t>
            </a:r>
          </a:p>
          <a:p>
            <a:pPr marL="349250" indent="-349250">
              <a:lnSpc>
                <a:spcPct val="90000"/>
              </a:lnSpc>
              <a:spcBef>
                <a:spcPct val="30000"/>
              </a:spcBef>
            </a:pPr>
            <a:r>
              <a:rPr lang="en-US" altLang="en-US" sz="2400" b="1">
                <a:solidFill>
                  <a:srgbClr val="FF3300"/>
                </a:solidFill>
              </a:rPr>
              <a:t>Cut-through</a:t>
            </a:r>
            <a:r>
              <a:rPr lang="en-US" altLang="en-US" sz="2400" b="1"/>
              <a:t>: </a:t>
            </a:r>
          </a:p>
          <a:p>
            <a:pPr marL="914400" lvl="1" indent="-447675">
              <a:lnSpc>
                <a:spcPct val="90000"/>
              </a:lnSpc>
            </a:pPr>
            <a:r>
              <a:rPr lang="en-US" altLang="en-US" sz="2000"/>
              <a:t>Chuyển tiếp frame ngay khi kiểm tra xong địa chỉ (vật lý) đích.</a:t>
            </a:r>
          </a:p>
          <a:p>
            <a:pPr marL="914400" lvl="1" indent="-447675">
              <a:lnSpc>
                <a:spcPct val="90000"/>
              </a:lnSpc>
            </a:pPr>
            <a:r>
              <a:rPr lang="en-US" altLang="en-US" sz="2000"/>
              <a:t>Không kiểm tra lỗi </a:t>
            </a:r>
          </a:p>
          <a:p>
            <a:pPr marL="914400" lvl="1" indent="-447675">
              <a:lnSpc>
                <a:spcPct val="90000"/>
              </a:lnSpc>
            </a:pPr>
            <a:r>
              <a:rPr lang="en-US" altLang="en-US" sz="2000"/>
              <a:t>Sinh ra độ trễ thấp nhất</a:t>
            </a:r>
          </a:p>
          <a:p>
            <a:pPr marL="349250" indent="-349250">
              <a:lnSpc>
                <a:spcPct val="90000"/>
              </a:lnSpc>
            </a:pPr>
            <a:r>
              <a:rPr lang="en-US" altLang="en-US" sz="2400" b="1">
                <a:solidFill>
                  <a:srgbClr val="FF3300"/>
                </a:solidFill>
              </a:rPr>
              <a:t>Fragment-free switching</a:t>
            </a:r>
            <a:r>
              <a:rPr lang="en-US" altLang="en-US" sz="2400"/>
              <a:t>: </a:t>
            </a:r>
          </a:p>
          <a:p>
            <a:pPr marL="914400" lvl="1" indent="-447675">
              <a:lnSpc>
                <a:spcPct val="90000"/>
              </a:lnSpc>
            </a:pPr>
            <a:r>
              <a:rPr lang="en-US" altLang="en-US" sz="2000"/>
              <a:t>Chuyển tiếp frame sau khi nhận được 64 bytes đầu tiên.</a:t>
            </a:r>
          </a:p>
          <a:p>
            <a:pPr marL="914400" lvl="1" indent="-447675">
              <a:lnSpc>
                <a:spcPct val="90000"/>
              </a:lnSpc>
            </a:pPr>
            <a:r>
              <a:rPr lang="en-US" altLang="en-US" sz="2000"/>
              <a:t>Lọc được các frame xung đột (có kích cỡ &lt; 64 bytes)</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Slide Number Placeholder 5">
            <a:extLst>
              <a:ext uri="{FF2B5EF4-FFF2-40B4-BE49-F238E27FC236}">
                <a16:creationId xmlns:a16="http://schemas.microsoft.com/office/drawing/2014/main" id="{BD00CF79-115D-4788-94AF-30583B1EF76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A87D3BB-E539-406D-B6D9-9B858EBA6AA4}" type="slidenum">
              <a:rPr lang="en-US" altLang="en-US" sz="1400" smtClean="0">
                <a:latin typeface="Times New Roman" panose="02020603050405020304" pitchFamily="18" charset="0"/>
              </a:rPr>
              <a:pPr>
                <a:spcBef>
                  <a:spcPct val="0"/>
                </a:spcBef>
                <a:buClrTx/>
                <a:buSzTx/>
                <a:buFontTx/>
                <a:buNone/>
              </a:pPr>
              <a:t>76</a:t>
            </a:fld>
            <a:endParaRPr lang="en-US" altLang="en-US" sz="1400">
              <a:latin typeface="Times New Roman" panose="02020603050405020304" pitchFamily="18" charset="0"/>
            </a:endParaRPr>
          </a:p>
        </p:txBody>
      </p:sp>
      <p:sp>
        <p:nvSpPr>
          <p:cNvPr id="373763" name="Rectangle 2">
            <a:extLst>
              <a:ext uri="{FF2B5EF4-FFF2-40B4-BE49-F238E27FC236}">
                <a16:creationId xmlns:a16="http://schemas.microsoft.com/office/drawing/2014/main" id="{76987E00-EFD1-4AB5-A66B-B5F65D170C4D}"/>
              </a:ext>
            </a:extLst>
          </p:cNvPr>
          <p:cNvSpPr>
            <a:spLocks noGrp="1" noChangeArrowheads="1"/>
          </p:cNvSpPr>
          <p:nvPr>
            <p:ph type="title"/>
          </p:nvPr>
        </p:nvSpPr>
        <p:spPr/>
        <p:txBody>
          <a:bodyPr/>
          <a:lstStyle/>
          <a:p>
            <a:r>
              <a:rPr lang="en-US" altLang="en-US" sz="3600"/>
              <a:t>Forwarding Decision</a:t>
            </a:r>
            <a:br>
              <a:rPr lang="en-US" altLang="en-US" sz="3600"/>
            </a:br>
            <a:r>
              <a:rPr lang="en-US" altLang="en-US" sz="3600"/>
              <a:t>(Quyết định chuyển tiếp)</a:t>
            </a:r>
          </a:p>
        </p:txBody>
      </p:sp>
      <p:graphicFrame>
        <p:nvGraphicFramePr>
          <p:cNvPr id="373764" name="Object 3">
            <a:extLst>
              <a:ext uri="{FF2B5EF4-FFF2-40B4-BE49-F238E27FC236}">
                <a16:creationId xmlns:a16="http://schemas.microsoft.com/office/drawing/2014/main" id="{028214B7-4DB9-41B5-95D7-1EC26721ADBE}"/>
              </a:ext>
            </a:extLst>
          </p:cNvPr>
          <p:cNvGraphicFramePr>
            <a:graphicFrameLocks noGrp="1" noChangeAspect="1"/>
          </p:cNvGraphicFramePr>
          <p:nvPr>
            <p:ph idx="1"/>
          </p:nvPr>
        </p:nvGraphicFramePr>
        <p:xfrm>
          <a:off x="1524000" y="1333500"/>
          <a:ext cx="6132513" cy="5219700"/>
        </p:xfrm>
        <a:graphic>
          <a:graphicData uri="http://schemas.openxmlformats.org/presentationml/2006/ole">
            <mc:AlternateContent xmlns:mc="http://schemas.openxmlformats.org/markup-compatibility/2006">
              <mc:Choice xmlns:v="urn:schemas-microsoft-com:vml" Requires="v">
                <p:oleObj spid="_x0000_s373779" name="Image" r:id="rId3" imgW="8698413" imgH="7403175" progId="Photoshop.Image.6">
                  <p:embed/>
                </p:oleObj>
              </mc:Choice>
              <mc:Fallback>
                <p:oleObj name="Image" r:id="rId3" imgW="8698413" imgH="7403175" progId="Photoshop.Image.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333500"/>
                        <a:ext cx="6132513"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Slide Number Placeholder 5">
            <a:extLst>
              <a:ext uri="{FF2B5EF4-FFF2-40B4-BE49-F238E27FC236}">
                <a16:creationId xmlns:a16="http://schemas.microsoft.com/office/drawing/2014/main" id="{66D8AE62-89D0-418C-AA1B-39A0ABD2FF7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3F572BDE-D870-49CD-A5D0-C32BF01C2352}" type="slidenum">
              <a:rPr lang="en-US" altLang="en-US" sz="1400" smtClean="0">
                <a:latin typeface="Times New Roman" panose="02020603050405020304" pitchFamily="18" charset="0"/>
              </a:rPr>
              <a:pPr>
                <a:spcBef>
                  <a:spcPct val="0"/>
                </a:spcBef>
                <a:buClrTx/>
                <a:buSzTx/>
                <a:buFontTx/>
                <a:buNone/>
              </a:pPr>
              <a:t>77</a:t>
            </a:fld>
            <a:endParaRPr lang="en-US" altLang="en-US" sz="1400">
              <a:latin typeface="Times New Roman" panose="02020603050405020304" pitchFamily="18" charset="0"/>
            </a:endParaRPr>
          </a:p>
        </p:txBody>
      </p:sp>
      <p:sp>
        <p:nvSpPr>
          <p:cNvPr id="374787" name="Rectangle 2">
            <a:extLst>
              <a:ext uri="{FF2B5EF4-FFF2-40B4-BE49-F238E27FC236}">
                <a16:creationId xmlns:a16="http://schemas.microsoft.com/office/drawing/2014/main" id="{58F9A91C-47D7-4817-80DE-131C27413D86}"/>
              </a:ext>
            </a:extLst>
          </p:cNvPr>
          <p:cNvSpPr>
            <a:spLocks noGrp="1" noChangeArrowheads="1"/>
          </p:cNvSpPr>
          <p:nvPr>
            <p:ph type="title"/>
          </p:nvPr>
        </p:nvSpPr>
        <p:spPr>
          <a:xfrm>
            <a:off x="0" y="228600"/>
            <a:ext cx="9144000" cy="1143000"/>
          </a:xfrm>
        </p:spPr>
        <p:txBody>
          <a:bodyPr/>
          <a:lstStyle/>
          <a:p>
            <a:r>
              <a:rPr lang="en-US" altLang="en-US" sz="3600"/>
              <a:t>Ví dụ về một dạng mạng LAN phổ biến </a:t>
            </a:r>
            <a:br>
              <a:rPr lang="en-US" altLang="en-US" sz="3600"/>
            </a:br>
            <a:r>
              <a:rPr lang="en-US" altLang="en-US" sz="3600"/>
              <a:t>(IP network)</a:t>
            </a:r>
          </a:p>
        </p:txBody>
      </p:sp>
      <p:sp>
        <p:nvSpPr>
          <p:cNvPr id="374788" name="Text Box 3">
            <a:extLst>
              <a:ext uri="{FF2B5EF4-FFF2-40B4-BE49-F238E27FC236}">
                <a16:creationId xmlns:a16="http://schemas.microsoft.com/office/drawing/2014/main" id="{E012AEAA-940C-421F-9787-C04EE768D479}"/>
              </a:ext>
            </a:extLst>
          </p:cNvPr>
          <p:cNvSpPr txBox="1">
            <a:spLocks noChangeArrowheads="1"/>
          </p:cNvSpPr>
          <p:nvPr/>
        </p:nvSpPr>
        <p:spPr bwMode="auto">
          <a:xfrm>
            <a:off x="5165725" y="1409700"/>
            <a:ext cx="1111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latin typeface="Times New Roman" panose="02020603050405020304" pitchFamily="18" charset="0"/>
              </a:rPr>
              <a:t>Dedicated</a:t>
            </a:r>
            <a:endParaRPr lang="en-US" altLang="en-US" sz="3200">
              <a:latin typeface="Times New Roman" panose="02020603050405020304" pitchFamily="18" charset="0"/>
            </a:endParaRPr>
          </a:p>
        </p:txBody>
      </p:sp>
      <p:sp>
        <p:nvSpPr>
          <p:cNvPr id="374789" name="Line 4">
            <a:extLst>
              <a:ext uri="{FF2B5EF4-FFF2-40B4-BE49-F238E27FC236}">
                <a16:creationId xmlns:a16="http://schemas.microsoft.com/office/drawing/2014/main" id="{4A141538-B4AF-4A3B-BC69-9ACE41D831B4}"/>
              </a:ext>
            </a:extLst>
          </p:cNvPr>
          <p:cNvSpPr>
            <a:spLocks noChangeShapeType="1"/>
          </p:cNvSpPr>
          <p:nvPr/>
        </p:nvSpPr>
        <p:spPr bwMode="auto">
          <a:xfrm flipH="1">
            <a:off x="4267200" y="1676400"/>
            <a:ext cx="9906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4790" name="Text Box 5">
            <a:extLst>
              <a:ext uri="{FF2B5EF4-FFF2-40B4-BE49-F238E27FC236}">
                <a16:creationId xmlns:a16="http://schemas.microsoft.com/office/drawing/2014/main" id="{EE2E1383-120A-4B79-8657-F46E77B8BB88}"/>
              </a:ext>
            </a:extLst>
          </p:cNvPr>
          <p:cNvSpPr txBox="1">
            <a:spLocks noChangeArrowheads="1"/>
          </p:cNvSpPr>
          <p:nvPr/>
        </p:nvSpPr>
        <p:spPr bwMode="auto">
          <a:xfrm>
            <a:off x="1889125" y="2705100"/>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latin typeface="Times New Roman" panose="02020603050405020304" pitchFamily="18" charset="0"/>
              </a:rPr>
              <a:t>Shared</a:t>
            </a:r>
            <a:endParaRPr lang="en-US" altLang="en-US" sz="3200">
              <a:latin typeface="Times New Roman" panose="02020603050405020304" pitchFamily="18" charset="0"/>
            </a:endParaRPr>
          </a:p>
        </p:txBody>
      </p:sp>
      <p:sp>
        <p:nvSpPr>
          <p:cNvPr id="374791" name="Line 6">
            <a:extLst>
              <a:ext uri="{FF2B5EF4-FFF2-40B4-BE49-F238E27FC236}">
                <a16:creationId xmlns:a16="http://schemas.microsoft.com/office/drawing/2014/main" id="{A06F9361-3AA6-4FBF-B8C9-CAFAE4DFF307}"/>
              </a:ext>
            </a:extLst>
          </p:cNvPr>
          <p:cNvSpPr>
            <a:spLocks noChangeShapeType="1"/>
          </p:cNvSpPr>
          <p:nvPr/>
        </p:nvSpPr>
        <p:spPr bwMode="auto">
          <a:xfrm>
            <a:off x="2667000" y="2971800"/>
            <a:ext cx="609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pic>
        <p:nvPicPr>
          <p:cNvPr id="374792" name="Picture 7" descr="05-36">
            <a:extLst>
              <a:ext uri="{FF2B5EF4-FFF2-40B4-BE49-F238E27FC236}">
                <a16:creationId xmlns:a16="http://schemas.microsoft.com/office/drawing/2014/main" id="{43AA278B-75CD-4129-9B23-595AA14219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288" y="1317625"/>
            <a:ext cx="6910387" cy="490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Slide Number Placeholder 5">
            <a:extLst>
              <a:ext uri="{FF2B5EF4-FFF2-40B4-BE49-F238E27FC236}">
                <a16:creationId xmlns:a16="http://schemas.microsoft.com/office/drawing/2014/main" id="{402CE496-897E-498C-8322-AC3E973780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6E4A5C3D-B360-4D29-BB40-FEB63D5CCC09}" type="slidenum">
              <a:rPr lang="en-US" altLang="en-US" sz="1400" smtClean="0">
                <a:latin typeface="Times New Roman" panose="02020603050405020304" pitchFamily="18" charset="0"/>
              </a:rPr>
              <a:pPr>
                <a:spcBef>
                  <a:spcPct val="0"/>
                </a:spcBef>
                <a:buClrTx/>
                <a:buSzTx/>
                <a:buFontTx/>
                <a:buNone/>
              </a:pPr>
              <a:t>78</a:t>
            </a:fld>
            <a:endParaRPr lang="en-US" altLang="en-US" sz="1400">
              <a:latin typeface="Times New Roman" panose="02020603050405020304" pitchFamily="18" charset="0"/>
            </a:endParaRPr>
          </a:p>
        </p:txBody>
      </p:sp>
      <p:sp>
        <p:nvSpPr>
          <p:cNvPr id="376835" name="Rectangle 2">
            <a:extLst>
              <a:ext uri="{FF2B5EF4-FFF2-40B4-BE49-F238E27FC236}">
                <a16:creationId xmlns:a16="http://schemas.microsoft.com/office/drawing/2014/main" id="{BF38E723-95AA-4D79-BF2A-0007876ECCB6}"/>
              </a:ext>
            </a:extLst>
          </p:cNvPr>
          <p:cNvSpPr>
            <a:spLocks noGrp="1" noChangeArrowheads="1"/>
          </p:cNvSpPr>
          <p:nvPr>
            <p:ph type="title"/>
          </p:nvPr>
        </p:nvSpPr>
        <p:spPr>
          <a:xfrm>
            <a:off x="0" y="-33338"/>
            <a:ext cx="9144000" cy="1143001"/>
          </a:xfrm>
        </p:spPr>
        <p:txBody>
          <a:bodyPr/>
          <a:lstStyle/>
          <a:p>
            <a:r>
              <a:rPr lang="en-US" altLang="en-US"/>
              <a:t>Minh họa một mạng sử dụng Switches</a:t>
            </a:r>
          </a:p>
        </p:txBody>
      </p:sp>
      <p:pic>
        <p:nvPicPr>
          <p:cNvPr id="376836" name="Picture 3">
            <a:extLst>
              <a:ext uri="{FF2B5EF4-FFF2-40B4-BE49-F238E27FC236}">
                <a16:creationId xmlns:a16="http://schemas.microsoft.com/office/drawing/2014/main" id="{2817D96B-0699-4E23-A937-E12ACC53A3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275" y="1608138"/>
            <a:ext cx="7291388"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Slide Number Placeholder 5">
            <a:extLst>
              <a:ext uri="{FF2B5EF4-FFF2-40B4-BE49-F238E27FC236}">
                <a16:creationId xmlns:a16="http://schemas.microsoft.com/office/drawing/2014/main" id="{340F5338-EA5F-41C0-BD51-0C0055BA05E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1DCA4CF0-1B5C-48B4-B511-EEC34B07BAA8}" type="slidenum">
              <a:rPr lang="en-US" altLang="en-US" sz="1400" smtClean="0">
                <a:latin typeface="Times New Roman" panose="02020603050405020304" pitchFamily="18" charset="0"/>
              </a:rPr>
              <a:pPr>
                <a:spcBef>
                  <a:spcPct val="0"/>
                </a:spcBef>
                <a:buClrTx/>
                <a:buSzTx/>
                <a:buFontTx/>
                <a:buNone/>
              </a:pPr>
              <a:t>79</a:t>
            </a:fld>
            <a:endParaRPr lang="en-US" altLang="en-US" sz="1400">
              <a:latin typeface="Times New Roman" panose="02020603050405020304" pitchFamily="18" charset="0"/>
            </a:endParaRPr>
          </a:p>
        </p:txBody>
      </p:sp>
      <p:sp>
        <p:nvSpPr>
          <p:cNvPr id="378883" name="Rectangle 2">
            <a:extLst>
              <a:ext uri="{FF2B5EF4-FFF2-40B4-BE49-F238E27FC236}">
                <a16:creationId xmlns:a16="http://schemas.microsoft.com/office/drawing/2014/main" id="{A224E1C9-FF05-4977-BB5F-85F093F5EFB0}"/>
              </a:ext>
            </a:extLst>
          </p:cNvPr>
          <p:cNvSpPr>
            <a:spLocks noGrp="1" noChangeArrowheads="1"/>
          </p:cNvSpPr>
          <p:nvPr>
            <p:ph type="title"/>
          </p:nvPr>
        </p:nvSpPr>
        <p:spPr/>
        <p:txBody>
          <a:bodyPr/>
          <a:lstStyle/>
          <a:p>
            <a:r>
              <a:rPr lang="en-US" altLang="en-US" sz="3600"/>
              <a:t>So sánh tổng kết</a:t>
            </a:r>
            <a:br>
              <a:rPr lang="en-US" altLang="en-US" sz="3600"/>
            </a:br>
            <a:r>
              <a:rPr lang="en-US" altLang="en-US" sz="3600"/>
              <a:t>Summary comparison</a:t>
            </a:r>
          </a:p>
        </p:txBody>
      </p:sp>
      <p:graphicFrame>
        <p:nvGraphicFramePr>
          <p:cNvPr id="378884" name="Object 3">
            <a:extLst>
              <a:ext uri="{FF2B5EF4-FFF2-40B4-BE49-F238E27FC236}">
                <a16:creationId xmlns:a16="http://schemas.microsoft.com/office/drawing/2014/main" id="{BF03F964-096B-4DF2-8409-969651D13DDC}"/>
              </a:ext>
            </a:extLst>
          </p:cNvPr>
          <p:cNvGraphicFramePr>
            <a:graphicFrameLocks noGrp="1" noChangeAspect="1"/>
          </p:cNvGraphicFramePr>
          <p:nvPr>
            <p:ph type="tbl" idx="1"/>
          </p:nvPr>
        </p:nvGraphicFramePr>
        <p:xfrm>
          <a:off x="366713" y="1795463"/>
          <a:ext cx="9182100" cy="4773612"/>
        </p:xfrm>
        <a:graphic>
          <a:graphicData uri="http://schemas.openxmlformats.org/presentationml/2006/ole">
            <mc:AlternateContent xmlns:mc="http://schemas.openxmlformats.org/markup-compatibility/2006">
              <mc:Choice xmlns:v="urn:schemas-microsoft-com:vml" Requires="v">
                <p:oleObj spid="_x0000_s378902" name="Document" r:id="rId4" imgW="9186672" imgH="4782312" progId="Word.Document.8">
                  <p:embed/>
                </p:oleObj>
              </mc:Choice>
              <mc:Fallback>
                <p:oleObj name="Document" r:id="rId4" imgW="9186672" imgH="4782312"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713" y="1795463"/>
                        <a:ext cx="9182100" cy="477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885" name="Line 4">
            <a:extLst>
              <a:ext uri="{FF2B5EF4-FFF2-40B4-BE49-F238E27FC236}">
                <a16:creationId xmlns:a16="http://schemas.microsoft.com/office/drawing/2014/main" id="{7528D966-4802-40DC-A4B6-F9CAD0DBC8BD}"/>
              </a:ext>
            </a:extLst>
          </p:cNvPr>
          <p:cNvSpPr>
            <a:spLocks noChangeShapeType="1"/>
          </p:cNvSpPr>
          <p:nvPr/>
        </p:nvSpPr>
        <p:spPr bwMode="auto">
          <a:xfrm flipV="1">
            <a:off x="317500" y="3529013"/>
            <a:ext cx="85471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886" name="Line 5">
            <a:extLst>
              <a:ext uri="{FF2B5EF4-FFF2-40B4-BE49-F238E27FC236}">
                <a16:creationId xmlns:a16="http://schemas.microsoft.com/office/drawing/2014/main" id="{A595F447-E726-4C2D-BD47-17FE3A96D733}"/>
              </a:ext>
            </a:extLst>
          </p:cNvPr>
          <p:cNvSpPr>
            <a:spLocks noChangeShapeType="1"/>
          </p:cNvSpPr>
          <p:nvPr/>
        </p:nvSpPr>
        <p:spPr bwMode="auto">
          <a:xfrm>
            <a:off x="341313" y="4346575"/>
            <a:ext cx="8597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887" name="Line 6">
            <a:extLst>
              <a:ext uri="{FF2B5EF4-FFF2-40B4-BE49-F238E27FC236}">
                <a16:creationId xmlns:a16="http://schemas.microsoft.com/office/drawing/2014/main" id="{2036CFF6-6299-454E-8F41-301041C94297}"/>
              </a:ext>
            </a:extLst>
          </p:cNvPr>
          <p:cNvSpPr>
            <a:spLocks noChangeShapeType="1"/>
          </p:cNvSpPr>
          <p:nvPr/>
        </p:nvSpPr>
        <p:spPr bwMode="auto">
          <a:xfrm>
            <a:off x="415925" y="5434013"/>
            <a:ext cx="84375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4591</TotalTime>
  <Words>6568</Words>
  <Application>Microsoft Office PowerPoint</Application>
  <PresentationFormat>On-screen Show (4:3)</PresentationFormat>
  <Paragraphs>779</Paragraphs>
  <Slides>79</Slides>
  <Notes>41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6</vt:i4>
      </vt:variant>
      <vt:variant>
        <vt:lpstr>Slide Titles</vt:lpstr>
      </vt:variant>
      <vt:variant>
        <vt:i4>79</vt:i4>
      </vt:variant>
    </vt:vector>
  </HeadingPairs>
  <TitlesOfParts>
    <vt:vector size="96" baseType="lpstr">
      <vt:lpstr>Gulim</vt:lpstr>
      <vt:lpstr>MS Mincho</vt:lpstr>
      <vt:lpstr>TimesNewRoman</vt:lpstr>
      <vt:lpstr>ZapfDingbats</vt:lpstr>
      <vt:lpstr>Arial</vt:lpstr>
      <vt:lpstr>Comic Sans MS</vt:lpstr>
      <vt:lpstr>Symbol</vt:lpstr>
      <vt:lpstr>Tahoma</vt:lpstr>
      <vt:lpstr>Times New Roman</vt:lpstr>
      <vt:lpstr>Wingdings</vt:lpstr>
      <vt:lpstr>Default Design</vt:lpstr>
      <vt:lpstr>Image</vt:lpstr>
      <vt:lpstr>Photo Editor Photo</vt:lpstr>
      <vt:lpstr>Clip</vt:lpstr>
      <vt:lpstr>Equation</vt:lpstr>
      <vt:lpstr>Visio</vt:lpstr>
      <vt:lpstr>Document</vt:lpstr>
      <vt:lpstr>Chương 5: Mạng Cục Bộ (Local Area Networks)</vt:lpstr>
      <vt:lpstr>Chương 5: Mạng cục bộ - LANs</vt:lpstr>
      <vt:lpstr>Các công nghệ mạng cục bộ</vt:lpstr>
      <vt:lpstr>Các ủy ban IEEE 802</vt:lpstr>
      <vt:lpstr>IEEE 802 LAN Standard Family</vt:lpstr>
      <vt:lpstr>Tầng liên kết dữ liệu (trình bày lại!)</vt:lpstr>
      <vt:lpstr>Lớp phụ LLC</vt:lpstr>
      <vt:lpstr>Chuẩn Ethernet</vt:lpstr>
      <vt:lpstr>Ethernet Standards</vt:lpstr>
      <vt:lpstr>Các đặc tả kỹ thuật cho Ethernet Ethernet Specifications</vt:lpstr>
      <vt:lpstr>Ethernet Cable and Connector</vt:lpstr>
      <vt:lpstr>Ethernet Cable and Connector (2)</vt:lpstr>
      <vt:lpstr>Ethernet Cable and Connector (3)</vt:lpstr>
      <vt:lpstr>Ethernet Cable and Connector (4)</vt:lpstr>
      <vt:lpstr>Địa chỉ trong LAN và giao thức ARP</vt:lpstr>
      <vt:lpstr>Địa chỉ trong LAN và giao thức ARP (tt)</vt:lpstr>
      <vt:lpstr>Địa chỉ trong LAN (tiếp theo)</vt:lpstr>
      <vt:lpstr>Ví dụ về sự phân phát gói tin</vt:lpstr>
      <vt:lpstr>ARP: Giao thức phân giải địa chỉ</vt:lpstr>
      <vt:lpstr>Giao thức ARP</vt:lpstr>
      <vt:lpstr>Truyền dữ liệu đến một nút ở LAN khác</vt:lpstr>
      <vt:lpstr>PowerPoint Presentation</vt:lpstr>
      <vt:lpstr>Ethernet</vt:lpstr>
      <vt:lpstr>Lý do cho sự thành công của Ethernet</vt:lpstr>
      <vt:lpstr>Khuôn dạng khung Ethernet</vt:lpstr>
      <vt:lpstr>IEEE 802.3 Ethernet</vt:lpstr>
      <vt:lpstr>Cấu trúc khung Ethernet</vt:lpstr>
      <vt:lpstr>PowerPoint Presentation</vt:lpstr>
      <vt:lpstr>Ethernet - Dịch vụ phi kết nối, không tin cậy </vt:lpstr>
      <vt:lpstr>Ethernet sử dụng CSMA/CD</vt:lpstr>
      <vt:lpstr>Giải thuật CSMA/CD trong Ethernet</vt:lpstr>
      <vt:lpstr>Ethernet’s CSMA/CD (tt)</vt:lpstr>
      <vt:lpstr>Hiệu suất của Ethernet</vt:lpstr>
      <vt:lpstr>Đi dây trong Ethernet đầu tiên Original Ethernet Wiring</vt:lpstr>
      <vt:lpstr>PowerPoint Presentation</vt:lpstr>
      <vt:lpstr>Đi dây trong Ethernet thế hệ thứ 2 Second Generation Ethernet Wiring</vt:lpstr>
      <vt:lpstr>PowerPoint Presentation</vt:lpstr>
      <vt:lpstr>Đi dây trong Ethernet hiện đại Modern Ethernet Wiring</vt:lpstr>
      <vt:lpstr>PowerPoint Presentation</vt:lpstr>
      <vt:lpstr>PowerPoint Presentation</vt:lpstr>
      <vt:lpstr>PowerPoint Presentation</vt:lpstr>
      <vt:lpstr>Chuẩn 10 Base2 trong Ethernet</vt:lpstr>
      <vt:lpstr>Ưu nhược điểm  của cáp đồng trục</vt:lpstr>
      <vt:lpstr>Chuẩn 10BaseT và 100BaseT</vt:lpstr>
      <vt:lpstr>Unshielded Twisted Pair (UTP)</vt:lpstr>
      <vt:lpstr>Attach the RJ-45</vt:lpstr>
      <vt:lpstr>UTP Implementation</vt:lpstr>
      <vt:lpstr>Sơ đồ chân nối cho RJ-45 connector</vt:lpstr>
      <vt:lpstr>Unshielded Twisted Pair (UTP)</vt:lpstr>
      <vt:lpstr>UTP Straight-through Cable</vt:lpstr>
      <vt:lpstr>UTP Straight-through Cable</vt:lpstr>
      <vt:lpstr>UTP Cross-over Cable</vt:lpstr>
      <vt:lpstr>UTP Cross-over Cable</vt:lpstr>
      <vt:lpstr>Kết nối các thiết bị</vt:lpstr>
      <vt:lpstr>Mã hóa Manchester</vt:lpstr>
      <vt:lpstr>Gbit Ethernet</vt:lpstr>
      <vt:lpstr>Tương lai của Ethernet</vt:lpstr>
      <vt:lpstr>Liên kết các đoạn mạng cục bộ</vt:lpstr>
      <vt:lpstr>Liên kết các đoạn mạng với repeaters</vt:lpstr>
      <vt:lpstr>Liên kết các đoạn mạng với hubs</vt:lpstr>
      <vt:lpstr>Bridges</vt:lpstr>
      <vt:lpstr>Bridges: tách biệt lưu lượng</vt:lpstr>
      <vt:lpstr>Segmentation (Sự phân đoạn)</vt:lpstr>
      <vt:lpstr>Quyết định chuyển tiếp</vt:lpstr>
      <vt:lpstr>Xây dựng bảng cầu nối</vt:lpstr>
      <vt:lpstr>Lọc/Chuyển tiếp khung dữ liệu</vt:lpstr>
      <vt:lpstr>Ví dụ về hoạt động của Bridge</vt:lpstr>
      <vt:lpstr>Ví dụ về hoạt động của Bridge (tt)</vt:lpstr>
      <vt:lpstr>Liên kết không xương sống</vt:lpstr>
      <vt:lpstr>Backbone configuration  (cấu hình đường trục)</vt:lpstr>
      <vt:lpstr>Bridges và cây trải rộng</vt:lpstr>
      <vt:lpstr>Một số điểm đặc trưng của bridge</vt:lpstr>
      <vt:lpstr>Ethernet Switches</vt:lpstr>
      <vt:lpstr>Các lợi ích của Switch</vt:lpstr>
      <vt:lpstr>Các cách thức chuyển mạch</vt:lpstr>
      <vt:lpstr>Forwarding Decision (Quyết định chuyển tiếp)</vt:lpstr>
      <vt:lpstr>Ví dụ về một dạng mạng LAN phổ biến  (IP network)</vt:lpstr>
      <vt:lpstr>Minh họa một mạng sử dụng Switches</vt:lpstr>
      <vt:lpstr>So sánh tổng kết Summary comparison</vt:lpstr>
    </vt:vector>
  </TitlesOfParts>
  <Company>Nha Trang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Pham Van Nam</dc:creator>
  <cp:lastModifiedBy>VAN NAM PHAM</cp:lastModifiedBy>
  <cp:revision>295</cp:revision>
  <cp:lastPrinted>2015-03-11T01:43:09Z</cp:lastPrinted>
  <dcterms:created xsi:type="dcterms:W3CDTF">1999-10-08T19:08:27Z</dcterms:created>
  <dcterms:modified xsi:type="dcterms:W3CDTF">2023-11-06T02:48:24Z</dcterms:modified>
</cp:coreProperties>
</file>