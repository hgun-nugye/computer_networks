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2.svg" ContentType="image/svg+xml"/>
  <Override PartName="/ppt/media/image14.svg" ContentType="image/svg+xml"/>
  <Override PartName="/ppt/media/image20.svg" ContentType="image/svg+xml"/>
  <Override PartName="/ppt/media/image22.svg" ContentType="image/svg+xml"/>
  <Override PartName="/ppt/media/image3.svg" ContentType="image/svg+xml"/>
  <Override PartName="/ppt/media/image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94"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8288000" cy="10287000"/>
  <p:notesSz cx="6858000" cy="9144000"/>
  <p:embeddedFontLst>
    <p:embeddedFont>
      <p:font typeface="Open Sans Bold"/>
      <p:bold r:id="rId45"/>
    </p:embeddedFont>
    <p:embeddedFont>
      <p:font typeface="Open Sans"/>
      <p:regular r:id="rId46"/>
    </p:embeddedFont>
    <p:embeddedFont>
      <p:font typeface="Inter Bold" panose="020B0802030000000004"/>
      <p:bold r:id="rId47"/>
    </p:embeddedFont>
    <p:embeddedFont>
      <p:font typeface="Inter Bold Italics" panose="020B0802030000000004"/>
      <p:boldItalic r:id="rId48"/>
    </p:embeddedFont>
    <p:embeddedFont>
      <p:font typeface="Inter" panose="020B0502030000000004"/>
      <p:regular r:id="rId49"/>
    </p:embeddedFont>
    <p:embeddedFont>
      <p:font typeface="Calibri" panose="020F0502020204030204" charset="0"/>
      <p:regular r:id="rId50"/>
      <p:bold r:id="rId51"/>
      <p:italic r:id="rId52"/>
      <p:boldItalic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font" Target="fonts/font9.fntdata"/><Relationship Id="rId52" Type="http://schemas.openxmlformats.org/officeDocument/2006/relationships/font" Target="fonts/font8.fntdata"/><Relationship Id="rId51" Type="http://schemas.openxmlformats.org/officeDocument/2006/relationships/font" Target="fonts/font7.fntdata"/><Relationship Id="rId50" Type="http://schemas.openxmlformats.org/officeDocument/2006/relationships/font" Target="fonts/font6.fntdata"/><Relationship Id="rId5" Type="http://schemas.openxmlformats.org/officeDocument/2006/relationships/slide" Target="slides/slide3.xml"/><Relationship Id="rId49" Type="http://schemas.openxmlformats.org/officeDocument/2006/relationships/font" Target="fonts/font5.fntdata"/><Relationship Id="rId48" Type="http://schemas.openxmlformats.org/officeDocument/2006/relationships/font" Target="fonts/font4.fntdata"/><Relationship Id="rId47" Type="http://schemas.openxmlformats.org/officeDocument/2006/relationships/font" Target="fonts/font3.fntdata"/><Relationship Id="rId46" Type="http://schemas.openxmlformats.org/officeDocument/2006/relationships/font" Target="fonts/font2.fntdata"/><Relationship Id="rId45" Type="http://schemas.openxmlformats.org/officeDocument/2006/relationships/font" Target="fonts/font1.fntdata"/><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p:wipe/>
      </p:transition>
    </mc:Choice>
    <mc:Fallback>
      <p:transition>
        <p:wip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svg"/><Relationship Id="rId4" Type="http://schemas.openxmlformats.org/officeDocument/2006/relationships/image" Target="../media/image2.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9" Type="http://schemas.openxmlformats.org/officeDocument/2006/relationships/image" Target="../media/image3.svg"/><Relationship Id="rId8" Type="http://schemas.openxmlformats.org/officeDocument/2006/relationships/image" Target="../media/image2.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2" Type="http://schemas.openxmlformats.org/officeDocument/2006/relationships/slideLayout" Target="../slideLayouts/slideLayout7.xml"/><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2.svg"/><Relationship Id="rId4" Type="http://schemas.openxmlformats.org/officeDocument/2006/relationships/image" Target="../media/image21.png"/><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18.png"/><Relationship Id="rId3" Type="http://schemas.openxmlformats.org/officeDocument/2006/relationships/image" Target="../media/image3.svg"/><Relationship Id="rId2" Type="http://schemas.openxmlformats.org/officeDocument/2006/relationships/image" Target="../media/image17.png"/><Relationship Id="rId1"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image" Target="../media/image29.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29.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29.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29.jpe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29.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29.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29.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29.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2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1028700" y="3706902"/>
            <a:ext cx="10956774" cy="2813050"/>
          </a:xfrm>
          <a:prstGeom prst="rect">
            <a:avLst/>
          </a:prstGeom>
        </p:spPr>
        <p:txBody>
          <a:bodyPr lIns="0" tIns="0" rIns="0" bIns="0" rtlCol="0" anchor="t">
            <a:spAutoFit/>
          </a:bodyPr>
          <a:lstStyle/>
          <a:p>
            <a:pPr algn="l">
              <a:lnSpc>
                <a:spcPts val="11000"/>
              </a:lnSpc>
            </a:pPr>
            <a:r>
              <a:rPr lang="en-US" sz="10000" b="1">
                <a:ln>
                  <a:solidFill>
                    <a:schemeClr val="tx1">
                      <a:lumMod val="95000"/>
                      <a:lumOff val="5000"/>
                    </a:schemeClr>
                  </a:solidFill>
                </a:ln>
                <a:solidFill>
                  <a:srgbClr val="FFFFFF"/>
                </a:solidFill>
                <a:effectLst>
                  <a:glow rad="101600">
                    <a:schemeClr val="bg2">
                      <a:lumMod val="50000"/>
                      <a:alpha val="34000"/>
                    </a:schemeClr>
                  </a:glow>
                  <a:innerShdw blurRad="63500" dist="50800" dir="13500000">
                    <a:prstClr val="black">
                      <a:alpha val="50000"/>
                    </a:prstClr>
                  </a:innerShdw>
                </a:effectLst>
                <a:latin typeface="Open Sans Bold"/>
                <a:ea typeface="Open Sans Bold"/>
                <a:cs typeface="Open Sans Bold"/>
                <a:sym typeface="Open Sans Bold"/>
              </a:rPr>
              <a:t>MẠNG MÁY TÍNH</a:t>
            </a:r>
            <a:endParaRPr lang="en-US" sz="10000" b="1">
              <a:ln>
                <a:solidFill>
                  <a:schemeClr val="tx1">
                    <a:lumMod val="95000"/>
                    <a:lumOff val="5000"/>
                  </a:schemeClr>
                </a:solidFill>
              </a:ln>
              <a:solidFill>
                <a:srgbClr val="FFFFFF"/>
              </a:solidFill>
              <a:effectLst>
                <a:glow rad="101600">
                  <a:schemeClr val="bg2">
                    <a:lumMod val="50000"/>
                    <a:alpha val="34000"/>
                  </a:schemeClr>
                </a:glow>
                <a:innerShdw blurRad="63500" dist="50800" dir="13500000">
                  <a:prstClr val="black">
                    <a:alpha val="50000"/>
                  </a:prstClr>
                </a:innerShdw>
              </a:effectLst>
              <a:latin typeface="Open Sans Bold"/>
              <a:ea typeface="Open Sans Bold"/>
              <a:cs typeface="Open Sans Bold"/>
              <a:sym typeface="Open Sans Bold"/>
            </a:endParaRPr>
          </a:p>
          <a:p>
            <a:pPr algn="ctr">
              <a:lnSpc>
                <a:spcPts val="11000"/>
              </a:lnSpc>
            </a:pPr>
            <a:r>
              <a:rPr lang="en-US" sz="10000" b="1">
                <a:ln>
                  <a:solidFill>
                    <a:schemeClr val="tx1">
                      <a:lumMod val="95000"/>
                      <a:lumOff val="5000"/>
                    </a:schemeClr>
                  </a:solidFill>
                </a:ln>
                <a:solidFill>
                  <a:srgbClr val="FFFFFF"/>
                </a:solidFill>
                <a:effectLst>
                  <a:glow rad="101600">
                    <a:schemeClr val="bg2">
                      <a:lumMod val="50000"/>
                      <a:alpha val="34000"/>
                    </a:schemeClr>
                  </a:glow>
                  <a:innerShdw blurRad="63500" dist="50800" dir="13500000">
                    <a:prstClr val="black">
                      <a:alpha val="50000"/>
                    </a:prstClr>
                  </a:innerShdw>
                </a:effectLst>
                <a:latin typeface="Open Sans Bold"/>
                <a:ea typeface="Open Sans Bold"/>
                <a:cs typeface="Open Sans Bold"/>
                <a:sym typeface="Open Sans Bold"/>
              </a:rPr>
              <a:t>NHÓM 4</a:t>
            </a:r>
            <a:endParaRPr lang="en-US" sz="10000" b="1">
              <a:ln>
                <a:solidFill>
                  <a:schemeClr val="tx1">
                    <a:lumMod val="95000"/>
                    <a:lumOff val="5000"/>
                  </a:schemeClr>
                </a:solidFill>
              </a:ln>
              <a:solidFill>
                <a:srgbClr val="FFFFFF"/>
              </a:solidFill>
              <a:effectLst>
                <a:glow rad="101600">
                  <a:schemeClr val="bg2">
                    <a:lumMod val="50000"/>
                    <a:alpha val="34000"/>
                  </a:schemeClr>
                </a:glow>
                <a:innerShdw blurRad="63500" dist="50800" dir="13500000">
                  <a:prstClr val="black">
                    <a:alpha val="50000"/>
                  </a:prstClr>
                </a:innerShdw>
              </a:effectLst>
              <a:latin typeface="Open Sans Bold"/>
              <a:ea typeface="Open Sans Bold"/>
              <a:cs typeface="Open Sans Bold"/>
              <a:sym typeface="Open Sans Bold"/>
            </a:endParaRPr>
          </a:p>
        </p:txBody>
      </p:sp>
      <p:sp>
        <p:nvSpPr>
          <p:cNvPr id="4" name="Freeform 4"/>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620642" y="2145201"/>
            <a:ext cx="6540185" cy="5841203"/>
          </a:xfrm>
          <a:custGeom>
            <a:avLst/>
            <a:gdLst/>
            <a:ahLst/>
            <a:cxnLst/>
            <a:rect l="l" t="t" r="r" b="b"/>
            <a:pathLst>
              <a:path w="6540185" h="5841203">
                <a:moveTo>
                  <a:pt x="0" y="0"/>
                </a:moveTo>
                <a:lnTo>
                  <a:pt x="6540185" y="0"/>
                </a:lnTo>
                <a:lnTo>
                  <a:pt x="6540185" y="5841203"/>
                </a:lnTo>
                <a:lnTo>
                  <a:pt x="0" y="5841203"/>
                </a:lnTo>
                <a:lnTo>
                  <a:pt x="0" y="0"/>
                </a:lnTo>
                <a:close/>
              </a:path>
            </a:pathLst>
          </a:custGeom>
          <a:blipFill>
            <a:blip r:embed="rId4"/>
            <a:stretch>
              <a:fillRect/>
            </a:stretch>
          </a:blipFill>
        </p:spPr>
      </p:sp>
      <p:sp>
        <p:nvSpPr>
          <p:cNvPr id="6" name="Freeform 6"/>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9571270" y="1334633"/>
            <a:ext cx="8147701" cy="8147701"/>
          </a:xfrm>
          <a:custGeom>
            <a:avLst/>
            <a:gdLst/>
            <a:ahLst/>
            <a:cxnLst/>
            <a:rect l="l" t="t" r="r" b="b"/>
            <a:pathLst>
              <a:path w="8147701" h="8147701">
                <a:moveTo>
                  <a:pt x="0" y="0"/>
                </a:moveTo>
                <a:lnTo>
                  <a:pt x="8147701" y="0"/>
                </a:lnTo>
                <a:lnTo>
                  <a:pt x="8147701" y="8147701"/>
                </a:lnTo>
                <a:lnTo>
                  <a:pt x="0" y="8147701"/>
                </a:lnTo>
                <a:lnTo>
                  <a:pt x="0" y="0"/>
                </a:lnTo>
                <a:close/>
              </a:path>
            </a:pathLst>
          </a:custGeom>
          <a:blipFill>
            <a:blip r:embed="rId6"/>
            <a:stretch>
              <a:fillRect/>
            </a:stretch>
          </a:blipFill>
        </p:spPr>
      </p:sp>
      <p:sp>
        <p:nvSpPr>
          <p:cNvPr id="6" name="TextBox 6"/>
          <p:cNvSpPr txBox="1"/>
          <p:nvPr/>
        </p:nvSpPr>
        <p:spPr>
          <a:xfrm>
            <a:off x="1028700" y="1095375"/>
            <a:ext cx="7874560" cy="920750"/>
          </a:xfrm>
          <a:prstGeom prst="rect">
            <a:avLst/>
          </a:prstGeom>
        </p:spPr>
        <p:txBody>
          <a:bodyPr lIns="0" tIns="0" rIns="0" bIns="0" rtlCol="0" anchor="t">
            <a:spAutoFit/>
          </a:bodyPr>
          <a:lstStyle/>
          <a:p>
            <a:pPr algn="l">
              <a:lnSpc>
                <a:spcPts val="7150"/>
              </a:lnSpc>
            </a:pPr>
            <a:r>
              <a:rPr lang="en-US" sz="6500" b="1">
                <a:solidFill>
                  <a:srgbClr val="FFFFFF"/>
                </a:solidFill>
                <a:latin typeface="Open Sans Bold"/>
                <a:ea typeface="Open Sans Bold"/>
                <a:cs typeface="Open Sans Bold"/>
                <a:sym typeface="Open Sans Bold"/>
              </a:rPr>
              <a:t>WIRESHARK LÀ GÌ?</a:t>
            </a:r>
            <a:endParaRPr lang="en-US" sz="65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2321266"/>
            <a:ext cx="7278386" cy="6816724"/>
          </a:xfrm>
          <a:prstGeom prst="rect">
            <a:avLst/>
          </a:prstGeom>
        </p:spPr>
        <p:txBody>
          <a:bodyPr lIns="0" tIns="0" rIns="0" bIns="0" rtlCol="0" anchor="t">
            <a:spAutoFit/>
          </a:bodyPr>
          <a:lstStyle/>
          <a:p>
            <a:pPr algn="just">
              <a:lnSpc>
                <a:spcPts val="4525"/>
              </a:lnSpc>
            </a:pPr>
            <a:r>
              <a:rPr lang="en-US" sz="2500" b="1">
                <a:solidFill>
                  <a:srgbClr val="FFFFFF"/>
                </a:solidFill>
                <a:latin typeface="Open Sans Bold"/>
                <a:ea typeface="Open Sans Bold"/>
                <a:cs typeface="Open Sans Bold"/>
                <a:sym typeface="Open Sans Bold"/>
              </a:rPr>
              <a:t>Wireshark là một trình phân tích network protocol miễn phí chạy trên các máy tính Windows, Mac, và Linux/Unix32. Đây là một packet analyzer lý tưởng cho các bài lab của chúng ta – nó ổn định, có lượng người dùng lớn và hỗ trợ tài liệu tốt bao gồm hướng dẫn sử dụng, các trang hướng dẫn (man pages), và phần FAQ chi tiết, chức năng phong phú bao gồm khả năng phân tích hàng trăm protocol, và giao diện người dùng được thiết kế tốt. </a:t>
            </a:r>
            <a:endParaRPr lang="en-US" sz="2500" b="1">
              <a:solidFill>
                <a:srgbClr val="FFFFFF"/>
              </a:solidFill>
              <a:latin typeface="Open Sans Bold"/>
              <a:ea typeface="Open Sans Bold"/>
              <a:cs typeface="Open Sans Bold"/>
              <a:sym typeface="Open Sans Bold"/>
            </a:endParaRPr>
          </a:p>
          <a:p>
            <a:pPr algn="just">
              <a:lnSpc>
                <a:spcPts val="4525"/>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2512918" y="2670956"/>
            <a:ext cx="1700787" cy="1979098"/>
            <a:chOff x="0" y="0"/>
            <a:chExt cx="698500" cy="812800"/>
          </a:xfrm>
        </p:grpSpPr>
        <p:sp>
          <p:nvSpPr>
            <p:cNvPr id="4" name="Freeform 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8C52FF">
                    <a:alpha val="100000"/>
                  </a:srgbClr>
                </a:gs>
                <a:gs pos="100000">
                  <a:srgbClr val="5CE1E6">
                    <a:alpha val="100000"/>
                  </a:srgbClr>
                </a:gs>
              </a:gsLst>
              <a:lin ang="5400000"/>
            </a:gradFill>
          </p:spPr>
        </p:sp>
        <p:sp>
          <p:nvSpPr>
            <p:cNvPr id="5" name="TextBox 5"/>
            <p:cNvSpPr txBox="1"/>
            <p:nvPr/>
          </p:nvSpPr>
          <p:spPr>
            <a:xfrm>
              <a:off x="0" y="158750"/>
              <a:ext cx="698500" cy="514350"/>
            </a:xfrm>
            <a:prstGeom prst="rect">
              <a:avLst/>
            </a:prstGeom>
          </p:spPr>
          <p:txBody>
            <a:bodyPr lIns="50800" tIns="50800" rIns="50800" bIns="50800" rtlCol="0" anchor="ctr"/>
            <a:lstStyle/>
            <a:p>
              <a:pPr algn="ctr">
                <a:lnSpc>
                  <a:spcPts val="2750"/>
                </a:lnSpc>
              </a:pPr>
            </a:p>
          </p:txBody>
        </p:sp>
      </p:grpSp>
      <p:grpSp>
        <p:nvGrpSpPr>
          <p:cNvPr id="6" name="Group 6"/>
          <p:cNvGrpSpPr/>
          <p:nvPr/>
        </p:nvGrpSpPr>
        <p:grpSpPr>
          <a:xfrm rot="0">
            <a:off x="7822253" y="2670956"/>
            <a:ext cx="1700787" cy="1979098"/>
            <a:chOff x="0" y="0"/>
            <a:chExt cx="698500" cy="812800"/>
          </a:xfrm>
        </p:grpSpPr>
        <p:sp>
          <p:nvSpPr>
            <p:cNvPr id="7" name="Freeform 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8C52FF">
                    <a:alpha val="100000"/>
                  </a:srgbClr>
                </a:gs>
                <a:gs pos="100000">
                  <a:srgbClr val="5CE1E6">
                    <a:alpha val="100000"/>
                  </a:srgbClr>
                </a:gs>
              </a:gsLst>
              <a:lin ang="5400000"/>
            </a:gradFill>
          </p:spPr>
        </p:sp>
        <p:sp>
          <p:nvSpPr>
            <p:cNvPr id="8" name="TextBox 8"/>
            <p:cNvSpPr txBox="1"/>
            <p:nvPr/>
          </p:nvSpPr>
          <p:spPr>
            <a:xfrm>
              <a:off x="0" y="158750"/>
              <a:ext cx="698500" cy="514350"/>
            </a:xfrm>
            <a:prstGeom prst="rect">
              <a:avLst/>
            </a:prstGeom>
          </p:spPr>
          <p:txBody>
            <a:bodyPr lIns="50800" tIns="50800" rIns="50800" bIns="50800" rtlCol="0" anchor="ctr"/>
            <a:lstStyle/>
            <a:p>
              <a:pPr algn="ctr">
                <a:lnSpc>
                  <a:spcPts val="2750"/>
                </a:lnSpc>
              </a:pPr>
            </a:p>
          </p:txBody>
        </p:sp>
      </p:grpSp>
      <p:grpSp>
        <p:nvGrpSpPr>
          <p:cNvPr id="9" name="Group 9"/>
          <p:cNvGrpSpPr/>
          <p:nvPr/>
        </p:nvGrpSpPr>
        <p:grpSpPr>
          <a:xfrm rot="0">
            <a:off x="13368884" y="2670956"/>
            <a:ext cx="1700787" cy="1979098"/>
            <a:chOff x="0" y="0"/>
            <a:chExt cx="698500" cy="812800"/>
          </a:xfrm>
        </p:grpSpPr>
        <p:sp>
          <p:nvSpPr>
            <p:cNvPr id="10" name="Freeform 1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8C52FF">
                    <a:alpha val="100000"/>
                  </a:srgbClr>
                </a:gs>
                <a:gs pos="100000">
                  <a:srgbClr val="5CE1E6">
                    <a:alpha val="100000"/>
                  </a:srgbClr>
                </a:gs>
              </a:gsLst>
              <a:lin ang="5400000"/>
            </a:gradFill>
          </p:spPr>
        </p:sp>
        <p:sp>
          <p:nvSpPr>
            <p:cNvPr id="11" name="TextBox 11"/>
            <p:cNvSpPr txBox="1"/>
            <p:nvPr/>
          </p:nvSpPr>
          <p:spPr>
            <a:xfrm>
              <a:off x="0" y="158750"/>
              <a:ext cx="698500" cy="514350"/>
            </a:xfrm>
            <a:prstGeom prst="rect">
              <a:avLst/>
            </a:prstGeom>
          </p:spPr>
          <p:txBody>
            <a:bodyPr lIns="50800" tIns="50800" rIns="50800" bIns="50800" rtlCol="0" anchor="ctr"/>
            <a:lstStyle/>
            <a:p>
              <a:pPr algn="ctr">
                <a:lnSpc>
                  <a:spcPts val="2750"/>
                </a:lnSpc>
              </a:pPr>
            </a:p>
          </p:txBody>
        </p:sp>
      </p:grpSp>
      <p:sp>
        <p:nvSpPr>
          <p:cNvPr id="12" name="Freeform 12"/>
          <p:cNvSpPr/>
          <p:nvPr/>
        </p:nvSpPr>
        <p:spPr>
          <a:xfrm>
            <a:off x="2901844" y="3347861"/>
            <a:ext cx="922936" cy="625289"/>
          </a:xfrm>
          <a:custGeom>
            <a:avLst/>
            <a:gdLst/>
            <a:ahLst/>
            <a:cxnLst/>
            <a:rect l="l" t="t" r="r" b="b"/>
            <a:pathLst>
              <a:path w="922936" h="625289">
                <a:moveTo>
                  <a:pt x="0" y="0"/>
                </a:moveTo>
                <a:lnTo>
                  <a:pt x="922936" y="0"/>
                </a:lnTo>
                <a:lnTo>
                  <a:pt x="922936" y="625289"/>
                </a:lnTo>
                <a:lnTo>
                  <a:pt x="0" y="6252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8302908" y="3456856"/>
            <a:ext cx="739477" cy="488979"/>
          </a:xfrm>
          <a:custGeom>
            <a:avLst/>
            <a:gdLst/>
            <a:ahLst/>
            <a:cxnLst/>
            <a:rect l="l" t="t" r="r" b="b"/>
            <a:pathLst>
              <a:path w="739477" h="488979">
                <a:moveTo>
                  <a:pt x="0" y="0"/>
                </a:moveTo>
                <a:lnTo>
                  <a:pt x="739477" y="0"/>
                </a:lnTo>
                <a:lnTo>
                  <a:pt x="739477" y="488980"/>
                </a:lnTo>
                <a:lnTo>
                  <a:pt x="0" y="4889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12380682" y="5212909"/>
            <a:ext cx="3677191" cy="3006724"/>
          </a:xfrm>
          <a:prstGeom prst="rect">
            <a:avLst/>
          </a:prstGeom>
        </p:spPr>
        <p:txBody>
          <a:bodyPr lIns="0" tIns="0" rIns="0" bIns="0" rtlCol="0" anchor="t">
            <a:spAutoFit/>
          </a:bodyPr>
          <a:lstStyle/>
          <a:p>
            <a:pPr marL="0" lvl="1" indent="0" algn="just">
              <a:lnSpc>
                <a:spcPts val="4000"/>
              </a:lnSpc>
              <a:spcBef>
                <a:spcPct val="0"/>
              </a:spcBef>
            </a:pPr>
            <a:r>
              <a:rPr lang="en-US" sz="2500" u="none" strike="noStrike">
                <a:solidFill>
                  <a:srgbClr val="FFFFFF"/>
                </a:solidFill>
                <a:latin typeface="Open Sans"/>
                <a:ea typeface="Open Sans"/>
                <a:cs typeface="Open Sans"/>
                <a:sym typeface="Open Sans"/>
              </a:rPr>
              <a:t>Trên màn hình khởi động Wireshark, sẽ hiển thị danh sách  các interface, các iterface là nơi chúng ta muốn bắt các packet.</a:t>
            </a:r>
            <a:endParaRPr lang="en-US" sz="2500" u="none" strike="noStrike">
              <a:solidFill>
                <a:srgbClr val="FFFFFF"/>
              </a:solidFill>
              <a:latin typeface="Open Sans"/>
              <a:ea typeface="Open Sans"/>
              <a:cs typeface="Open Sans"/>
              <a:sym typeface="Open Sans"/>
            </a:endParaRPr>
          </a:p>
        </p:txBody>
      </p:sp>
      <p:sp>
        <p:nvSpPr>
          <p:cNvPr id="15" name="Freeform 15"/>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Freeform 16"/>
          <p:cNvSpPr/>
          <p:nvPr/>
        </p:nvSpPr>
        <p:spPr>
          <a:xfrm>
            <a:off x="13973111" y="-613543"/>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TextBox 17"/>
          <p:cNvSpPr txBox="1"/>
          <p:nvPr/>
        </p:nvSpPr>
        <p:spPr>
          <a:xfrm>
            <a:off x="0" y="947823"/>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CÀI ĐẶT VÀ SỬ DỤNG WIRESHARK</a:t>
            </a:r>
            <a:endParaRPr lang="en-US" sz="6500" b="1">
              <a:solidFill>
                <a:srgbClr val="FFFFFF"/>
              </a:solidFill>
              <a:latin typeface="Open Sans Bold"/>
              <a:ea typeface="Open Sans Bold"/>
              <a:cs typeface="Open Sans Bold"/>
              <a:sym typeface="Open Sans Bold"/>
            </a:endParaRPr>
          </a:p>
        </p:txBody>
      </p:sp>
      <p:sp>
        <p:nvSpPr>
          <p:cNvPr id="18" name="Freeform 18"/>
          <p:cNvSpPr/>
          <p:nvPr/>
        </p:nvSpPr>
        <p:spPr>
          <a:xfrm>
            <a:off x="13851452" y="3333520"/>
            <a:ext cx="735653" cy="735653"/>
          </a:xfrm>
          <a:custGeom>
            <a:avLst/>
            <a:gdLst/>
            <a:ahLst/>
            <a:cxnLst/>
            <a:rect l="l" t="t" r="r" b="b"/>
            <a:pathLst>
              <a:path w="735653" h="735653">
                <a:moveTo>
                  <a:pt x="0" y="0"/>
                </a:moveTo>
                <a:lnTo>
                  <a:pt x="735652" y="0"/>
                </a:lnTo>
                <a:lnTo>
                  <a:pt x="735652" y="735652"/>
                </a:lnTo>
                <a:lnTo>
                  <a:pt x="0" y="735652"/>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sp>
        <p:nvSpPr>
          <p:cNvPr id="19" name="TextBox 19"/>
          <p:cNvSpPr txBox="1"/>
          <p:nvPr/>
        </p:nvSpPr>
        <p:spPr>
          <a:xfrm>
            <a:off x="1518684" y="5202053"/>
            <a:ext cx="3689256" cy="3511549"/>
          </a:xfrm>
          <a:prstGeom prst="rect">
            <a:avLst/>
          </a:prstGeom>
        </p:spPr>
        <p:txBody>
          <a:bodyPr lIns="0" tIns="0" rIns="0" bIns="0" rtlCol="0" anchor="t">
            <a:spAutoFit/>
          </a:bodyPr>
          <a:lstStyle/>
          <a:p>
            <a:pPr algn="just">
              <a:lnSpc>
                <a:spcPts val="4000"/>
              </a:lnSpc>
            </a:pPr>
            <a:r>
              <a:rPr lang="en-US" sz="2500">
                <a:solidFill>
                  <a:srgbClr val="FFFFFF"/>
                </a:solidFill>
                <a:latin typeface="Open Sans"/>
                <a:ea typeface="Open Sans"/>
                <a:cs typeface="Open Sans"/>
                <a:sym typeface="Open Sans"/>
              </a:rPr>
              <a:t>Để chạy Wireshark, bạn cần truy cập vào một máy tính hỗ trợ cả Wireshark và packet capture library là libpcap hoặc WinPCap.</a:t>
            </a:r>
            <a:endParaRPr lang="en-US" sz="2500">
              <a:solidFill>
                <a:srgbClr val="FFFFFF"/>
              </a:solidFill>
              <a:latin typeface="Open Sans"/>
              <a:ea typeface="Open Sans"/>
              <a:cs typeface="Open Sans"/>
              <a:sym typeface="Open Sans"/>
            </a:endParaRPr>
          </a:p>
          <a:p>
            <a:pPr algn="just">
              <a:lnSpc>
                <a:spcPts val="4000"/>
              </a:lnSpc>
            </a:pPr>
          </a:p>
        </p:txBody>
      </p:sp>
      <p:sp>
        <p:nvSpPr>
          <p:cNvPr id="20" name="TextBox 20"/>
          <p:cNvSpPr txBox="1"/>
          <p:nvPr/>
        </p:nvSpPr>
        <p:spPr>
          <a:xfrm>
            <a:off x="6828019" y="5202053"/>
            <a:ext cx="3689256" cy="3511549"/>
          </a:xfrm>
          <a:prstGeom prst="rect">
            <a:avLst/>
          </a:prstGeom>
        </p:spPr>
        <p:txBody>
          <a:bodyPr lIns="0" tIns="0" rIns="0" bIns="0" rtlCol="0" anchor="t">
            <a:spAutoFit/>
          </a:bodyPr>
          <a:lstStyle/>
          <a:p>
            <a:pPr marL="0" lvl="1" indent="0" algn="just">
              <a:lnSpc>
                <a:spcPts val="4000"/>
              </a:lnSpc>
              <a:spcBef>
                <a:spcPct val="0"/>
              </a:spcBef>
            </a:pPr>
            <a:r>
              <a:rPr lang="en-US" sz="2500" u="none" strike="noStrike">
                <a:solidFill>
                  <a:srgbClr val="FFFFFF"/>
                </a:solidFill>
                <a:latin typeface="Open Sans"/>
                <a:ea typeface="Open Sans"/>
                <a:cs typeface="Open Sans"/>
                <a:sym typeface="Open Sans"/>
              </a:rPr>
              <a:t>Truy cập http://www.wireshark.org/download.html, tải xuống và cài đặt bản binary Wireshark cho máy tính của bạn.</a:t>
            </a:r>
            <a:endParaRPr lang="en-US" sz="2500" u="none" strike="noStrike">
              <a:solidFill>
                <a:srgbClr val="FFFFFF"/>
              </a:solidFill>
              <a:latin typeface="Open Sans"/>
              <a:ea typeface="Open Sans"/>
              <a:cs typeface="Open Sans"/>
              <a:sym typeface="Open Sans"/>
            </a:endParaRPr>
          </a:p>
          <a:p>
            <a:pPr marL="0" lvl="1" indent="0" algn="just">
              <a:lnSpc>
                <a:spcPts val="4000"/>
              </a:lnSpc>
              <a:spcBef>
                <a:spcPct val="0"/>
              </a:spcBef>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CHẠY THỬ WIRESHARK</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8079105"/>
          </a:xfrm>
          <a:prstGeom prst="rect">
            <a:avLst/>
          </a:prstGeom>
        </p:spPr>
        <p:txBody>
          <a:bodyPr lIns="0" tIns="0" rIns="0" bIns="0" rtlCol="0" anchor="t">
            <a:spAutoFit/>
          </a:bodyPr>
          <a:lstStyle/>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1. Chuẩn bị và Khởi động</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Môi trường: Máy tính kết nối Internet (Ethernet hoặc WiFi).</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Thao tác: </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1104900" lvl="2"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Mở trình duyệt web.</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1295400" lvl="2" indent="-43180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Khởi chạy Wireshark.</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1295400" lvl="2" indent="-43180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Chọn Capture -&gt; Interfaces để xác định interface đang hoạt động (có lưu lượng gói tin).</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algn="just">
              <a:lnSpc>
                <a:spcPts val="4500"/>
              </a:lnSpc>
            </a:p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2. Bắt gói tin (Packet Capture)</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Bắt đầu: Chọn Interface và nhấn Start.</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Tạo lưu lượng (Traffic): Truy cập địa chỉ: http://gaia.cs.umass.edu/wireshark-labs/INTRO-wireshark-file1.html</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Dừng: Nhấn nút Stop (ô vuông màu đỏ) sau khi trang web tải xong.</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algn="just">
              <a:lnSpc>
                <a:spcPts val="4500"/>
              </a:lnSpc>
            </a:pPr>
          </a:p>
        </p:txBody>
      </p:sp>
      <p:sp>
        <p:nvSpPr>
          <p:cNvPr id="5" name="Freeform 5"/>
          <p:cNvSpPr/>
          <p:nvPr/>
        </p:nvSpPr>
        <p:spPr>
          <a:xfrm>
            <a:off x="14452308" y="-288872"/>
            <a:ext cx="3835692" cy="3835692"/>
          </a:xfrm>
          <a:custGeom>
            <a:avLst/>
            <a:gdLst/>
            <a:ahLst/>
            <a:cxnLst/>
            <a:rect l="l" t="t" r="r" b="b"/>
            <a:pathLst>
              <a:path w="3835692" h="3835692">
                <a:moveTo>
                  <a:pt x="0" y="0"/>
                </a:moveTo>
                <a:lnTo>
                  <a:pt x="3835692" y="0"/>
                </a:lnTo>
                <a:lnTo>
                  <a:pt x="3835692" y="3835692"/>
                </a:lnTo>
                <a:lnTo>
                  <a:pt x="0" y="3835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CHẠY THỬ WIRESHARK</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7981950"/>
          </a:xfrm>
          <a:prstGeom prst="rect">
            <a:avLst/>
          </a:prstGeom>
        </p:spPr>
        <p:txBody>
          <a:bodyPr lIns="0" tIns="0" rIns="0" bIns="0" rtlCol="0" anchor="t">
            <a:spAutoFit/>
          </a:bodyPr>
          <a:lstStyle/>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3</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 Sử dụng bộ lọc (Display Filter)</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Vấn đề: Wireshark bắt tất cả các loại gói tin đang chạy ngầm.</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Giải pháp: Nhập "</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http" vào thanh công cụ lọc (Filter) và nhấn Apply/Enter.</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Kết quả: Danh sách chỉ hiển thị các gói tin thuộc giao thức HTTP.</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algn="just">
              <a:lnSpc>
                <a:spcPts val="4500"/>
              </a:lnSpc>
            </a:p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4. Chi tiết gói tin HTTP GET</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Tìm kiếm: Chọn dòng có nội dung "GET" (gửi từ máy bạn đến server).</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Cấu</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 trúc phân tầng (Packet Details):</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1295400" lvl="2" indent="-43180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Frame/Ethernet: Tầng vật lý và liên kết dữ liệu.</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1295400" lvl="2" indent="-43180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IP (Internet Protocol): Tầng mạng.</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1295400" lvl="2" indent="-43180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TCP (Transmission Control Protocol): Tầng giao vận.</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1295400" lvl="2" indent="-43180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HTTP: Tầ</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ng ứng dụng (Tập trung phân tích phần này).</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Thao tác: Đóng các tầng dưới, mở rộng tầng HTTP để xem chi tiết Header.</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algn="just">
              <a:lnSpc>
                <a:spcPts val="4500"/>
              </a:lnSpc>
            </a:pPr>
          </a:p>
        </p:txBody>
      </p:sp>
      <p:sp>
        <p:nvSpPr>
          <p:cNvPr id="5" name="Freeform 5"/>
          <p:cNvSpPr/>
          <p:nvPr/>
        </p:nvSpPr>
        <p:spPr>
          <a:xfrm>
            <a:off x="14452308" y="-288872"/>
            <a:ext cx="3835692" cy="3835692"/>
          </a:xfrm>
          <a:custGeom>
            <a:avLst/>
            <a:gdLst/>
            <a:ahLst/>
            <a:cxnLst/>
            <a:rect l="l" t="t" r="r" b="b"/>
            <a:pathLst>
              <a:path w="3835692" h="3835692">
                <a:moveTo>
                  <a:pt x="0" y="0"/>
                </a:moveTo>
                <a:lnTo>
                  <a:pt x="3835692" y="0"/>
                </a:lnTo>
                <a:lnTo>
                  <a:pt x="3835692" y="3835692"/>
                </a:lnTo>
                <a:lnTo>
                  <a:pt x="0" y="3835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CHẠY THỬ WIRESHARK</a:t>
            </a:r>
            <a:endParaRPr lang="en-US" sz="6500" b="1">
              <a:solidFill>
                <a:srgbClr val="FFFFFF"/>
              </a:solidFill>
              <a:latin typeface="Open Sans Bold"/>
              <a:ea typeface="Open Sans Bold"/>
              <a:cs typeface="Open Sans Bold"/>
              <a:sym typeface="Open Sans Bold"/>
            </a:endParaRPr>
          </a:p>
        </p:txBody>
      </p:sp>
      <p:sp>
        <p:nvSpPr>
          <p:cNvPr id="4" name="Freeform 4"/>
          <p:cNvSpPr/>
          <p:nvPr/>
        </p:nvSpPr>
        <p:spPr>
          <a:xfrm>
            <a:off x="14452308" y="-288872"/>
            <a:ext cx="3835692" cy="3835692"/>
          </a:xfrm>
          <a:custGeom>
            <a:avLst/>
            <a:gdLst/>
            <a:ahLst/>
            <a:cxnLst/>
            <a:rect l="l" t="t" r="r" b="b"/>
            <a:pathLst>
              <a:path w="3835692" h="3835692">
                <a:moveTo>
                  <a:pt x="0" y="0"/>
                </a:moveTo>
                <a:lnTo>
                  <a:pt x="3835692" y="0"/>
                </a:lnTo>
                <a:lnTo>
                  <a:pt x="3835692" y="3835692"/>
                </a:lnTo>
                <a:lnTo>
                  <a:pt x="0" y="3835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263673" y="1437333"/>
            <a:ext cx="15760655" cy="8132856"/>
          </a:xfrm>
          <a:custGeom>
            <a:avLst/>
            <a:gdLst/>
            <a:ahLst/>
            <a:cxnLst/>
            <a:rect l="l" t="t" r="r" b="b"/>
            <a:pathLst>
              <a:path w="15760655" h="8132856">
                <a:moveTo>
                  <a:pt x="0" y="0"/>
                </a:moveTo>
                <a:lnTo>
                  <a:pt x="15760654" y="0"/>
                </a:lnTo>
                <a:lnTo>
                  <a:pt x="15760654" y="8132856"/>
                </a:lnTo>
                <a:lnTo>
                  <a:pt x="0" y="8132856"/>
                </a:lnTo>
                <a:lnTo>
                  <a:pt x="0" y="0"/>
                </a:lnTo>
                <a:close/>
              </a:path>
            </a:pathLst>
          </a:custGeom>
          <a:blipFill>
            <a:blip r:embed="rId6"/>
            <a:stretch>
              <a:fillRect t="-2950"/>
            </a:stretch>
          </a:blipFill>
        </p:spPr>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4452308" y="-288872"/>
            <a:ext cx="3835692" cy="3835692"/>
          </a:xfrm>
          <a:custGeom>
            <a:avLst/>
            <a:gdLst/>
            <a:ahLst/>
            <a:cxnLst/>
            <a:rect l="l" t="t" r="r" b="b"/>
            <a:pathLst>
              <a:path w="3835692" h="3835692">
                <a:moveTo>
                  <a:pt x="0" y="0"/>
                </a:moveTo>
                <a:lnTo>
                  <a:pt x="3835692" y="0"/>
                </a:lnTo>
                <a:lnTo>
                  <a:pt x="3835692" y="3835692"/>
                </a:lnTo>
                <a:lnTo>
                  <a:pt x="0" y="3835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533724"/>
            <a:ext cx="16230600" cy="8079105"/>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 Trong số các protocol sau đây, những protocol nào được hiển thị là xuất hiện trong trace file của bạn: TCP, QUIC, HTTP, DNS, UDP, TLSv1.2?</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Phổ biến: TCP, HTTP, DNS.</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Hệ thống &amp; Mạng: DHCP, ICMPv6, ARP, MDNS.</a:t>
            </a: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2. Mất bao lâu từ khi HTTP GET message được gửi đi cho đến khi nhận được HTTP OK reply? </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Thời gian = T_OK - T_GET</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Thời gian = 25.517 – 25.206(Figure 1)</a:t>
            </a:r>
            <a:endParaRPr lang="en-US" sz="3000">
              <a:solidFill>
                <a:srgbClr val="FFFFFF"/>
              </a:solidFill>
              <a:latin typeface="Inter" panose="020B0502030000000004"/>
              <a:ea typeface="Inter" panose="020B0502030000000004"/>
              <a:cs typeface="Inter" panose="020B0502030000000004"/>
            </a:endParaRPr>
          </a:p>
          <a:p>
            <a:pPr marL="323850" lvl="1" indent="0" algn="just">
              <a:lnSpc>
                <a:spcPts val="4500"/>
              </a:lnSpc>
              <a:buClrTx/>
              <a:buSzTx/>
              <a:buFont typeface="Arial" panose="020B0604020202020204"/>
              <a:buNone/>
            </a:pPr>
            <a:r>
              <a:rPr lang="en-US" sz="3000" b="1" i="1">
                <a:solidFill>
                  <a:srgbClr val="FFFFFF"/>
                </a:solidFill>
                <a:latin typeface="Inter Bold Italics" panose="020B0802030000000004"/>
                <a:ea typeface="Inter Bold Italics" panose="020B0802030000000004"/>
                <a:cs typeface="Inter Bold Italics" panose="020B0802030000000004"/>
              </a:rPr>
              <a:t>=&gt;</a:t>
            </a:r>
            <a:r>
              <a:rPr lang="en-US" sz="3000">
                <a:solidFill>
                  <a:srgbClr val="FFFFFF"/>
                </a:solidFill>
                <a:latin typeface="Inter" panose="020B0502030000000004"/>
                <a:ea typeface="Inter" panose="020B0502030000000004"/>
                <a:cs typeface="Inter" panose="020B0502030000000004"/>
              </a:rPr>
              <a:t>Thời gian = 0.311 giây</a:t>
            </a:r>
            <a:endParaRPr lang="en-US" sz="3000">
              <a:solidFill>
                <a:srgbClr val="FFFFFF"/>
              </a:solidFill>
              <a:latin typeface="Inter" panose="020B0502030000000004"/>
              <a:ea typeface="Inter" panose="020B0502030000000004"/>
              <a:cs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3. Internet address của gaia.cs.umass.edu là gì? Internet address của máy tính bạn hoặc (nếu bạn đang sử dụng trace file) máy tính đã gửi HTTP GET message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Internet address của gaia.cs.umass.edu: 128.119.245.12.</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altLang="en-US" sz="3000">
                <a:solidFill>
                  <a:srgbClr val="FFFFFF"/>
                </a:solidFill>
                <a:latin typeface="Inter" panose="020B0502030000000004"/>
                <a:ea typeface="Inter" panose="020B0502030000000004"/>
                <a:cs typeface="Inter" panose="020B0502030000000004"/>
                <a:sym typeface="Inter" panose="020B0502030000000004"/>
              </a:rPr>
              <a:t>Internet address </a:t>
            </a:r>
            <a:r>
              <a:rPr lang="" altLang="en-US" sz="3000">
                <a:solidFill>
                  <a:srgbClr val="FFFFFF"/>
                </a:solidFill>
                <a:latin typeface="Inter" panose="020B0502030000000004"/>
                <a:ea typeface="Inter" panose="020B0502030000000004"/>
                <a:cs typeface="Inter" panose="020B0502030000000004"/>
                <a:sym typeface="Inter" panose="020B0502030000000004"/>
              </a:rPr>
              <a:t>đ</a:t>
            </a:r>
            <a:r>
              <a:rPr lang="en-US" altLang="en-US" sz="3000">
                <a:solidFill>
                  <a:srgbClr val="FFFFFF"/>
                </a:solidFill>
                <a:latin typeface="Inter" panose="020B0502030000000004"/>
                <a:ea typeface="Inter" panose="020B0502030000000004"/>
                <a:cs typeface="Inter" panose="020B0502030000000004"/>
                <a:sym typeface="Inter" panose="020B0502030000000004"/>
              </a:rPr>
              <a:t>ã gửi GET messsage:192.168.1.17</a:t>
            </a:r>
            <a:endParaRPr lang="en-US" alt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
        <p:nvSpPr>
          <p:cNvPr id="6" name="TextBox 6"/>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TRẢ LỜI CÂU HỎI</a:t>
            </a:r>
            <a:endParaRPr lang="en-US" sz="6500" b="1">
              <a:solidFill>
                <a:srgbClr val="FFFFFF"/>
              </a:solidFill>
              <a:latin typeface="Open Sans Bold"/>
              <a:ea typeface="Open Sans Bold"/>
              <a:cs typeface="Open Sans Bold"/>
              <a:sym typeface="Open Sans Bold"/>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TextBox 3"/>
          <p:cNvSpPr txBox="1"/>
          <p:nvPr/>
        </p:nvSpPr>
        <p:spPr>
          <a:xfrm>
            <a:off x="1028700" y="1533724"/>
            <a:ext cx="16230600" cy="865632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4.  Loại Web browser nào đã phát hành HTTP request? </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altLang="en-US" sz="3000">
                <a:solidFill>
                  <a:srgbClr val="FFFFFF"/>
                </a:solidFill>
                <a:latin typeface="Inter" panose="020B0502030000000004"/>
                <a:ea typeface="Inter" panose="020B0502030000000004"/>
                <a:cs typeface="Inter" panose="020B0502030000000004"/>
                <a:sym typeface="Inter" panose="020B0502030000000004"/>
              </a:rPr>
              <a:t>User-Agent: Mozilla/5.0 (Windows NT 10.0; Win64; x64) AppleWebKit/537.36 (KHTML, like Gecko) Chrome/143.0.0.0 Safari/537.36 Edg/143.0.0.0\r\n</a:t>
            </a:r>
            <a:endParaRPr lang="en-US" altLang="en-US" sz="3000">
              <a:solidFill>
                <a:srgbClr val="FFFFFF"/>
              </a:solidFill>
              <a:latin typeface="Inter" panose="020B0502030000000004"/>
              <a:ea typeface="Inter" panose="020B0502030000000004"/>
              <a:cs typeface="Inter" panose="020B0502030000000004"/>
              <a:sym typeface="Inter" panose="020B0502030000000004"/>
            </a:endParaRPr>
          </a:p>
          <a:p>
            <a:pPr marL="323850" lvl="1" indent="0" algn="just">
              <a:lnSpc>
                <a:spcPts val="4500"/>
              </a:lnSpc>
              <a:buFont typeface="Arial" panose="020B0604020202020204"/>
              <a:buNone/>
            </a:pPr>
            <a:r>
              <a:rPr lang="en-US" sz="3000" b="1" i="1">
                <a:solidFill>
                  <a:srgbClr val="FFFFFF"/>
                </a:solidFill>
                <a:latin typeface="Inter Bold Italics" panose="020B0802030000000004"/>
                <a:ea typeface="Inter Bold Italics" panose="020B0802030000000004"/>
                <a:cs typeface="Inter Bold Italics" panose="020B0802030000000004"/>
                <a:sym typeface="Inter" panose="020B0502030000000004"/>
              </a:rPr>
              <a:t>=&gt; </a:t>
            </a:r>
            <a:r>
              <a:rPr lang="en-US" sz="3000">
                <a:solidFill>
                  <a:srgbClr val="FFFFFF"/>
                </a:solidFill>
                <a:latin typeface="Inter" panose="020B0502030000000004"/>
                <a:ea typeface="Inter" panose="020B0502030000000004"/>
                <a:cs typeface="Inter" panose="020B0502030000000004"/>
                <a:sym typeface="Inter" panose="020B0502030000000004"/>
              </a:rPr>
              <a:t>Trình duyệt Web đã gửi yêu cầu HTTP này là: </a:t>
            </a:r>
            <a:r>
              <a:rPr lang="vi-VN" altLang="en-US" sz="3000">
                <a:solidFill>
                  <a:srgbClr val="FFFFFF"/>
                </a:solidFill>
                <a:latin typeface="Inter" panose="020B0502030000000004"/>
                <a:ea typeface="Inter" panose="020B0502030000000004"/>
                <a:cs typeface="Inter" panose="020B0502030000000004"/>
                <a:sym typeface="Inter" panose="020B0502030000000004"/>
              </a:rPr>
              <a:t>Microsoft Edge</a:t>
            </a:r>
            <a:endParaRPr lang="en-US" alt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5. </a:t>
            </a: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Số destination port</a:t>
            </a:r>
            <a:r>
              <a:rPr lang="vi-VN" alt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 </a:t>
            </a: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mà HTTP request này đang được gửi đến là bao nhiêu?</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Destination port là 80. </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6. </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In hai HTTP message (GET và OK) được đề cập trong câu hỏi 2 ở trên.</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6824	25.206	192.168.1.17	128.119.245.12	HTTP	541	GET /wireshark-labs/INTRO-wireshark-file1.html HTTP/1.1</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6848	25.517	128.119.245.12	192.168.1.17	HTTP	495	HTTP/1.1 200 OK  (text/html)</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endParaRPr lang="en-US" sz="3000">
              <a:solidFill>
                <a:srgbClr val="FFFFFF"/>
              </a:solidFill>
              <a:latin typeface="Inter" panose="020B0502030000000004"/>
              <a:ea typeface="Inter" panose="020B0502030000000004"/>
              <a:cs typeface="Inter" panose="020B0502030000000004"/>
            </a:endParaRPr>
          </a:p>
        </p:txBody>
      </p:sp>
      <p:sp>
        <p:nvSpPr>
          <p:cNvPr id="4" name="Freeform 4"/>
          <p:cNvSpPr/>
          <p:nvPr/>
        </p:nvSpPr>
        <p:spPr>
          <a:xfrm>
            <a:off x="14452308" y="-288872"/>
            <a:ext cx="3835692" cy="3835692"/>
          </a:xfrm>
          <a:custGeom>
            <a:avLst/>
            <a:gdLst/>
            <a:ahLst/>
            <a:cxnLst/>
            <a:rect l="l" t="t" r="r" b="b"/>
            <a:pathLst>
              <a:path w="3835692" h="3835692">
                <a:moveTo>
                  <a:pt x="0" y="0"/>
                </a:moveTo>
                <a:lnTo>
                  <a:pt x="3835692" y="0"/>
                </a:lnTo>
                <a:lnTo>
                  <a:pt x="3835692" y="3835692"/>
                </a:lnTo>
                <a:lnTo>
                  <a:pt x="0" y="3835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TRẢ LỜI CÂU HỎI</a:t>
            </a:r>
            <a:endParaRPr lang="en-US" sz="6500" b="1">
              <a:solidFill>
                <a:srgbClr val="FFFFFF"/>
              </a:solidFill>
              <a:latin typeface="Open Sans Bold"/>
              <a:ea typeface="Open Sans Bold"/>
              <a:cs typeface="Open Sans Bold"/>
              <a:sym typeface="Open Sans Bold"/>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07191" y="6484132"/>
            <a:ext cx="5846129" cy="3398062"/>
          </a:xfrm>
          <a:custGeom>
            <a:avLst/>
            <a:gdLst/>
            <a:ahLst/>
            <a:cxnLst/>
            <a:rect l="l" t="t" r="r" b="b"/>
            <a:pathLst>
              <a:path w="5846129" h="3398062">
                <a:moveTo>
                  <a:pt x="0" y="0"/>
                </a:moveTo>
                <a:lnTo>
                  <a:pt x="5846129" y="0"/>
                </a:lnTo>
                <a:lnTo>
                  <a:pt x="5846129" y="3398063"/>
                </a:lnTo>
                <a:lnTo>
                  <a:pt x="0" y="3398063"/>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8079105"/>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 Địa chỉ Ethernet 48-bit của máy tính bạn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b="1">
                <a:solidFill>
                  <a:srgbClr val="FFFFFF"/>
                </a:solidFill>
                <a:latin typeface="Inter" panose="020B0502030000000004"/>
                <a:ea typeface="Inter" panose="020B0502030000000004"/>
                <a:cs typeface="Inter" panose="020B0502030000000004"/>
                <a:sym typeface="Inter" panose="020B0502030000000004"/>
              </a:rPr>
              <a:t>1</a:t>
            </a:r>
            <a:r>
              <a:rPr lang="en-US" sz="3000" b="1">
                <a:solidFill>
                  <a:srgbClr val="FFFFFF"/>
                </a:solidFill>
                <a:latin typeface="Inter" panose="020B0502030000000004"/>
                <a:ea typeface="Inter" panose="020B0502030000000004"/>
                <a:cs typeface="Inter" panose="020B0502030000000004"/>
                <a:sym typeface="Inter" panose="020B0502030000000004"/>
              </a:rPr>
              <a:t>4:13:33:2d:94:e1</a:t>
            </a:r>
            <a:endParaRPr lang="en-US" sz="3000" b="1">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2.</a:t>
            </a: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 </a:t>
            </a: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Địa chỉ đích 48-bit trong frame Ethernet là gì? Đây có phải là địa chỉ Ethernet của gaia.cs.umass.edu không? Thiết bị nào có địa chỉ Ethernet này? </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Địa chỉ đó là</a:t>
            </a:r>
            <a:r>
              <a:rPr lang="en-US" sz="3000" b="1">
                <a:solidFill>
                  <a:srgbClr val="FFFFFF"/>
                </a:solidFill>
                <a:latin typeface="Inter Bold Italics" panose="020B0802030000000004"/>
                <a:ea typeface="Inter Bold Italics" panose="020B0802030000000004"/>
                <a:cs typeface="Inter Bold Italics" panose="020B0802030000000004"/>
                <a:sym typeface="Inter" panose="020B0502030000000004"/>
              </a:rPr>
              <a:t> a0:65:18:1d:69:ef</a:t>
            </a:r>
            <a:endParaRPr lang="en-US" alt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Không. Vì gaia.cs.umass.edu (có </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IP 128.119.245.12</a:t>
            </a:r>
            <a:r>
              <a:rPr lang="en-US" sz="3000">
                <a:solidFill>
                  <a:srgbClr val="FFFFFF"/>
                </a:solidFill>
                <a:latin typeface="Inter" panose="020B0502030000000004"/>
                <a:ea typeface="Inter" panose="020B0502030000000004"/>
                <a:cs typeface="Inter" panose="020B0502030000000004"/>
                <a:sym typeface="Inter" panose="020B0502030000000004"/>
              </a:rPr>
              <a:t>) là máy chủ đích nằm ở ngoài mạng Internet.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Đây là địa chỉ của Router (hoặc Gateway/Firewall) nội bộ mà máy tính bạn kết nối trực tiếp đến.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3. </a:t>
            </a: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Giá trị hexadecimal cho trường Frame type hai byte trong frame Ethernet mang yêu cầu HTTP GET là gì? Giao thức cấp trên tương ứng với giá trị này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Giá trị hexadecimal cho trường Frame type: 0x0800</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Giao thức cấp trên tương ứng: Giao thức đó là IPv4</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07191" y="6484132"/>
            <a:ext cx="5846129" cy="3398062"/>
          </a:xfrm>
          <a:custGeom>
            <a:avLst/>
            <a:gdLst/>
            <a:ahLst/>
            <a:cxnLst/>
            <a:rect l="l" t="t" r="r" b="b"/>
            <a:pathLst>
              <a:path w="5846129" h="3398062">
                <a:moveTo>
                  <a:pt x="0" y="0"/>
                </a:moveTo>
                <a:lnTo>
                  <a:pt x="5846129" y="0"/>
                </a:lnTo>
                <a:lnTo>
                  <a:pt x="5846129" y="3398063"/>
                </a:lnTo>
                <a:lnTo>
                  <a:pt x="0" y="3398063"/>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7410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4. Bao nhiêu byte từ đầu frame Ethernet đến khi ký tự ASCII “G” trong “GET” xuất hiện trong frame Ethernet?</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E</a:t>
            </a:r>
            <a:r>
              <a:rPr lang="en-US" sz="3000">
                <a:solidFill>
                  <a:srgbClr val="FFFFFF"/>
                </a:solidFill>
                <a:latin typeface="Inter" panose="020B0502030000000004"/>
                <a:ea typeface="Inter" panose="020B0502030000000004"/>
                <a:cs typeface="Inter" panose="020B0502030000000004"/>
                <a:sym typeface="Inter" panose="020B0502030000000004"/>
              </a:rPr>
              <a:t>thernet Header: 14 bytes</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6 bytes (Destination MAC)</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6</a:t>
            </a:r>
            <a:r>
              <a:rPr lang="en-US" sz="3000">
                <a:solidFill>
                  <a:srgbClr val="FFFFFF"/>
                </a:solidFill>
                <a:latin typeface="Inter" panose="020B0502030000000004"/>
                <a:ea typeface="Inter" panose="020B0502030000000004"/>
                <a:cs typeface="Inter" panose="020B0502030000000004"/>
                <a:sym typeface="Inter" panose="020B0502030000000004"/>
              </a:rPr>
              <a:t> bytes (Source MAC)</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2</a:t>
            </a:r>
            <a:r>
              <a:rPr lang="en-US" sz="3000">
                <a:solidFill>
                  <a:srgbClr val="FFFFFF"/>
                </a:solidFill>
                <a:latin typeface="Inter" panose="020B0502030000000004"/>
                <a:ea typeface="Inter" panose="020B0502030000000004"/>
                <a:cs typeface="Inter" panose="020B0502030000000004"/>
                <a:sym typeface="Inter" panose="020B0502030000000004"/>
              </a:rPr>
              <a:t> bytes (Type)</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I</a:t>
            </a:r>
            <a:r>
              <a:rPr lang="en-US" sz="3000">
                <a:solidFill>
                  <a:srgbClr val="FFFFFF"/>
                </a:solidFill>
                <a:latin typeface="Inter" panose="020B0502030000000004"/>
                <a:ea typeface="Inter" panose="020B0502030000000004"/>
                <a:cs typeface="Inter" panose="020B0502030000000004"/>
                <a:sym typeface="Inter" panose="020B0502030000000004"/>
              </a:rPr>
              <a:t>Pv4 Header: 20 bytes</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CP Header: 20 bytes</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a:solidFill>
                  <a:srgbClr val="FFFFFF"/>
                </a:solidFill>
                <a:latin typeface="Inter" panose="020B0502030000000004"/>
                <a:ea typeface="Inter" panose="020B0502030000000004"/>
                <a:cs typeface="Inter" panose="020B0502030000000004"/>
                <a:sym typeface="Inter" panose="020B0502030000000004"/>
              </a:rPr>
              <a:t>Phép tính tổng: 14 + 20 + 20 = 54</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=&gt;</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Kết luận: Có 54 byte dữ liệu từ đầu frame Ethernet cho đến khi ký tự ASCII "G" (trong chữ GET) xuất hiện. Chữ "G" là byte thứ 55.</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07191" y="6484132"/>
            <a:ext cx="5846129" cy="3398062"/>
          </a:xfrm>
          <a:custGeom>
            <a:avLst/>
            <a:gdLst/>
            <a:ahLst/>
            <a:cxnLst/>
            <a:rect l="l" t="t" r="r" b="b"/>
            <a:pathLst>
              <a:path w="5846129" h="3398062">
                <a:moveTo>
                  <a:pt x="0" y="0"/>
                </a:moveTo>
                <a:lnTo>
                  <a:pt x="5846129" y="0"/>
                </a:lnTo>
                <a:lnTo>
                  <a:pt x="5846129" y="3398063"/>
                </a:lnTo>
                <a:lnTo>
                  <a:pt x="0" y="3398063"/>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6348095"/>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5. Giá trị của địa chỉ nguồn Ethernet là gì? Đây có phải là địa chỉ của máy tính bạn, hay của gaia.cs.umass.edu không. Thiết bị nào có địa chỉ Ethernet này?</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algn="just">
              <a:lnSpc>
                <a:spcPts val="4500"/>
              </a:lnSpc>
            </a:p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Địa chỉ nguồn là</a:t>
            </a:r>
            <a:r>
              <a:rPr lang="en-US" sz="3000" b="1" i="1">
                <a:solidFill>
                  <a:srgbClr val="FFFFFF"/>
                </a:solidFill>
                <a:latin typeface="Inter Bold Italics" panose="020B0802030000000004"/>
                <a:ea typeface="Inter Bold Italics" panose="020B0802030000000004"/>
                <a:cs typeface="Inter Bold Italics" panose="020B0802030000000004"/>
                <a:sym typeface="Inter" panose="020B0502030000000004"/>
              </a:rPr>
              <a:t> 14:13:33:2d:94:e1</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Là</a:t>
            </a:r>
            <a:r>
              <a:rPr lang="en-US" sz="3000">
                <a:solidFill>
                  <a:srgbClr val="FFFFFF"/>
                </a:solidFill>
                <a:latin typeface="Inter" panose="020B0502030000000004"/>
                <a:ea typeface="Inter" panose="020B0502030000000004"/>
                <a:cs typeface="Inter" panose="020B0502030000000004"/>
                <a:sym typeface="Inter" panose="020B0502030000000004"/>
              </a:rPr>
              <a:t> địa chỉ của máy tính bạn.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Không phải của gaia.cs.umass.edu. Lý do: Địa</a:t>
            </a:r>
            <a:r>
              <a:rPr lang="en-US" sz="3000">
                <a:solidFill>
                  <a:srgbClr val="FFFFFF"/>
                </a:solidFill>
                <a:latin typeface="Inter" panose="020B0502030000000004"/>
                <a:ea typeface="Inter" panose="020B0502030000000004"/>
                <a:cs typeface="Inter" panose="020B0502030000000004"/>
                <a:sym typeface="Inter" panose="020B0502030000000004"/>
              </a:rPr>
              <a:t> chỉ Ethernet (MAC) chỉ có giá trị trong mạng nội bộ. Khi bạn gửi dữ liệu đi xa (đến Gaia), máy bạn chỉ đóng gói địa chỉ MAC của chính nó (nguồn) và địa chỉ MAC của Router/Gateway nhà bạn (Đích). Địa chỉ MAC của máy chủ Gaia ở tận Mỹ sẽ không bao giờ xuất hiện trong khung tin tại máy bạn.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Đó là Card mạng (NIC) của máy tính bạn.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07191" y="6484132"/>
            <a:ext cx="5846129" cy="3398062"/>
          </a:xfrm>
          <a:custGeom>
            <a:avLst/>
            <a:gdLst/>
            <a:ahLst/>
            <a:cxnLst/>
            <a:rect l="l" t="t" r="r" b="b"/>
            <a:pathLst>
              <a:path w="5846129" h="3398062">
                <a:moveTo>
                  <a:pt x="0" y="0"/>
                </a:moveTo>
                <a:lnTo>
                  <a:pt x="5846129" y="0"/>
                </a:lnTo>
                <a:lnTo>
                  <a:pt x="5846129" y="3398063"/>
                </a:lnTo>
                <a:lnTo>
                  <a:pt x="0" y="3398063"/>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6924675"/>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6. Địa chỉ đích trong frame Ethernet là gì? Đây có phải là địa chỉ Ethernet của máy tính bạn không?</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Giá trị địa chỉ đích là</a:t>
            </a:r>
            <a:r>
              <a:rPr lang="vi-VN" altLang="en-US" sz="3000">
                <a:solidFill>
                  <a:srgbClr val="FFFFFF"/>
                </a:solidFill>
                <a:latin typeface="Inter" panose="020B0502030000000004"/>
                <a:ea typeface="Inter" panose="020B0502030000000004"/>
                <a:cs typeface="Inter" panose="020B0502030000000004"/>
                <a:sym typeface="Inter" panose="020B0502030000000004"/>
              </a:rPr>
              <a:t> </a:t>
            </a:r>
            <a:r>
              <a:rPr lang="en-US" sz="3000" b="1" i="1">
                <a:solidFill>
                  <a:srgbClr val="FFFFFF"/>
                </a:solidFill>
                <a:latin typeface="Inter Bold Italics" panose="020B0802030000000004"/>
                <a:ea typeface="Inter Bold Italics" panose="020B0802030000000004"/>
                <a:cs typeface="Inter Bold Italics" panose="020B0802030000000004"/>
                <a:sym typeface="Inter" panose="020B0502030000000004"/>
              </a:rPr>
              <a:t>a0:65:18:1d:69:ef</a:t>
            </a:r>
            <a:endParaRPr lang="en-US" alt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Địa chỉ này không phải của máy tính bạn. </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Giải thích: </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Trong mạng máy tính, địa chỉ MAC (Ethernet) chỉ dùng để chuyển gói tin giữa các thiết bị trong cùng một mạng cục bộ (LAN).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Khi bạn gửi một yêu cầu ra internet (đến Gaia), máy tính của bạn sẽ tìm địa chỉ MAC của Default Gateway (Router) để đẩy gói tin đi.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Do đó, địa chỉ đích 80:80:2c:a9:68:74 chính là địa chỉ của Router/Gateway đang kết nối máy tính của bạn với Internet.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07191" y="6484132"/>
            <a:ext cx="5846129" cy="3398062"/>
          </a:xfrm>
          <a:custGeom>
            <a:avLst/>
            <a:gdLst/>
            <a:ahLst/>
            <a:cxnLst/>
            <a:rect l="l" t="t" r="r" b="b"/>
            <a:pathLst>
              <a:path w="5846129" h="3398062">
                <a:moveTo>
                  <a:pt x="0" y="0"/>
                </a:moveTo>
                <a:lnTo>
                  <a:pt x="5846129" y="0"/>
                </a:lnTo>
                <a:lnTo>
                  <a:pt x="5846129" y="3398063"/>
                </a:lnTo>
                <a:lnTo>
                  <a:pt x="0" y="3398063"/>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288544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7. Cung cấp giá trị hexadecimal cho trường Frame type hai byte. Giao thức cấp trên tương ứng với giá trị này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a:t>
            </a:r>
            <a:r>
              <a:rPr lang="en-US" sz="3000">
                <a:solidFill>
                  <a:srgbClr val="FFFFFF"/>
                </a:solidFill>
                <a:latin typeface="Inter" panose="020B0502030000000004"/>
                <a:ea typeface="Inter" panose="020B0502030000000004"/>
                <a:cs typeface="Inter" panose="020B0502030000000004"/>
                <a:sym typeface="Inter" panose="020B0502030000000004"/>
              </a:rPr>
              <a:t>iá trị hexadecimal cho trường Frame type: Giá trị đó là 0x0800.</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a:t>
            </a:r>
            <a:r>
              <a:rPr lang="en-US" sz="3000">
                <a:solidFill>
                  <a:srgbClr val="FFFFFF"/>
                </a:solidFill>
                <a:latin typeface="Inter" panose="020B0502030000000004"/>
                <a:ea typeface="Inter" panose="020B0502030000000004"/>
                <a:cs typeface="Inter" panose="020B0502030000000004"/>
                <a:sym typeface="Inter" panose="020B0502030000000004"/>
              </a:rPr>
              <a:t>iao thức cấp trên tương ứng: Giao thức đó là IPv4</a:t>
            </a: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3521055" y="7627620"/>
            <a:ext cx="4932680" cy="2254250"/>
          </a:xfrm>
          <a:custGeom>
            <a:avLst/>
            <a:gdLst/>
            <a:ahLst/>
            <a:cxnLst/>
            <a:rect l="l" t="t" r="r" b="b"/>
            <a:pathLst>
              <a:path w="5846129" h="3398062">
                <a:moveTo>
                  <a:pt x="0" y="0"/>
                </a:moveTo>
                <a:lnTo>
                  <a:pt x="5846129" y="0"/>
                </a:lnTo>
                <a:lnTo>
                  <a:pt x="5846129" y="3398063"/>
                </a:lnTo>
                <a:lnTo>
                  <a:pt x="0" y="3398063"/>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8079105"/>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8. </a:t>
            </a: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Bao nhiêu byte từ đầu frame Ethernet đến khi ký tự ASCII “O” trong “OK”  xuất hiện trong frame Ethernet? </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0" lvl="1" algn="just">
              <a:lnSpc>
                <a:spcPts val="4500"/>
              </a:lnSpc>
              <a:buClrTx/>
              <a:buSzTx/>
              <a:buFontTx/>
              <a:buNone/>
            </a:pPr>
            <a:r>
              <a:rPr lang="en-US" sz="3000" b="1" i="1">
                <a:solidFill>
                  <a:srgbClr val="FFFFFF"/>
                </a:solidFill>
                <a:latin typeface="Inter Bold Italics" panose="020B0802030000000004"/>
                <a:ea typeface="Inter Bold Italics" panose="020B0802030000000004"/>
                <a:cs typeface="Inter Bold Italics" panose="020B0802030000000004"/>
              </a:rPr>
              <a:t>* Tính tổng kích thước các Header (Tiêu đề):</a:t>
            </a:r>
            <a:endParaRPr lang="en-US" sz="3000" b="1" i="1">
              <a:solidFill>
                <a:srgbClr val="FFFFFF"/>
              </a:solidFill>
              <a:latin typeface="Inter Bold Italics" panose="020B0802030000000004"/>
              <a:ea typeface="Inter Bold Italics" panose="020B0802030000000004"/>
              <a:cs typeface="Inter Bold Italics" panose="020B08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Ethernet Header: Luôn là 14 bytes.</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IP Header: Theo chuẩn IPv4 thông thường là 20 bytes.</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TCP Header: Trong gói tin cụ thể này, kích thước là 20 bytes.</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=&gt; Tổng kích thước các header trước khi đến dữ liệu HTTP: 14 + 20 + 20= 54 bytes.</a:t>
            </a:r>
            <a:endParaRPr lang="en-US" sz="3000">
              <a:solidFill>
                <a:srgbClr val="FFFFFF"/>
              </a:solidFill>
              <a:latin typeface="Inter" panose="020B0502030000000004"/>
              <a:ea typeface="Inter" panose="020B0502030000000004"/>
              <a:cs typeface="Inter" panose="020B0502030000000004"/>
            </a:endParaRPr>
          </a:p>
          <a:p>
            <a:pPr marL="0" lvl="1" algn="just">
              <a:lnSpc>
                <a:spcPts val="4500"/>
              </a:lnSpc>
              <a:buClrTx/>
              <a:buSzTx/>
              <a:buFontTx/>
              <a:buNone/>
            </a:pPr>
            <a:r>
              <a:rPr lang="en-US" sz="3000" b="1" i="1">
                <a:solidFill>
                  <a:srgbClr val="FFFFFF"/>
                </a:solidFill>
                <a:latin typeface="Inter Bold Italics" panose="020B0802030000000004"/>
                <a:ea typeface="Inter Bold Italics" panose="020B0802030000000004"/>
                <a:cs typeface="Inter Bold Italics" panose="020B0802030000000004"/>
              </a:rPr>
              <a:t>* Tính số byte trong chuỗi HTTP trước chữ "O":</a:t>
            </a:r>
            <a:endParaRPr lang="en-US" sz="3000" b="1" i="1">
              <a:solidFill>
                <a:srgbClr val="FFFFFF"/>
              </a:solidFill>
              <a:latin typeface="Inter Bold Italics" panose="020B0802030000000004"/>
              <a:ea typeface="Inter Bold Italics" panose="020B0802030000000004"/>
              <a:cs typeface="Inter Bold Italics" panose="020B08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Thông điệp phản hồi bắt đầu bằng dòng: HTTP/1.1 200 OK</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Các ký tự đứng trước chữ "O" bao gồm: H, T, T, P, /, 1, ., 1, (khoảng trắng), 2, 0, 0, (khoảng trắng).</a:t>
            </a:r>
            <a:endParaRPr lang="en-US" sz="3000">
              <a:solidFill>
                <a:srgbClr val="FFFFFF"/>
              </a:solidFill>
              <a:latin typeface="Inter" panose="020B0502030000000004"/>
              <a:ea typeface="Inter" panose="020B0502030000000004"/>
              <a:cs typeface="Inter" panose="020B0502030000000004"/>
            </a:endParaRPr>
          </a:p>
          <a:p>
            <a:pPr marL="647700" lvl="1" indent="-323850" algn="just">
              <a:lnSpc>
                <a:spcPts val="4500"/>
              </a:lnSpc>
              <a:buClrTx/>
              <a:buSzTx/>
              <a:buFont typeface="Arial" panose="020B0604020202020204"/>
              <a:buChar char="•"/>
            </a:pPr>
            <a:r>
              <a:rPr lang="en-US" sz="3000">
                <a:solidFill>
                  <a:srgbClr val="FFFFFF"/>
                </a:solidFill>
                <a:latin typeface="Inter" panose="020B0502030000000004"/>
                <a:ea typeface="Inter" panose="020B0502030000000004"/>
                <a:cs typeface="Inter" panose="020B0502030000000004"/>
              </a:rPr>
              <a:t>Đếm các ký tự này: HTTP/1.1 (8 ký tự) + (1) + 200 (3) + (1) = 13 bytes.</a:t>
            </a:r>
            <a:endParaRPr lang="en-US" sz="3000">
              <a:solidFill>
                <a:srgbClr val="FFFFFF"/>
              </a:solidFill>
              <a:latin typeface="Inter" panose="020B0502030000000004"/>
              <a:ea typeface="Inter" panose="020B0502030000000004"/>
              <a:cs typeface="Inter" panose="020B0502030000000004"/>
            </a:endParaRPr>
          </a:p>
          <a:p>
            <a:pPr marL="0" lvl="1" algn="just">
              <a:lnSpc>
                <a:spcPts val="4500"/>
              </a:lnSpc>
              <a:buClrTx/>
              <a:buSzTx/>
              <a:buFontTx/>
            </a:pPr>
            <a:r>
              <a:rPr lang="en-US" sz="3000" b="1" i="1">
                <a:solidFill>
                  <a:srgbClr val="FFFFFF"/>
                </a:solidFill>
                <a:latin typeface="Inter Bold Italics" panose="020B0802030000000004"/>
                <a:ea typeface="Inter Bold Italics" panose="020B0802030000000004"/>
                <a:cs typeface="Inter Bold Italics" panose="020B0802030000000004"/>
              </a:rPr>
              <a:t>=&gt; Tổng cộng:</a:t>
            </a:r>
            <a:r>
              <a:rPr lang="vi-VN" altLang="en-US" sz="3000" b="1" i="1">
                <a:solidFill>
                  <a:srgbClr val="FFFFFF"/>
                </a:solidFill>
                <a:latin typeface="Inter Bold Italics" panose="020B0802030000000004"/>
                <a:ea typeface="Inter Bold Italics" panose="020B0802030000000004"/>
                <a:cs typeface="Inter Bold Italics" panose="020B0802030000000004"/>
              </a:rPr>
              <a:t> </a:t>
            </a:r>
            <a:r>
              <a:rPr lang="en-US" sz="3000">
                <a:solidFill>
                  <a:srgbClr val="FFFFFF"/>
                </a:solidFill>
                <a:latin typeface="Inter" panose="020B0502030000000004"/>
                <a:ea typeface="Inter" panose="020B0502030000000004"/>
                <a:cs typeface="Inter" panose="020B0502030000000004"/>
              </a:rPr>
              <a:t>54 (Header) + 13 (HTTP text) = 67 bytes.</a:t>
            </a:r>
            <a:endParaRPr lang="en-US" sz="3000">
              <a:solidFill>
                <a:srgbClr val="FFFFFF"/>
              </a:solidFill>
              <a:latin typeface="Inter" panose="020B0502030000000004"/>
              <a:ea typeface="Inter" panose="020B0502030000000004"/>
              <a:cs typeface="Inter" panose="020B0502030000000004"/>
            </a:endParaRPr>
          </a:p>
          <a:p>
            <a:pPr algn="just">
              <a:lnSpc>
                <a:spcPts val="4500"/>
              </a:lnSpc>
              <a:buClrTx/>
              <a:buSzTx/>
              <a:buFontTx/>
            </a:pPr>
            <a:endParaRPr lang="en-US" sz="3000">
              <a:solidFill>
                <a:srgbClr val="FFFFFF"/>
              </a:solidFill>
              <a:latin typeface="Inter Bold Italics" panose="020B0802030000000004"/>
              <a:ea typeface="Inter Bold Italics" panose="020B0802030000000004"/>
              <a:cs typeface="Inter Bold Italics" panose="020B0802030000000004"/>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pic>
        <p:nvPicPr>
          <p:cNvPr id="33" name="Picture 5"/>
          <p:cNvPicPr>
            <a:picLocks noChangeAspect="1"/>
          </p:cNvPicPr>
          <p:nvPr/>
        </p:nvPicPr>
        <p:blipFill>
          <a:blip r:embed="rId6"/>
          <a:stretch>
            <a:fillRect/>
          </a:stretch>
        </p:blipFill>
        <p:spPr>
          <a:xfrm>
            <a:off x="1018540" y="1866900"/>
            <a:ext cx="16250920" cy="751205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07191" y="6484132"/>
            <a:ext cx="5846129" cy="3398062"/>
          </a:xfrm>
          <a:custGeom>
            <a:avLst/>
            <a:gdLst/>
            <a:ahLst/>
            <a:cxnLst/>
            <a:rect l="l" t="t" r="r" b="b"/>
            <a:pathLst>
              <a:path w="5846129" h="3398062">
                <a:moveTo>
                  <a:pt x="0" y="0"/>
                </a:moveTo>
                <a:lnTo>
                  <a:pt x="5846129" y="0"/>
                </a:lnTo>
                <a:lnTo>
                  <a:pt x="5846129" y="3398063"/>
                </a:lnTo>
                <a:lnTo>
                  <a:pt x="0" y="3398063"/>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BẮT GÓI VÀ PHÂN TÍCH CÁC FRAME ETHERNET</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577088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9. Có bao nhiêu frame Ethernet mang dữ liệu là một phần của thông điệp phản hồi HTTP hoàn chỉnh “OK 200 ...”?</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1</a:t>
            </a:r>
            <a:r>
              <a:rPr lang="en-US" sz="3000">
                <a:solidFill>
                  <a:srgbClr val="FFFFFF"/>
                </a:solidFill>
                <a:latin typeface="Inter" panose="020B0502030000000004"/>
                <a:ea typeface="Inter" panose="020B0502030000000004"/>
                <a:cs typeface="Inter" panose="020B0502030000000004"/>
                <a:sym typeface="Inter" panose="020B0502030000000004"/>
              </a:rPr>
              <a:t> frame duy nhất.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Total Length: </a:t>
            </a:r>
            <a:r>
              <a:rPr lang="vi-VN" altLang="en-US" sz="3000">
                <a:solidFill>
                  <a:srgbClr val="FFFFFF"/>
                </a:solidFill>
                <a:latin typeface="Inter" panose="020B0502030000000004"/>
                <a:ea typeface="Inter" panose="020B0502030000000004"/>
                <a:cs typeface="Inter" panose="020B0502030000000004"/>
                <a:sym typeface="Inter" panose="020B0502030000000004"/>
              </a:rPr>
              <a:t>481 </a:t>
            </a:r>
            <a:r>
              <a:rPr lang="en-US" sz="3000">
                <a:solidFill>
                  <a:srgbClr val="FFFFFF"/>
                </a:solidFill>
                <a:latin typeface="Inter" panose="020B0502030000000004"/>
                <a:ea typeface="Inter" panose="020B0502030000000004"/>
                <a:cs typeface="Inter" panose="020B0502030000000004"/>
                <a:sym typeface="Inter" panose="020B0502030000000004"/>
              </a:rPr>
              <a:t>cho biết độ dài của phần dữ liệu tải trọng (payload) bên trong gói TCP này là </a:t>
            </a:r>
            <a:r>
              <a:rPr lang="vi-VN" altLang="en-US" sz="3000">
                <a:solidFill>
                  <a:srgbClr val="FFFFFF"/>
                </a:solidFill>
                <a:latin typeface="Inter" panose="020B0502030000000004"/>
                <a:ea typeface="Inter" panose="020B0502030000000004"/>
                <a:cs typeface="Inter" panose="020B0502030000000004"/>
                <a:sym typeface="Inter" panose="020B0502030000000004"/>
              </a:rPr>
              <a:t>481 </a:t>
            </a:r>
            <a:r>
              <a:rPr lang="en-US" sz="3000">
                <a:solidFill>
                  <a:srgbClr val="FFFFFF"/>
                </a:solidFill>
                <a:latin typeface="Inter" panose="020B0502030000000004"/>
                <a:ea typeface="Inter" panose="020B0502030000000004"/>
                <a:cs typeface="Inter" panose="020B0502030000000004"/>
                <a:sym typeface="Inter" panose="020B0502030000000004"/>
              </a:rPr>
              <a:t>bytes. Đây chính là kích thước của toàn bộ thông điệp HTTP phản hồi.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Kết luận:</a:t>
            </a:r>
            <a:r>
              <a:rPr lang="en-US" sz="3000">
                <a:solidFill>
                  <a:srgbClr val="FFFFFF"/>
                </a:solidFill>
                <a:latin typeface="Inter" panose="020B0502030000000004"/>
                <a:ea typeface="Inter" panose="020B0502030000000004"/>
                <a:cs typeface="Inter" panose="020B0502030000000004"/>
                <a:sym typeface="Inter" panose="020B0502030000000004"/>
              </a:rPr>
              <a:t> Một frame Ethernet tiêu chuẩn có thể mang tải trọng (MTU) khoảng 1500 bytes. Vì kích thước của toàn bộ thông điệp HTTP này chỉ là </a:t>
            </a:r>
            <a:r>
              <a:rPr lang="vi-VN" altLang="en-US" sz="3000">
                <a:solidFill>
                  <a:srgbClr val="FFFFFF"/>
                </a:solidFill>
                <a:latin typeface="Inter" panose="020B0502030000000004"/>
                <a:ea typeface="Inter" panose="020B0502030000000004"/>
                <a:cs typeface="Inter" panose="020B0502030000000004"/>
                <a:sym typeface="Inter" panose="020B0502030000000004"/>
              </a:rPr>
              <a:t>481 </a:t>
            </a:r>
            <a:r>
              <a:rPr lang="en-US" sz="3000">
                <a:solidFill>
                  <a:srgbClr val="FFFFFF"/>
                </a:solidFill>
                <a:latin typeface="Inter" panose="020B0502030000000004"/>
                <a:ea typeface="Inter" panose="020B0502030000000004"/>
                <a:cs typeface="Inter" panose="020B0502030000000004"/>
                <a:sym typeface="Inter" panose="020B0502030000000004"/>
              </a:rPr>
              <a:t>bytes (nhỏ hơn rất nhiều so với giới hạn 1500 bytes), nên nó nằm trọn vẹn trong một frame duy nhất và không cần phải chia nhỏ sang các frame khác.</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3766795" y="3743981"/>
            <a:ext cx="10754410" cy="6049356"/>
          </a:xfrm>
          <a:custGeom>
            <a:avLst/>
            <a:gdLst/>
            <a:ahLst/>
            <a:cxnLst/>
            <a:rect l="l" t="t" r="r" b="b"/>
            <a:pathLst>
              <a:path w="10754410" h="6049356">
                <a:moveTo>
                  <a:pt x="0" y="0"/>
                </a:moveTo>
                <a:lnTo>
                  <a:pt x="10754410" y="0"/>
                </a:lnTo>
                <a:lnTo>
                  <a:pt x="10754410" y="6049355"/>
                </a:lnTo>
                <a:lnTo>
                  <a:pt x="0" y="6049355"/>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sp>
        <p:nvSpPr>
          <p:cNvPr id="7" name="TextBox 7"/>
          <p:cNvSpPr txBox="1"/>
          <p:nvPr/>
        </p:nvSpPr>
        <p:spPr>
          <a:xfrm>
            <a:off x="1028700" y="1742975"/>
            <a:ext cx="16230600" cy="2266950"/>
          </a:xfrm>
          <a:prstGeom prst="rect">
            <a:avLst/>
          </a:prstGeom>
        </p:spPr>
        <p:txBody>
          <a:bodyPr lIns="0" tIns="0" rIns="0" bIns="0" rtlCol="0" anchor="t">
            <a:spAutoFit/>
          </a:bodyPr>
          <a:lstStyle/>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Để xem nội dung của cache ARP trên máy tính của bạn, gõ lệnh “arp -a” sẽ hiển thị nội dung của cache ARP trên máy tính của bạn. </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algn="just">
              <a:lnSpc>
                <a:spcPts val="4500"/>
              </a:lnSpc>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Sau đó, nhập lệnh arp -d * để xóa cache</a:t>
            </a:r>
            <a:endParaRPr lang="en-US" sz="3000" b="1">
              <a:solidFill>
                <a:srgbClr val="FFFFFF"/>
              </a:solidFill>
              <a:latin typeface="Inter Bold" panose="020B0802030000000004"/>
              <a:ea typeface="Inter Bold" panose="020B0802030000000004"/>
              <a:cs typeface="Inter Bold" panose="020B0802030000000004"/>
              <a:sym typeface="Inter Bold" panose="020B08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sp>
        <p:nvSpPr>
          <p:cNvPr id="6" name="TextBox 6"/>
          <p:cNvSpPr txBox="1"/>
          <p:nvPr/>
        </p:nvSpPr>
        <p:spPr>
          <a:xfrm>
            <a:off x="1028700" y="1742975"/>
            <a:ext cx="16230600" cy="6838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10. Có bao nhiêu bản ghi được lưu trữ trong cache ARP của bạn?</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ó 9 bản ghi được lưu trữ trong cache ARP .</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11. Mỗi bản ghi hiển thị trong cache ARP chứa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algn="just">
              <a:lnSpc>
                <a:spcPts val="4500"/>
              </a:lnSpc>
            </a:pPr>
            <a:r>
              <a:rPr lang="en-US" sz="3000">
                <a:solidFill>
                  <a:srgbClr val="FFFFFF"/>
                </a:solidFill>
                <a:latin typeface="Inter" panose="020B0502030000000004"/>
                <a:ea typeface="Inter" panose="020B0502030000000004"/>
                <a:cs typeface="Inter" panose="020B0502030000000004"/>
                <a:sym typeface="Inter" panose="020B0502030000000004"/>
              </a:rPr>
              <a:t>Mỗi bản ghi hiển thị trong ARP cache chứa các thông tin sau:</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Internet Address (Địa chỉ IP): Địa chỉ IP của thiết bị trong mạng.</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Physical Address (Địa chỉ MAC): Địa chỉ MAC tương ứng với địa chỉ IP đó.</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Type (Loại bản ghi): Cho biết cách bản ghi được tạo:</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dynamic: học tự động qua ARP, có thể hết hạn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static: cấu hình sẵn hoặc địa chỉ đặc biệt (broadcast/multicast), không tự hết hạn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sp>
        <p:nvSpPr>
          <p:cNvPr id="6" name="TextBox 6"/>
          <p:cNvSpPr txBox="1"/>
          <p:nvPr/>
        </p:nvSpPr>
        <p:spPr>
          <a:xfrm>
            <a:off x="1028700" y="1742975"/>
            <a:ext cx="16230600" cy="8553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12. Giá trị hexadecimal của địa chỉ nguồn trong frame Ethernet chứa thông điệp yêu cầu ARP được gửi bởi máy tính của bạn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a:t>
            </a:r>
            <a:r>
              <a:rPr lang="en-US" sz="3000">
                <a:solidFill>
                  <a:srgbClr val="FFFFFF"/>
                </a:solidFill>
                <a:latin typeface="Inter" panose="020B0502030000000004"/>
                <a:ea typeface="Inter" panose="020B0502030000000004"/>
                <a:cs typeface="Inter" panose="020B0502030000000004"/>
                <a:sym typeface="Inter" panose="020B0502030000000004"/>
              </a:rPr>
              <a:t>iá trị hexadecimal của địa chỉ Ethernet nguồn trong frame chứa ARP request là 14:49:bc:7d:ab:13.</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13. Giá trị hexadecimal của địa chỉ đích trong frame Ethernet chứa thông điệp yêu cầu ARP được gửi bởi máy tính của bạn là gì? Và thiết bị nào (nếu có) tương ứng với địa chỉ đó (ví dụ: client, server, router, switch hoặc khác...)?</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Giá trị hexadecimal của địa chỉ Ethernet đích trong frame chứa ARP request là 44:38:e8:82:21:c5.</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Địa chỉ này tương ứng với máy tính client (thiết bị trong mạng LAN), không phải server hay router.</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14. Giá trị hexadecimal cho trường Frame type Ethernet hai byte là gì. Giao thức cấp trên tương ứng với giá trị này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Frame type là 0x0806, tương ứng với giao thức ARP.</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896338" y="2436115"/>
            <a:ext cx="16495323" cy="6680606"/>
          </a:xfrm>
          <a:custGeom>
            <a:avLst/>
            <a:gdLst/>
            <a:ahLst/>
            <a:cxnLst/>
            <a:rect l="l" t="t" r="r" b="b"/>
            <a:pathLst>
              <a:path w="16495323" h="6680606">
                <a:moveTo>
                  <a:pt x="0" y="0"/>
                </a:moveTo>
                <a:lnTo>
                  <a:pt x="16495324" y="0"/>
                </a:lnTo>
                <a:lnTo>
                  <a:pt x="16495324" y="6680606"/>
                </a:lnTo>
                <a:lnTo>
                  <a:pt x="0" y="6680606"/>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grpSp>
        <p:nvGrpSpPr>
          <p:cNvPr id="7" name="Group 7"/>
          <p:cNvGrpSpPr/>
          <p:nvPr/>
        </p:nvGrpSpPr>
        <p:grpSpPr>
          <a:xfrm rot="0">
            <a:off x="1635739" y="3439663"/>
            <a:ext cx="7009312" cy="786841"/>
            <a:chOff x="0" y="0"/>
            <a:chExt cx="1846074" cy="207234"/>
          </a:xfrm>
        </p:grpSpPr>
        <p:sp>
          <p:nvSpPr>
            <p:cNvPr id="8" name="Freeform 8"/>
            <p:cNvSpPr/>
            <p:nvPr/>
          </p:nvSpPr>
          <p:spPr>
            <a:xfrm>
              <a:off x="0" y="0"/>
              <a:ext cx="1846074" cy="207234"/>
            </a:xfrm>
            <a:custGeom>
              <a:avLst/>
              <a:gdLst/>
              <a:ahLst/>
              <a:cxnLst/>
              <a:rect l="l" t="t" r="r" b="b"/>
              <a:pathLst>
                <a:path w="1846074" h="207234">
                  <a:moveTo>
                    <a:pt x="0" y="0"/>
                  </a:moveTo>
                  <a:lnTo>
                    <a:pt x="1846074" y="0"/>
                  </a:lnTo>
                  <a:lnTo>
                    <a:pt x="1846074" y="207234"/>
                  </a:lnTo>
                  <a:lnTo>
                    <a:pt x="0" y="207234"/>
                  </a:lnTo>
                  <a:close/>
                </a:path>
              </a:pathLst>
            </a:custGeom>
            <a:solidFill>
              <a:srgbClr val="000000">
                <a:alpha val="0"/>
              </a:srgbClr>
            </a:solidFill>
            <a:ln w="38100" cap="sq">
              <a:solidFill>
                <a:srgbClr val="FF3131"/>
              </a:solidFill>
              <a:prstDash val="solid"/>
              <a:miter/>
            </a:ln>
          </p:spPr>
        </p:sp>
        <p:sp>
          <p:nvSpPr>
            <p:cNvPr id="9" name="TextBox 9"/>
            <p:cNvSpPr txBox="1"/>
            <p:nvPr/>
          </p:nvSpPr>
          <p:spPr>
            <a:xfrm>
              <a:off x="0" y="19050"/>
              <a:ext cx="1846074" cy="188184"/>
            </a:xfrm>
            <a:prstGeom prst="rect">
              <a:avLst/>
            </a:prstGeom>
          </p:spPr>
          <p:txBody>
            <a:bodyPr lIns="50800" tIns="50800" rIns="50800" bIns="50800" rtlCol="0" anchor="ctr"/>
            <a:lstStyle/>
            <a:p>
              <a:pPr algn="ctr">
                <a:lnSpc>
                  <a:spcPts val="2750"/>
                </a:lnSpc>
              </a:pPr>
            </a:p>
          </p:txBody>
        </p:sp>
      </p:gr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sp>
        <p:nvSpPr>
          <p:cNvPr id="6" name="TextBox 6"/>
          <p:cNvSpPr txBox="1"/>
          <p:nvPr/>
        </p:nvSpPr>
        <p:spPr>
          <a:xfrm>
            <a:off x="1028700" y="1742975"/>
            <a:ext cx="16230600" cy="7981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15. Bao nhiêu byte từ đầu frame Ethernet đến khi trường opcode ARP bắt đầu?</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rường opcode ARP bắt đầu sau 24 byte tính từ đầu frame Ethernet.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16. Giá trị của trường opcode trong thông điệp yêu cầu ARP được gửi bởi máy tính của bạn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Giá trị opcode là 0001, biểu thị ARP request.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17. Thông điệp yêu cầu ARP có chứa địa chỉ IP của người gửi không? Nếu có, giá trị đó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Có. Thông điệp yêu cầu ARP có chứa địa chỉ IP của người gửi.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Giá trị địa chỉ IP của người gửi là 10.0.0.1.</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18. Địa chỉ IP của thiết bị mà địa chỉ Ethernet tương ứng đang được yêu cầu trong thông điệp yêu cầu ARP được gửi bởi máy tính của bạn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Địa chỉ IP của thiết bị mà địa chỉ Ethernet tương ứng đang được yêu cầu trong thông điệp ARP request là 10.0.0.159.</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675838" y="2014735"/>
            <a:ext cx="16936325" cy="6880382"/>
          </a:xfrm>
          <a:custGeom>
            <a:avLst/>
            <a:gdLst/>
            <a:ahLst/>
            <a:cxnLst/>
            <a:rect l="l" t="t" r="r" b="b"/>
            <a:pathLst>
              <a:path w="16936325" h="6880382">
                <a:moveTo>
                  <a:pt x="0" y="0"/>
                </a:moveTo>
                <a:lnTo>
                  <a:pt x="16936324" y="0"/>
                </a:lnTo>
                <a:lnTo>
                  <a:pt x="16936324" y="6880382"/>
                </a:lnTo>
                <a:lnTo>
                  <a:pt x="0" y="6880382"/>
                </a:lnTo>
                <a:lnTo>
                  <a:pt x="0" y="0"/>
                </a:lnTo>
                <a:close/>
              </a:path>
            </a:pathLst>
          </a:custGeom>
          <a:blipFill>
            <a:blip r:embed="rId6"/>
            <a:stretch>
              <a:fillRect/>
            </a:stretch>
          </a:blipFill>
        </p:spPr>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grpSp>
        <p:nvGrpSpPr>
          <p:cNvPr id="7" name="Group 7"/>
          <p:cNvGrpSpPr/>
          <p:nvPr/>
        </p:nvGrpSpPr>
        <p:grpSpPr>
          <a:xfrm rot="0">
            <a:off x="960484" y="7953315"/>
            <a:ext cx="2472920" cy="343434"/>
            <a:chOff x="0" y="0"/>
            <a:chExt cx="651304" cy="90452"/>
          </a:xfrm>
        </p:grpSpPr>
        <p:sp>
          <p:nvSpPr>
            <p:cNvPr id="8" name="Freeform 8"/>
            <p:cNvSpPr/>
            <p:nvPr/>
          </p:nvSpPr>
          <p:spPr>
            <a:xfrm>
              <a:off x="0" y="0"/>
              <a:ext cx="651304" cy="90452"/>
            </a:xfrm>
            <a:custGeom>
              <a:avLst/>
              <a:gdLst/>
              <a:ahLst/>
              <a:cxnLst/>
              <a:rect l="l" t="t" r="r" b="b"/>
              <a:pathLst>
                <a:path w="651304" h="90452">
                  <a:moveTo>
                    <a:pt x="0" y="0"/>
                  </a:moveTo>
                  <a:lnTo>
                    <a:pt x="651304" y="0"/>
                  </a:lnTo>
                  <a:lnTo>
                    <a:pt x="651304" y="90452"/>
                  </a:lnTo>
                  <a:lnTo>
                    <a:pt x="0" y="90452"/>
                  </a:lnTo>
                  <a:close/>
                </a:path>
              </a:pathLst>
            </a:custGeom>
            <a:solidFill>
              <a:srgbClr val="000000">
                <a:alpha val="0"/>
              </a:srgbClr>
            </a:solidFill>
            <a:ln w="19050" cap="sq">
              <a:solidFill>
                <a:srgbClr val="FF3131"/>
              </a:solidFill>
              <a:prstDash val="solid"/>
              <a:miter/>
            </a:ln>
          </p:spPr>
        </p:sp>
        <p:sp>
          <p:nvSpPr>
            <p:cNvPr id="9" name="TextBox 9"/>
            <p:cNvSpPr txBox="1"/>
            <p:nvPr/>
          </p:nvSpPr>
          <p:spPr>
            <a:xfrm>
              <a:off x="0" y="19050"/>
              <a:ext cx="651304" cy="71402"/>
            </a:xfrm>
            <a:prstGeom prst="rect">
              <a:avLst/>
            </a:prstGeom>
          </p:spPr>
          <p:txBody>
            <a:bodyPr lIns="50800" tIns="50800" rIns="50800" bIns="50800" rtlCol="0" anchor="ctr"/>
            <a:lstStyle/>
            <a:p>
              <a:pPr algn="ctr">
                <a:lnSpc>
                  <a:spcPts val="2750"/>
                </a:lnSpc>
              </a:pPr>
            </a:p>
          </p:txBody>
        </p:sp>
      </p:grpSp>
      <p:grpSp>
        <p:nvGrpSpPr>
          <p:cNvPr id="10" name="Group 10"/>
          <p:cNvGrpSpPr/>
          <p:nvPr/>
        </p:nvGrpSpPr>
        <p:grpSpPr>
          <a:xfrm rot="0">
            <a:off x="1112884" y="7605462"/>
            <a:ext cx="2472920" cy="241109"/>
            <a:chOff x="0" y="0"/>
            <a:chExt cx="651304" cy="63502"/>
          </a:xfrm>
        </p:grpSpPr>
        <p:sp>
          <p:nvSpPr>
            <p:cNvPr id="11" name="Freeform 11"/>
            <p:cNvSpPr/>
            <p:nvPr/>
          </p:nvSpPr>
          <p:spPr>
            <a:xfrm>
              <a:off x="0" y="0"/>
              <a:ext cx="651304" cy="63502"/>
            </a:xfrm>
            <a:custGeom>
              <a:avLst/>
              <a:gdLst/>
              <a:ahLst/>
              <a:cxnLst/>
              <a:rect l="l" t="t" r="r" b="b"/>
              <a:pathLst>
                <a:path w="651304" h="63502">
                  <a:moveTo>
                    <a:pt x="0" y="0"/>
                  </a:moveTo>
                  <a:lnTo>
                    <a:pt x="651304" y="0"/>
                  </a:lnTo>
                  <a:lnTo>
                    <a:pt x="651304" y="63502"/>
                  </a:lnTo>
                  <a:lnTo>
                    <a:pt x="0" y="63502"/>
                  </a:lnTo>
                  <a:close/>
                </a:path>
              </a:pathLst>
            </a:custGeom>
            <a:solidFill>
              <a:srgbClr val="000000">
                <a:alpha val="0"/>
              </a:srgbClr>
            </a:solidFill>
            <a:ln w="19050" cap="sq">
              <a:solidFill>
                <a:srgbClr val="FF3131"/>
              </a:solidFill>
              <a:prstDash val="solid"/>
              <a:miter/>
            </a:ln>
          </p:spPr>
        </p:sp>
        <p:sp>
          <p:nvSpPr>
            <p:cNvPr id="12" name="TextBox 12"/>
            <p:cNvSpPr txBox="1"/>
            <p:nvPr/>
          </p:nvSpPr>
          <p:spPr>
            <a:xfrm>
              <a:off x="0" y="19050"/>
              <a:ext cx="651304" cy="44452"/>
            </a:xfrm>
            <a:prstGeom prst="rect">
              <a:avLst/>
            </a:prstGeom>
          </p:spPr>
          <p:txBody>
            <a:bodyPr lIns="50800" tIns="50800" rIns="50800" bIns="50800" rtlCol="0" anchor="ctr"/>
            <a:lstStyle/>
            <a:p>
              <a:pPr algn="ctr">
                <a:lnSpc>
                  <a:spcPts val="2750"/>
                </a:lnSpc>
              </a:pPr>
            </a:p>
          </p:txBody>
        </p:sp>
      </p:gr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742975"/>
            <a:ext cx="16230600" cy="7981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19. Giá trị của trường opcode trong thông điệp phản hồi ARP được nhận bởi máy tính của bạn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a:t>
            </a:r>
            <a:r>
              <a:rPr lang="en-US" sz="3000">
                <a:solidFill>
                  <a:srgbClr val="FFFFFF"/>
                </a:solidFill>
                <a:latin typeface="Inter" panose="020B0502030000000004"/>
                <a:ea typeface="Inter" panose="020B0502030000000004"/>
                <a:cs typeface="Inter" panose="020B0502030000000004"/>
                <a:sym typeface="Inter" panose="020B0502030000000004"/>
              </a:rPr>
              <a:t>iá trị opcode của ARP reply là 0002.</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p>
          <a:p>
            <a:pPr algn="just">
              <a:lnSpc>
                <a:spcPts val="4500"/>
              </a:lnSpc>
            </a:pPr>
          </a:p>
          <a:p>
            <a:pPr algn="just">
              <a:lnSpc>
                <a:spcPts val="4500"/>
              </a:lnSpc>
            </a:pPr>
          </a:p>
          <a:p>
            <a:pPr algn="just">
              <a:lnSpc>
                <a:spcPts val="4500"/>
              </a:lnSpc>
            </a:p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20. Cuối cùng, hãy xem câu trả lời cho thông điệp yêu cầu ARP! Địa chỉ Ethernet tương ứng với địa chỉ IP được chỉ định trong thông điệp yêu cầu ARP được gửi bởi máy tính của bạn (xem câu hỏi 18)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Địa chỉ Ethernet tương ứng với địa chỉ IP 10.0.1.159 được chỉ định trong thông điệp yêu cầu ARP là 44:38:e8:82:21:c5</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
        <p:nvSpPr>
          <p:cNvPr id="6" name="Freeform 6"/>
          <p:cNvSpPr/>
          <p:nvPr/>
        </p:nvSpPr>
        <p:spPr>
          <a:xfrm>
            <a:off x="1259450" y="3713206"/>
            <a:ext cx="14087872" cy="2223023"/>
          </a:xfrm>
          <a:custGeom>
            <a:avLst/>
            <a:gdLst/>
            <a:ahLst/>
            <a:cxnLst/>
            <a:rect l="l" t="t" r="r" b="b"/>
            <a:pathLst>
              <a:path w="14087872" h="2223023">
                <a:moveTo>
                  <a:pt x="0" y="0"/>
                </a:moveTo>
                <a:lnTo>
                  <a:pt x="14087872" y="0"/>
                </a:lnTo>
                <a:lnTo>
                  <a:pt x="14087872" y="2223024"/>
                </a:lnTo>
                <a:lnTo>
                  <a:pt x="0" y="2223024"/>
                </a:lnTo>
                <a:lnTo>
                  <a:pt x="0" y="0"/>
                </a:lnTo>
                <a:close/>
              </a:path>
            </a:pathLst>
          </a:custGeom>
          <a:blipFill>
            <a:blip r:embed="rId6"/>
            <a:stretch>
              <a:fillRect t="-245114" r="-82805" b="-67597"/>
            </a:stretch>
          </a:blipFill>
        </p:spPr>
      </p:sp>
      <p:sp>
        <p:nvSpPr>
          <p:cNvPr id="7" name="TextBox 7"/>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16666" b="-16666"/>
            </a:stretch>
          </a:blipFill>
        </p:spPr>
      </p:sp>
      <p:sp>
        <p:nvSpPr>
          <p:cNvPr id="3" name="Freeform 3"/>
          <p:cNvSpPr/>
          <p:nvPr/>
        </p:nvSpPr>
        <p:spPr>
          <a:xfrm>
            <a:off x="13973111" y="-288872"/>
            <a:ext cx="4314889" cy="4314889"/>
          </a:xfrm>
          <a:custGeom>
            <a:avLst/>
            <a:gdLst/>
            <a:ahLst/>
            <a:cxnLst/>
            <a:rect l="l" t="t" r="r" b="b"/>
            <a:pathLst>
              <a:path w="4314889" h="4314889">
                <a:moveTo>
                  <a:pt x="0" y="0"/>
                </a:moveTo>
                <a:lnTo>
                  <a:pt x="4314889" y="0"/>
                </a:lnTo>
                <a:lnTo>
                  <a:pt x="4314889" y="4314889"/>
                </a:lnTo>
                <a:lnTo>
                  <a:pt x="0" y="4314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422734" y="6768659"/>
            <a:ext cx="4030586" cy="3758522"/>
          </a:xfrm>
          <a:custGeom>
            <a:avLst/>
            <a:gdLst/>
            <a:ahLst/>
            <a:cxnLst/>
            <a:rect l="l" t="t" r="r" b="b"/>
            <a:pathLst>
              <a:path w="4030586" h="3758522">
                <a:moveTo>
                  <a:pt x="4030586" y="3758521"/>
                </a:moveTo>
                <a:lnTo>
                  <a:pt x="0" y="3758521"/>
                </a:lnTo>
                <a:lnTo>
                  <a:pt x="0" y="0"/>
                </a:lnTo>
                <a:lnTo>
                  <a:pt x="4030586" y="0"/>
                </a:lnTo>
                <a:lnTo>
                  <a:pt x="4030586" y="3758521"/>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742975"/>
            <a:ext cx="16230600" cy="7410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21. Chúng ta đã xem thông điệp yêu cầu ARP được gửi bởi máy tính chạy Wireshark của bạn, và thông điệp phản hồi ARP được gửi để phản hồi. Nhưng có các thiết bị khác trong mạng này cũng đang gửi thông điệp yêu cầu ARP mà bạn có thể tìm thấy trong trace. Tại sao không có phản hồi ARP trong trace của bạn được gửi để phản hồi các thông điệp yêu cầu ARP khác này?</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rong trace có thể quan sát thấy các thông điệp yêu cầu ARP được gửi bởi những thiết bị khác trong mạng, tuy nhiên không thấy các thông điệp phản hồi ARP tương ứng.</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N</a:t>
            </a:r>
            <a:r>
              <a:rPr lang="en-US" sz="3000">
                <a:solidFill>
                  <a:srgbClr val="FFFFFF"/>
                </a:solidFill>
                <a:latin typeface="Inter" panose="020B0502030000000004"/>
                <a:ea typeface="Inter" panose="020B0502030000000004"/>
                <a:cs typeface="Inter" panose="020B0502030000000004"/>
                <a:sym typeface="Inter" panose="020B0502030000000004"/>
              </a:rPr>
              <a:t>guyên nhân là vì các phản hồi ARP thường được gửi dưới dạng unicast trực tiếp đến thiết bị đã gửi yêu cầu, nên không phải lúc nào cũng được Wireshark bắt lại. Ngoài ra, một số yêu cầu ARP có thể nhắm đến các địa chỉ IP không tồn tại hoặc thiết bị đích không hoạt động, do đó không có phản hồi ARP được gửi.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
        <p:nvSpPr>
          <p:cNvPr id="6" name="TextBox 6"/>
          <p:cNvSpPr txBox="1"/>
          <p:nvPr/>
        </p:nvSpPr>
        <p:spPr>
          <a:xfrm>
            <a:off x="0" y="540063"/>
            <a:ext cx="18288000" cy="773430"/>
          </a:xfrm>
          <a:prstGeom prst="rect">
            <a:avLst/>
          </a:prstGeom>
        </p:spPr>
        <p:txBody>
          <a:bodyPr lIns="0" tIns="0" rIns="0" bIns="0" rtlCol="0" anchor="t">
            <a:spAutoFit/>
          </a:bodyPr>
          <a:lstStyle/>
          <a:p>
            <a:pPr algn="ctr">
              <a:lnSpc>
                <a:spcPts val="5940"/>
              </a:lnSpc>
            </a:pPr>
            <a:r>
              <a:rPr lang="en-US" sz="5400" b="1">
                <a:solidFill>
                  <a:srgbClr val="FFFFFF"/>
                </a:solidFill>
                <a:latin typeface="Open Sans Bold"/>
                <a:ea typeface="Open Sans Bold"/>
                <a:cs typeface="Open Sans Bold"/>
                <a:sym typeface="Open Sans Bold"/>
              </a:rPr>
              <a:t>GIAO THỨC ADDRESS RESOLUTION PROTOCOL</a:t>
            </a:r>
            <a:endParaRPr lang="en-US" sz="5400" b="1">
              <a:solidFill>
                <a:srgbClr val="FFFFFF"/>
              </a:solidFill>
              <a:latin typeface="Open Sans Bold"/>
              <a:ea typeface="Open Sans Bold"/>
              <a:cs typeface="Open Sans Bold"/>
              <a:sym typeface="Open Sans Bold"/>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1028700" y="1515587"/>
            <a:ext cx="16230600" cy="8553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 Chọn UDP segment đầu tiên được máy tính của bạn gửi qua lệnh traceroute tới gaia.cs.umass.edu. Mở rộng phần Internet Protocol của gói trong cửa sổ packet details. Địa chỉ IP của máy tính bạn là gì?</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a:t>
            </a:r>
            <a:r>
              <a:rPr lang="en-US" sz="3000">
                <a:solidFill>
                  <a:srgbClr val="FFFFFF"/>
                </a:solidFill>
                <a:latin typeface="Inter" panose="020B0502030000000004"/>
                <a:ea typeface="Inter" panose="020B0502030000000004"/>
                <a:cs typeface="Inter" panose="020B0502030000000004"/>
                <a:sym typeface="Inter" panose="020B0502030000000004"/>
              </a:rPr>
              <a:t>IP máy là 192.168.229.111.​</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 (Windows):</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L</a:t>
            </a:r>
            <a:r>
              <a:rPr lang="en-US" sz="3000">
                <a:solidFill>
                  <a:srgbClr val="FFFFFF"/>
                </a:solidFill>
                <a:latin typeface="Inter" panose="020B0502030000000004"/>
                <a:ea typeface="Inter" panose="020B0502030000000004"/>
                <a:cs typeface="Inter" panose="020B0502030000000004"/>
                <a:sym typeface="Inter" panose="020B0502030000000004"/>
              </a:rPr>
              <a:t>ọc icmp (hoặc udp || icmp). ​​</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Chọn ICMP Echo (ping) request đầu tiên do máy gửi đến gaia.cs.umass.edu.​​</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D</a:t>
            </a:r>
            <a:r>
              <a:rPr lang="en-US" sz="3000">
                <a:solidFill>
                  <a:srgbClr val="FFFFFF"/>
                </a:solidFill>
                <a:latin typeface="Inter" panose="020B0502030000000004"/>
                <a:ea typeface="Inter" panose="020B0502030000000004"/>
                <a:cs typeface="Inter" panose="020B0502030000000004"/>
                <a:sym typeface="Inter" panose="020B0502030000000004"/>
              </a:rPr>
              <a:t>ưới Packet Details, bung Internet Protocol Version 4 và đọc Source Address.​​</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G</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iải thích:</a:t>
            </a:r>
            <a:r>
              <a:rPr lang="en-US" sz="3000">
                <a:solidFill>
                  <a:srgbClr val="FFFFFF"/>
                </a:solidFill>
                <a:latin typeface="Inter" panose="020B0502030000000004"/>
                <a:ea typeface="Inter" panose="020B0502030000000004"/>
                <a:cs typeface="Inter" panose="020B0502030000000004"/>
                <a:sym typeface="Inter" panose="020B0502030000000004"/>
              </a:rPr>
              <a:t> Source Address của gói ICMP request chính là địa chỉ IP của máy bạn tại thời điểm gửi gói đi.​​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2. Giá trị trong trường time-to-live (TTL) trong header của IPv4 datagram này là bao nhiêu?</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TTL có giá trị 1</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p>
        </p:txBody>
      </p:sp>
      <p:sp>
        <p:nvSpPr>
          <p:cNvPr id="4" name="Freeform 4"/>
          <p:cNvSpPr/>
          <p:nvPr/>
        </p:nvSpPr>
        <p:spPr>
          <a:xfrm>
            <a:off x="8300237" y="7950325"/>
            <a:ext cx="8569718" cy="2118712"/>
          </a:xfrm>
          <a:custGeom>
            <a:avLst/>
            <a:gdLst/>
            <a:ahLst/>
            <a:cxnLst/>
            <a:rect l="l" t="t" r="r" b="b"/>
            <a:pathLst>
              <a:path w="8569718" h="2118712">
                <a:moveTo>
                  <a:pt x="0" y="0"/>
                </a:moveTo>
                <a:lnTo>
                  <a:pt x="8569718" y="0"/>
                </a:lnTo>
                <a:lnTo>
                  <a:pt x="8569718" y="2118712"/>
                </a:lnTo>
                <a:lnTo>
                  <a:pt x="0" y="2118712"/>
                </a:lnTo>
                <a:lnTo>
                  <a:pt x="0" y="0"/>
                </a:lnTo>
                <a:close/>
              </a:path>
            </a:pathLst>
          </a:custGeom>
          <a:blipFill>
            <a:blip r:embed="rId2"/>
            <a:stretch>
              <a:fillRect t="-15702" b="-49200"/>
            </a:stretch>
          </a:blipFill>
        </p:spPr>
      </p:sp>
      <p:sp>
        <p:nvSpPr>
          <p:cNvPr id="5" name="TextBox 5"/>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7410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3. Giá trị trong trường upper layer protocol trong header của IPv4 datagram này là gì? </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P</a:t>
            </a:r>
            <a:r>
              <a:rPr lang="en-US" sz="3000">
                <a:solidFill>
                  <a:srgbClr val="FFFFFF"/>
                </a:solidFill>
                <a:latin typeface="Inter" panose="020B0502030000000004"/>
                <a:ea typeface="Inter" panose="020B0502030000000004"/>
                <a:cs typeface="Inter" panose="020B0502030000000004"/>
                <a:sym typeface="Inter" panose="020B0502030000000004"/>
              </a:rPr>
              <a:t>rotocol sẽ là ICMP vì tracert gửi ICMP Echo Request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 Trong IPv4 header của gói ở câu 1, đọc trường Protocol.​​</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a:t>
            </a:r>
            <a:r>
              <a:rPr lang="en-US" sz="3000">
                <a:solidFill>
                  <a:srgbClr val="FFFFFF"/>
                </a:solidFill>
                <a:latin typeface="Inter" panose="020B0502030000000004"/>
                <a:ea typeface="Inter" panose="020B0502030000000004"/>
                <a:cs typeface="Inter" panose="020B0502030000000004"/>
                <a:sym typeface="Inter" panose="020B0502030000000004"/>
              </a:rPr>
              <a:t>iải thích: Trường Protocol trong IPv4 cho biết payload phía trên là giao thức gì (UDP/ICMP/TCP…). Windows tracert dùng ICMP nên khác Linux/macOS thường dùng UDP.​</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4. C</a:t>
            </a: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ó bao nhiêu byte trong IP header?</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2</a:t>
            </a:r>
            <a:r>
              <a:rPr lang="en-US" sz="3000">
                <a:solidFill>
                  <a:srgbClr val="FFFFFF"/>
                </a:solidFill>
                <a:latin typeface="Inter" panose="020B0502030000000004"/>
                <a:ea typeface="Inter" panose="020B0502030000000004"/>
                <a:cs typeface="Inter" panose="020B0502030000000004"/>
                <a:sym typeface="Inter" panose="020B0502030000000004"/>
              </a:rPr>
              <a:t>0 byte</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 Trong IPv4 header, đọc Header Length (IHL).​​</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G</a:t>
            </a:r>
            <a:r>
              <a:rPr lang="en-US" sz="3000">
                <a:solidFill>
                  <a:srgbClr val="FFFFFF"/>
                </a:solidFill>
                <a:latin typeface="Inter" panose="020B0502030000000004"/>
                <a:ea typeface="Inter" panose="020B0502030000000004"/>
                <a:cs typeface="Inter" panose="020B0502030000000004"/>
                <a:sym typeface="Inter" panose="020B0502030000000004"/>
              </a:rPr>
              <a:t>iải thích: IHL cho biết độ dài phần IPv4 header (thường 20 bytes nếu không có Options); câu này giúp bạn hiểu cấu trúc header/payload trong câu 5.</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6838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5. Có bao nhiêu byte trong payload của IP datagram? Giải thích cách bạn xác định số byte payload.</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Header Length = 20 bytes, Total Length = 92​</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a:solidFill>
                  <a:srgbClr val="FFFFFF"/>
                </a:solidFill>
                <a:latin typeface="Inter" panose="020B0502030000000004"/>
                <a:ea typeface="Inter" panose="020B0502030000000004"/>
                <a:cs typeface="Inter" panose="020B0502030000000004"/>
                <a:sym typeface="Inter" panose="020B0502030000000004"/>
              </a:rPr>
              <a:t>Vậy: </a:t>
            </a:r>
            <a:r>
              <a:rPr lang="en-US" sz="3000">
                <a:solidFill>
                  <a:srgbClr val="FFFFFF"/>
                </a:solidFill>
                <a:latin typeface="Inter" panose="020B0502030000000004"/>
                <a:ea typeface="Inter" panose="020B0502030000000004"/>
                <a:cs typeface="Inter" panose="020B0502030000000004"/>
                <a:sym typeface="Inter" panose="020B0502030000000004"/>
              </a:rPr>
              <a:t>Payload bytes = Total Length − Header Length = 92 − 20 = 72 bytes.</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Trong IPv4 header, lấy Total Length.​​</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Lấy Header Length (IHL).​​</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Tính: Payload bytes = Total Length − Header Length.​​</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G</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iải thích:</a:t>
            </a:r>
            <a:r>
              <a:rPr lang="en-US" sz="3000">
                <a:solidFill>
                  <a:srgbClr val="FFFFFF"/>
                </a:solidFill>
                <a:latin typeface="Inter" panose="020B0502030000000004"/>
                <a:ea typeface="Inter" panose="020B0502030000000004"/>
                <a:cs typeface="Inter" panose="020B0502030000000004"/>
                <a:sym typeface="Inter" panose="020B0502030000000004"/>
              </a:rPr>
              <a:t> Total Length là tổng độ dài IPv4 datagram; trừ đi độ dài header sẽ ra số byte payload (phần ICMP header + ICMP data)</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1556077" y="6107827"/>
            <a:ext cx="15175846" cy="3468981"/>
          </a:xfrm>
          <a:custGeom>
            <a:avLst/>
            <a:gdLst/>
            <a:ahLst/>
            <a:cxnLst/>
            <a:rect l="l" t="t" r="r" b="b"/>
            <a:pathLst>
              <a:path w="15175846" h="3468981">
                <a:moveTo>
                  <a:pt x="0" y="0"/>
                </a:moveTo>
                <a:lnTo>
                  <a:pt x="15175846" y="0"/>
                </a:lnTo>
                <a:lnTo>
                  <a:pt x="15175846" y="3468980"/>
                </a:lnTo>
                <a:lnTo>
                  <a:pt x="0" y="3468980"/>
                </a:lnTo>
                <a:lnTo>
                  <a:pt x="0" y="0"/>
                </a:lnTo>
                <a:close/>
              </a:path>
            </a:pathLst>
          </a:custGeom>
          <a:blipFill>
            <a:blip r:embed="rId2"/>
            <a:stretch>
              <a:fillRect t="-23014" b="-57582"/>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5" name="TextBox 5"/>
          <p:cNvSpPr txBox="1"/>
          <p:nvPr/>
        </p:nvSpPr>
        <p:spPr>
          <a:xfrm>
            <a:off x="1028700" y="1742975"/>
            <a:ext cx="16230600" cy="4552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6. IP datagram này có bị phân mảnh (fragmented) không? Giải thích cách bạn xác định liệu datagram có bị phân mảnh hay không.</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K</a:t>
            </a:r>
            <a:r>
              <a:rPr lang="en-US" sz="3000">
                <a:solidFill>
                  <a:srgbClr val="FFFFFF"/>
                </a:solidFill>
                <a:latin typeface="Inter" panose="020B0502030000000004"/>
                <a:ea typeface="Inter" panose="020B0502030000000004"/>
                <a:cs typeface="Inter" panose="020B0502030000000004"/>
                <a:sym typeface="Inter" panose="020B0502030000000004"/>
              </a:rPr>
              <a:t>hông bị phân mảnh</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 Trong IPv4 header, xem Flags (đặc biệt bit “More Fragments”). Xem Fragment Offset.​​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G</a:t>
            </a:r>
            <a:r>
              <a:rPr lang="en-US" sz="3000" b="1">
                <a:solidFill>
                  <a:srgbClr val="FFFFFF"/>
                </a:solidFill>
                <a:latin typeface="Inter Bold" panose="020B0802030000000004"/>
                <a:ea typeface="Inter Bold" panose="020B0802030000000004"/>
                <a:cs typeface="Inter Bold" panose="020B0802030000000004"/>
                <a:sym typeface="Inter Bold" panose="020B0802030000000004"/>
              </a:rPr>
              <a:t>iải thích</a:t>
            </a:r>
            <a:r>
              <a:rPr lang="en-US" sz="3000">
                <a:solidFill>
                  <a:srgbClr val="FFFFFF"/>
                </a:solidFill>
                <a:latin typeface="Inter" panose="020B0502030000000004"/>
                <a:ea typeface="Inter" panose="020B0502030000000004"/>
                <a:cs typeface="Inter" panose="020B0502030000000004"/>
                <a:sym typeface="Inter" panose="020B0502030000000004"/>
              </a:rPr>
              <a:t>: Nếu Fragment Offset = 0 và không có “More fragments”, nghĩa là datagram không bị chia thành nhiều mảnh.​</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6838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7. Những trường (fields) nào trong IP datagram luôn thay đổi từ datagram này sang datagram tiếp theo trong chuỗi các UDP segments này do máy tính của bạn gửi tới 128.119.245.12, thông qua traceroute? Vì sao?</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TL: thay đổi theo từng probe vì cơ chế tracert/traceroute gửi TTL tăng dần để “chạm” tới router từng hop.​</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I</a:t>
            </a:r>
            <a:r>
              <a:rPr lang="en-US" sz="3000">
                <a:solidFill>
                  <a:srgbClr val="FFFFFF"/>
                </a:solidFill>
                <a:latin typeface="Inter" panose="020B0502030000000004"/>
                <a:ea typeface="Inter" panose="020B0502030000000004"/>
                <a:cs typeface="Inter" panose="020B0502030000000004"/>
                <a:sym typeface="Inter" panose="020B0502030000000004"/>
              </a:rPr>
              <a:t>dentification: thường thay đổi theo từng datagram vì mỗi IP datagram có một ID riêng (tuỳ hệ điều hành có quy luật tăng/nhảy).​</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Á</a:t>
            </a:r>
            <a:r>
              <a:rPr lang="en-US" sz="3000">
                <a:solidFill>
                  <a:srgbClr val="FFFFFF"/>
                </a:solidFill>
                <a:latin typeface="Inter" panose="020B0502030000000004"/>
                <a:ea typeface="Inter" panose="020B0502030000000004"/>
                <a:cs typeface="Inter" panose="020B0502030000000004"/>
                <a:sym typeface="Inter" panose="020B0502030000000004"/>
              </a:rPr>
              <a:t>p filter ở bước trước.​</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lick lần lượt 6–10 gói Echo Request theo thứ tự thời gian (sequentially).​</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M</a:t>
            </a:r>
            <a:r>
              <a:rPr lang="en-US" sz="3000">
                <a:solidFill>
                  <a:srgbClr val="FFFFFF"/>
                </a:solidFill>
                <a:latin typeface="Inter" panose="020B0502030000000004"/>
                <a:ea typeface="Inter" panose="020B0502030000000004"/>
                <a:cs typeface="Inter" panose="020B0502030000000004"/>
                <a:sym typeface="Inter" panose="020B0502030000000004"/>
              </a:rPr>
              <a:t>ỗi gói mở “Internet Protocol Version 4” và ghi ra các trường thay đổi.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9124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8. Những trường nào trong chuỗi các IP datagrams này (chứa UDP segments) giữ nguyên (stay constant)? Vì sao?</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S</a:t>
            </a:r>
            <a:r>
              <a:rPr lang="en-US" sz="3000">
                <a:solidFill>
                  <a:srgbClr val="FFFFFF"/>
                </a:solidFill>
                <a:latin typeface="Inter" panose="020B0502030000000004"/>
                <a:ea typeface="Inter" panose="020B0502030000000004"/>
                <a:cs typeface="Inter" panose="020B0502030000000004"/>
                <a:sym typeface="Inter" panose="020B0502030000000004"/>
              </a:rPr>
              <a:t>ource Address giữ nguyên: 192.168.229.111</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D</a:t>
            </a:r>
            <a:r>
              <a:rPr lang="en-US" sz="3000">
                <a:solidFill>
                  <a:srgbClr val="FFFFFF"/>
                </a:solidFill>
                <a:latin typeface="Inter" panose="020B0502030000000004"/>
                <a:ea typeface="Inter" panose="020B0502030000000004"/>
                <a:cs typeface="Inter" panose="020B0502030000000004"/>
                <a:sym typeface="Inter" panose="020B0502030000000004"/>
              </a:rPr>
              <a:t>estination Address giữ nguyên: 128.119.245.12 (gaia.cs.umass.edu).​</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á</a:t>
            </a:r>
            <a:r>
              <a:rPr lang="en-US" sz="3000">
                <a:solidFill>
                  <a:srgbClr val="FFFFFF"/>
                </a:solidFill>
                <a:latin typeface="Inter" panose="020B0502030000000004"/>
                <a:ea typeface="Inter" panose="020B0502030000000004"/>
                <a:cs typeface="Inter" panose="020B0502030000000004"/>
                <a:sym typeface="Inter" panose="020B0502030000000004"/>
              </a:rPr>
              <a:t>c field này giữ nguyên vì nó đang gửi cùng một loại probe từ một nguồn đến một đích trong cùng phiên tracert.​</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V</a:t>
            </a:r>
            <a:r>
              <a:rPr lang="en-US" sz="3000">
                <a:solidFill>
                  <a:srgbClr val="FFFFFF"/>
                </a:solidFill>
                <a:latin typeface="Inter" panose="020B0502030000000004"/>
                <a:ea typeface="Inter" panose="020B0502030000000004"/>
                <a:cs typeface="Inter" panose="020B0502030000000004"/>
                <a:sym typeface="Inter" panose="020B0502030000000004"/>
              </a:rPr>
              <a:t>ẫn giữ filter của bước trước.​</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họn vài gói cách nhau (ví dụ gói thứ 1, thứ 5, thứ 10 trong chuỗi).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S</a:t>
            </a:r>
            <a:r>
              <a:rPr lang="en-US" sz="3000">
                <a:solidFill>
                  <a:srgbClr val="FFFFFF"/>
                </a:solidFill>
                <a:latin typeface="Inter" panose="020B0502030000000004"/>
                <a:ea typeface="Inter" panose="020B0502030000000004"/>
                <a:cs typeface="Inter" panose="020B0502030000000004"/>
                <a:sym typeface="Inter" panose="020B0502030000000004"/>
              </a:rPr>
              <a:t>o sánh các field IPv4.</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9. Hãy mô tả mẫu (pattern) bạn nhìn thấy trong các giá trị của trường Identification của các IP datagrams được gửi bởi máy tính của bạn.</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Tăng dần theo từng gói.</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828969" y="2638597"/>
            <a:ext cx="16630061" cy="5009806"/>
          </a:xfrm>
          <a:custGeom>
            <a:avLst/>
            <a:gdLst/>
            <a:ahLst/>
            <a:cxnLst/>
            <a:rect l="l" t="t" r="r" b="b"/>
            <a:pathLst>
              <a:path w="16630061" h="5009806">
                <a:moveTo>
                  <a:pt x="0" y="0"/>
                </a:moveTo>
                <a:lnTo>
                  <a:pt x="16630062" y="0"/>
                </a:lnTo>
                <a:lnTo>
                  <a:pt x="16630062" y="5009806"/>
                </a:lnTo>
                <a:lnTo>
                  <a:pt x="0" y="5009806"/>
                </a:lnTo>
                <a:lnTo>
                  <a:pt x="0" y="0"/>
                </a:lnTo>
                <a:close/>
              </a:path>
            </a:pathLst>
          </a:custGeom>
          <a:blipFill>
            <a:blip r:embed="rId2"/>
            <a:stretch>
              <a:fillRect/>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8553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10. Upper layer protocol được chỉ ra trong các IP datagrams được trả về từ các router là gì? </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I</a:t>
            </a:r>
            <a:r>
              <a:rPr lang="en-US" sz="3000">
                <a:solidFill>
                  <a:srgbClr val="FFFFFF"/>
                </a:solidFill>
                <a:latin typeface="Inter" panose="020B0502030000000004"/>
                <a:ea typeface="Inter" panose="020B0502030000000004"/>
                <a:cs typeface="Inter" panose="020B0502030000000004"/>
                <a:sym typeface="Inter" panose="020B0502030000000004"/>
              </a:rPr>
              <a:t>CMP.</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ách làm:</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Á</a:t>
            </a:r>
            <a:r>
              <a:rPr lang="en-US" sz="3000">
                <a:solidFill>
                  <a:srgbClr val="FFFFFF"/>
                </a:solidFill>
                <a:latin typeface="Inter" panose="020B0502030000000004"/>
                <a:ea typeface="Inter" panose="020B0502030000000004"/>
                <a:cs typeface="Inter" panose="020B0502030000000004"/>
                <a:sym typeface="Inter" panose="020B0502030000000004"/>
              </a:rPr>
              <a:t>p filter ip.dst==192.168.43.109 and icmp.​</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a:t>
            </a:r>
            <a:r>
              <a:rPr lang="en-US" sz="3000">
                <a:solidFill>
                  <a:srgbClr val="FFFFFF"/>
                </a:solidFill>
                <a:latin typeface="Inter" panose="020B0502030000000004"/>
                <a:ea typeface="Inter" panose="020B0502030000000004"/>
                <a:cs typeface="Inter" panose="020B0502030000000004"/>
                <a:sym typeface="Inter" panose="020B0502030000000004"/>
              </a:rPr>
              <a:t>họn 1 gói “Time-to-live exceeded”.​</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1295400" lvl="2" indent="-43180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B</a:t>
            </a:r>
            <a:r>
              <a:rPr lang="en-US" sz="3000">
                <a:solidFill>
                  <a:srgbClr val="FFFFFF"/>
                </a:solidFill>
                <a:latin typeface="Inter" panose="020B0502030000000004"/>
                <a:ea typeface="Inter" panose="020B0502030000000004"/>
                <a:cs typeface="Inter" panose="020B0502030000000004"/>
                <a:sym typeface="Inter" panose="020B0502030000000004"/>
              </a:rPr>
              <a:t>ung IPv4 header và đọc trường Protocol.</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11. Các giá trị trong các trường Identification (xuyên suốt chuỗi tất cả các gói ICMP từ tất cả các router) có hành vi tương tự như câu trả lời của bạn cho câu hỏi 9 ở trên không?</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Không, bởi vì các gói được gửi từ các ip.src khác nhau có giá trị tại trường Identification khác nhau.</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TextBox 3"/>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4" name="TextBox 4"/>
          <p:cNvSpPr txBox="1"/>
          <p:nvPr/>
        </p:nvSpPr>
        <p:spPr>
          <a:xfrm>
            <a:off x="1028700" y="1742975"/>
            <a:ext cx="16230600" cy="7981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12. Các giá trị của các trường TTL có tương tự nhau không, xuyên suốt tất cả các gói ICMP từ tất cả các router?</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K</a:t>
            </a:r>
            <a:r>
              <a:rPr lang="en-US" sz="3000">
                <a:solidFill>
                  <a:srgbClr val="FFFFFF"/>
                </a:solidFill>
                <a:latin typeface="Inter" panose="020B0502030000000004"/>
                <a:ea typeface="Inter" panose="020B0502030000000004"/>
                <a:cs typeface="Inter" panose="020B0502030000000004"/>
                <a:sym typeface="Inter" panose="020B0502030000000004"/>
              </a:rPr>
              <a:t>hông, bởi vì các gói được gửi từ các ip.src khác nhau có giá trị tại trường TTL khác nhau.</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13. Tìm IP datagram đầu tiên chứa phần đầu của segment được gửi tới 128.119.245.12 do máy tính của bạn gửi thông qua lệnh traceroute tới gaia.cs.umass.edu, sau khi bạn đã chỉ định rằng độ dài gói traceroute phải là 3000. Segment đó có bị phân mảnh qua nhiều hơn một IP datagram không?</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Áp filter “ip.dst==128.119.245.12 and ip.version==4” để tìm gói phân mảnh đầu tiên (protoccol IPv4), tìm được gói đầu tiên để tìm các phân mảnh còn lại. </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Có bị phân mảnh</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1287540" y="1701064"/>
            <a:ext cx="15712920" cy="7814700"/>
          </a:xfrm>
          <a:custGeom>
            <a:avLst/>
            <a:gdLst/>
            <a:ahLst/>
            <a:cxnLst/>
            <a:rect l="l" t="t" r="r" b="b"/>
            <a:pathLst>
              <a:path w="15712920" h="7814700">
                <a:moveTo>
                  <a:pt x="0" y="0"/>
                </a:moveTo>
                <a:lnTo>
                  <a:pt x="15712920" y="0"/>
                </a:lnTo>
                <a:lnTo>
                  <a:pt x="15712920" y="7814700"/>
                </a:lnTo>
                <a:lnTo>
                  <a:pt x="0" y="7814700"/>
                </a:lnTo>
                <a:lnTo>
                  <a:pt x="0" y="0"/>
                </a:lnTo>
                <a:close/>
              </a:path>
            </a:pathLst>
          </a:custGeom>
          <a:blipFill>
            <a:blip r:embed="rId2"/>
            <a:stretch>
              <a:fillRect r="-5536"/>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3224565" y="3438425"/>
            <a:ext cx="11838869" cy="6189768"/>
          </a:xfrm>
          <a:custGeom>
            <a:avLst/>
            <a:gdLst/>
            <a:ahLst/>
            <a:cxnLst/>
            <a:rect l="l" t="t" r="r" b="b"/>
            <a:pathLst>
              <a:path w="11838869" h="6189768">
                <a:moveTo>
                  <a:pt x="0" y="0"/>
                </a:moveTo>
                <a:lnTo>
                  <a:pt x="11838870" y="0"/>
                </a:lnTo>
                <a:lnTo>
                  <a:pt x="11838870" y="6189769"/>
                </a:lnTo>
                <a:lnTo>
                  <a:pt x="0" y="6189769"/>
                </a:lnTo>
                <a:lnTo>
                  <a:pt x="0" y="0"/>
                </a:lnTo>
                <a:close/>
              </a:path>
            </a:pathLst>
          </a:custGeom>
          <a:blipFill>
            <a:blip r:embed="rId2"/>
            <a:stretch>
              <a:fillRect r="-68244" b="-2571"/>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5" name="TextBox 5"/>
          <p:cNvSpPr txBox="1"/>
          <p:nvPr/>
        </p:nvSpPr>
        <p:spPr>
          <a:xfrm>
            <a:off x="1028700" y="1742975"/>
            <a:ext cx="16230600" cy="1695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14. Thông tin nào trong IP header cho biết datagram này đã bị phân mảnh?​</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rong trường Flags của IP header, bit More Fragments có giá trị 1</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6206051" y="3575787"/>
            <a:ext cx="11053249" cy="6188221"/>
          </a:xfrm>
          <a:custGeom>
            <a:avLst/>
            <a:gdLst/>
            <a:ahLst/>
            <a:cxnLst/>
            <a:rect l="l" t="t" r="r" b="b"/>
            <a:pathLst>
              <a:path w="11053249" h="6188221">
                <a:moveTo>
                  <a:pt x="0" y="0"/>
                </a:moveTo>
                <a:lnTo>
                  <a:pt x="11053249" y="0"/>
                </a:lnTo>
                <a:lnTo>
                  <a:pt x="11053249" y="6188220"/>
                </a:lnTo>
                <a:lnTo>
                  <a:pt x="0" y="6188220"/>
                </a:lnTo>
                <a:lnTo>
                  <a:pt x="0" y="0"/>
                </a:lnTo>
                <a:close/>
              </a:path>
            </a:pathLst>
          </a:custGeom>
          <a:blipFill>
            <a:blip r:embed="rId2"/>
            <a:stretch>
              <a:fillRect t="-8320" b="-18721"/>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5" name="TextBox 5"/>
          <p:cNvSpPr txBox="1"/>
          <p:nvPr/>
        </p:nvSpPr>
        <p:spPr>
          <a:xfrm>
            <a:off x="1028700" y="1742975"/>
            <a:ext cx="16230600" cy="2838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15. Thông tin nào trong IP header của gói này cho biết liệu đây là mảnh (fragment) đầu tiên hay là một mảnh về sau?​</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rong trường Flags của IP header, Fragment Offset có giá trị là 0 cho biết đây là phân mảnh đầu tiên</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3079827" y="3438425"/>
            <a:ext cx="12128346" cy="6165604"/>
          </a:xfrm>
          <a:custGeom>
            <a:avLst/>
            <a:gdLst/>
            <a:ahLst/>
            <a:cxnLst/>
            <a:rect l="l" t="t" r="r" b="b"/>
            <a:pathLst>
              <a:path w="12128346" h="6165604">
                <a:moveTo>
                  <a:pt x="0" y="0"/>
                </a:moveTo>
                <a:lnTo>
                  <a:pt x="12128346" y="0"/>
                </a:lnTo>
                <a:lnTo>
                  <a:pt x="12128346" y="6165605"/>
                </a:lnTo>
                <a:lnTo>
                  <a:pt x="0" y="6165605"/>
                </a:lnTo>
                <a:lnTo>
                  <a:pt x="0" y="0"/>
                </a:lnTo>
                <a:close/>
              </a:path>
            </a:pathLst>
          </a:custGeom>
          <a:blipFill>
            <a:blip r:embed="rId2"/>
            <a:stretch>
              <a:fillRect t="-44089"/>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5" name="TextBox 5"/>
          <p:cNvSpPr txBox="1"/>
          <p:nvPr/>
        </p:nvSpPr>
        <p:spPr>
          <a:xfrm>
            <a:off x="1028700" y="1742975"/>
            <a:ext cx="16230600" cy="1695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16. Có bao nhiêu byte trong IP datagram này (header cộng payload)?</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1</a:t>
            </a:r>
            <a:r>
              <a:rPr lang="en-US" sz="3000">
                <a:solidFill>
                  <a:srgbClr val="FFFFFF"/>
                </a:solidFill>
                <a:latin typeface="Inter" panose="020B0502030000000004"/>
                <a:ea typeface="Inter" panose="020B0502030000000004"/>
                <a:cs typeface="Inter" panose="020B0502030000000004"/>
                <a:sym typeface="Inter" panose="020B0502030000000004"/>
              </a:rPr>
              <a:t>500 byte (20 byte header + 1480 byte data).​</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1578871" y="4456184"/>
            <a:ext cx="15130258" cy="4802116"/>
          </a:xfrm>
          <a:custGeom>
            <a:avLst/>
            <a:gdLst/>
            <a:ahLst/>
            <a:cxnLst/>
            <a:rect l="l" t="t" r="r" b="b"/>
            <a:pathLst>
              <a:path w="15130258" h="4802116">
                <a:moveTo>
                  <a:pt x="0" y="0"/>
                </a:moveTo>
                <a:lnTo>
                  <a:pt x="15130258" y="0"/>
                </a:lnTo>
                <a:lnTo>
                  <a:pt x="15130258" y="4802116"/>
                </a:lnTo>
                <a:lnTo>
                  <a:pt x="0" y="4802116"/>
                </a:lnTo>
                <a:lnTo>
                  <a:pt x="0" y="0"/>
                </a:lnTo>
                <a:close/>
              </a:path>
            </a:pathLst>
          </a:custGeom>
          <a:blipFill>
            <a:blip r:embed="rId2"/>
            <a:stretch>
              <a:fillRect b="-32331"/>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5" name="TextBox 5"/>
          <p:cNvSpPr txBox="1"/>
          <p:nvPr/>
        </p:nvSpPr>
        <p:spPr>
          <a:xfrm>
            <a:off x="1028700" y="1742975"/>
            <a:ext cx="16230600" cy="28384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17. Bây giờ hãy kiểm tra datagram chứa mảnh thứ hai của UDP segment đã bị phân mảnh. Thông tin nào trong IP header cho biết đây không phải là mảnh datagram đầu tiên?​</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rong trường Flags của IP header, Fragment Offset có giá trị lớn hơn 0 (1480)</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6666" b="-16666"/>
            </a:stretch>
          </a:blipFill>
        </p:spPr>
      </p:sp>
      <p:sp>
        <p:nvSpPr>
          <p:cNvPr id="3" name="Freeform 3"/>
          <p:cNvSpPr/>
          <p:nvPr/>
        </p:nvSpPr>
        <p:spPr>
          <a:xfrm>
            <a:off x="4296515" y="4827310"/>
            <a:ext cx="9694971" cy="5295872"/>
          </a:xfrm>
          <a:custGeom>
            <a:avLst/>
            <a:gdLst/>
            <a:ahLst/>
            <a:cxnLst/>
            <a:rect l="l" t="t" r="r" b="b"/>
            <a:pathLst>
              <a:path w="9694971" h="5295872">
                <a:moveTo>
                  <a:pt x="0" y="0"/>
                </a:moveTo>
                <a:lnTo>
                  <a:pt x="9694970" y="0"/>
                </a:lnTo>
                <a:lnTo>
                  <a:pt x="9694970" y="5295873"/>
                </a:lnTo>
                <a:lnTo>
                  <a:pt x="0" y="5295873"/>
                </a:lnTo>
                <a:lnTo>
                  <a:pt x="0" y="0"/>
                </a:lnTo>
                <a:close/>
              </a:path>
            </a:pathLst>
          </a:custGeom>
          <a:blipFill>
            <a:blip r:embed="rId2"/>
            <a:stretch>
              <a:fillRect b="-24714"/>
            </a:stretch>
          </a:blipFill>
        </p:spPr>
      </p:sp>
      <p:sp>
        <p:nvSpPr>
          <p:cNvPr id="4" name="TextBox 4"/>
          <p:cNvSpPr txBox="1"/>
          <p:nvPr/>
        </p:nvSpPr>
        <p:spPr>
          <a:xfrm>
            <a:off x="0" y="363617"/>
            <a:ext cx="18288000" cy="920750"/>
          </a:xfrm>
          <a:prstGeom prst="rect">
            <a:avLst/>
          </a:prstGeom>
        </p:spPr>
        <p:txBody>
          <a:bodyPr lIns="0" tIns="0" rIns="0" bIns="0" rtlCol="0" anchor="t">
            <a:spAutoFit/>
          </a:bodyPr>
          <a:lstStyle/>
          <a:p>
            <a:pPr algn="ctr">
              <a:lnSpc>
                <a:spcPts val="7150"/>
              </a:lnSpc>
            </a:pPr>
            <a:r>
              <a:rPr lang="en-US" sz="6500" b="1">
                <a:solidFill>
                  <a:srgbClr val="FFFFFF"/>
                </a:solidFill>
                <a:latin typeface="Open Sans Bold"/>
                <a:ea typeface="Open Sans Bold"/>
                <a:cs typeface="Open Sans Bold"/>
                <a:sym typeface="Open Sans Bold"/>
              </a:rPr>
              <a:t>INTERNET PROTOCOL VERSION 4</a:t>
            </a:r>
            <a:endParaRPr lang="en-US" sz="6500" b="1">
              <a:solidFill>
                <a:srgbClr val="FFFFFF"/>
              </a:solidFill>
              <a:latin typeface="Open Sans Bold"/>
              <a:ea typeface="Open Sans Bold"/>
              <a:cs typeface="Open Sans Bold"/>
              <a:sym typeface="Open Sans Bold"/>
            </a:endParaRPr>
          </a:p>
        </p:txBody>
      </p:sp>
      <p:sp>
        <p:nvSpPr>
          <p:cNvPr id="5" name="TextBox 5"/>
          <p:cNvSpPr txBox="1"/>
          <p:nvPr/>
        </p:nvSpPr>
        <p:spPr>
          <a:xfrm>
            <a:off x="1028700" y="1742975"/>
            <a:ext cx="16230600" cy="3409950"/>
          </a:xfrm>
          <a:prstGeom prst="rect">
            <a:avLst/>
          </a:prstGeom>
        </p:spPr>
        <p:txBody>
          <a:bodyPr lIns="0" tIns="0" rIns="0" bIns="0" rtlCol="0" anchor="t">
            <a:spAutoFit/>
          </a:bodyPr>
          <a:lstStyle/>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18. Những trường nào thay đổi trong IP header giữa mảnh thứ nhất và mảnh thứ hai?​</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a:t>
            </a:r>
            <a:r>
              <a:rPr lang="en-US" sz="3000">
                <a:solidFill>
                  <a:srgbClr val="FFFFFF"/>
                </a:solidFill>
                <a:latin typeface="Inter" panose="020B0502030000000004"/>
                <a:ea typeface="Inter" panose="020B0502030000000004"/>
                <a:cs typeface="Inter" panose="020B0502030000000004"/>
                <a:sym typeface="Inter" panose="020B0502030000000004"/>
              </a:rPr>
              <a:t>rường Fragment Offset và Header Checksum</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r>
              <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rPr>
              <a:t>19. Bây giờ hãy tìm IP datagram chứa mảnh thứ ba của UDP segment ban đầu. Thông tin nào trong IP header cho biết đây là mảnh cuối cùng của segment đó?​</a:t>
            </a:r>
            <a:endParaRPr lang="en-US" sz="3000" b="1" i="1">
              <a:solidFill>
                <a:srgbClr val="FFFFFF"/>
              </a:solidFill>
              <a:latin typeface="Inter Bold Italics" panose="020B0802030000000004"/>
              <a:ea typeface="Inter Bold Italics" panose="020B0802030000000004"/>
              <a:cs typeface="Inter Bold Italics" panose="020B0802030000000004"/>
              <a:sym typeface="Inter Bold Italics" panose="020B0802030000000004"/>
            </a:endParaRPr>
          </a:p>
          <a:p>
            <a:pPr marL="647700" lvl="1" indent="-323850" algn="just">
              <a:lnSpc>
                <a:spcPts val="4500"/>
              </a:lnSpc>
              <a:buFont typeface="Arial" panose="020B0604020202020204"/>
              <a:buChar char="•"/>
            </a:pPr>
            <a:r>
              <a:rPr lang="en-US" sz="3000">
                <a:solidFill>
                  <a:srgbClr val="FFFFFF"/>
                </a:solidFill>
                <a:latin typeface="Inter" panose="020B0502030000000004"/>
                <a:ea typeface="Inter" panose="020B0502030000000004"/>
                <a:cs typeface="Inter" panose="020B0502030000000004"/>
                <a:sym typeface="Inter" panose="020B0502030000000004"/>
              </a:rPr>
              <a:t>Trong trường Flags của IP header, bit More Fragments có giá trị là 0</a:t>
            </a:r>
            <a:endParaRPr lang="en-US" sz="3000">
              <a:solidFill>
                <a:srgbClr val="FFFFFF"/>
              </a:solidFill>
              <a:latin typeface="Inter" panose="020B0502030000000004"/>
              <a:ea typeface="Inter" panose="020B0502030000000004"/>
              <a:cs typeface="Inter" panose="020B0502030000000004"/>
              <a:sym typeface="Inter" panose="020B0502030000000004"/>
            </a:endParaRPr>
          </a:p>
          <a:p>
            <a:pPr algn="just">
              <a:lnSpc>
                <a:spcPts val="4500"/>
              </a:lnSpc>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17095</Words>
  <Application>WPS Presentation</Application>
  <PresentationFormat>On-screen Show (4:3)</PresentationFormat>
  <Paragraphs>366</Paragraphs>
  <Slides>39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39</vt:i4>
      </vt:variant>
    </vt:vector>
  </HeadingPairs>
  <TitlesOfParts>
    <vt:vector size="53" baseType="lpstr">
      <vt:lpstr>Arial</vt:lpstr>
      <vt:lpstr>SimSun</vt:lpstr>
      <vt:lpstr>Wingdings</vt:lpstr>
      <vt:lpstr>Open Sans Bold</vt:lpstr>
      <vt:lpstr>Open Sans</vt:lpstr>
      <vt:lpstr>Inter Bold</vt:lpstr>
      <vt:lpstr>Arial</vt:lpstr>
      <vt:lpstr>Inter Bold Italics</vt:lpstr>
      <vt:lpstr>Inter</vt:lpstr>
      <vt:lpstr>Inter Italics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dc:title>
  <dc:creator/>
  <cp:lastModifiedBy>Hương Nguyễn Thị Thanh</cp:lastModifiedBy>
  <cp:revision>25</cp:revision>
  <dcterms:created xsi:type="dcterms:W3CDTF">2006-08-16T00:00:00Z</dcterms:created>
  <dcterms:modified xsi:type="dcterms:W3CDTF">2025-12-27T16:21:45Z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140FBD19588B4660B27D11F9382982D3_12</vt:lpwstr>
  </property>
  <property fmtid="{D5CDD505-2E9C-101B-9397-08002B2CF9AE}" pid="3" name="KSOProductBuildVer">
    <vt:lpwstr>1033-12.2.0.23196</vt:lpwstr>
  </property>
</Properties>
</file>